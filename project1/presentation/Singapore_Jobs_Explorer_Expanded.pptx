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5d960ed27024c32" /><Relationship Type="http://schemas.openxmlformats.org/officeDocument/2006/relationships/extended-properties" Target="/docProps/app.xml" Id="R9722121cbfe04e4d" /><Relationship Type="http://schemas.openxmlformats.org/officeDocument/2006/relationships/officeDocument" Target="/ppt/presentation.xml" Id="Rb8d5a14dd8204c6f" /></Relationships>
</file>

<file path=ppt/presentation.xml><?xml version="1.0" encoding="utf-8"?>
<p:presentation xmlns:p="http://schemas.openxmlformats.org/presentationml/2006/main">
  <p:sldMasterIdLst>
    <p:sldMasterId xmlns:r="http://schemas.openxmlformats.org/officeDocument/2006/relationships" id="2147483648" r:id="Ref3c9348305446a5"/>
  </p:sldMasterIdLst>
  <p:notesMasterIdLst>
    <p:notesMasterId xmlns:r="http://schemas.openxmlformats.org/officeDocument/2006/relationships" r:id="R12e869dc03a04f02"/>
  </p:notesMasterIdLst>
  <p:sldIdLst>
    <p:sldId xmlns:r="http://schemas.openxmlformats.org/officeDocument/2006/relationships" id="256" r:id="R0b290730771d4d0f"/>
    <p:sldId xmlns:r="http://schemas.openxmlformats.org/officeDocument/2006/relationships" id="257" r:id="R45a6ac0fbc5e4f83"/>
    <p:sldId xmlns:r="http://schemas.openxmlformats.org/officeDocument/2006/relationships" id="258" r:id="Ra95117c8a3854bfd"/>
    <p:sldId xmlns:r="http://schemas.openxmlformats.org/officeDocument/2006/relationships" id="259" r:id="R7516987a1a064cb8"/>
    <p:sldId xmlns:r="http://schemas.openxmlformats.org/officeDocument/2006/relationships" id="260" r:id="R98ad1a5715c44a34"/>
    <p:sldId xmlns:r="http://schemas.openxmlformats.org/officeDocument/2006/relationships" id="261" r:id="Rae4c731f60db49a8"/>
    <p:sldId xmlns:r="http://schemas.openxmlformats.org/officeDocument/2006/relationships" id="262" r:id="R8c60e35456b9431c"/>
    <p:sldId xmlns:r="http://schemas.openxmlformats.org/officeDocument/2006/relationships" id="263" r:id="Re5a2200ecb4948a3"/>
    <p:sldId xmlns:r="http://schemas.openxmlformats.org/officeDocument/2006/relationships" id="264" r:id="R621e82fa159b4bf7"/>
    <p:sldId xmlns:r="http://schemas.openxmlformats.org/officeDocument/2006/relationships" id="265" r:id="R3a48cc7846b94fdc"/>
    <p:sldId xmlns:r="http://schemas.openxmlformats.org/officeDocument/2006/relationships" id="266" r:id="R3910dbf026b5409c"/>
    <p:sldId xmlns:r="http://schemas.openxmlformats.org/officeDocument/2006/relationships" id="267" r:id="Rfa98349548b64745"/>
    <p:sldId xmlns:r="http://schemas.openxmlformats.org/officeDocument/2006/relationships" id="268" r:id="Rd9b7d6fe9de24a88"/>
    <p:sldId xmlns:r="http://schemas.openxmlformats.org/officeDocument/2006/relationships" id="269" r:id="R3e5eebf1d8a048be"/>
    <p:sldId xmlns:r="http://schemas.openxmlformats.org/officeDocument/2006/relationships" id="270" r:id="R498fce77f6934e11"/>
    <p:sldId xmlns:r="http://schemas.openxmlformats.org/officeDocument/2006/relationships" id="271" r:id="R162938cd2710488e"/>
    <p:sldId xmlns:r="http://schemas.openxmlformats.org/officeDocument/2006/relationships" id="272" r:id="R300f1065237048b2"/>
    <p:sldId xmlns:r="http://schemas.openxmlformats.org/officeDocument/2006/relationships" id="273" r:id="R51a072664cb74383"/>
    <p:sldId xmlns:r="http://schemas.openxmlformats.org/officeDocument/2006/relationships" id="274" r:id="Rf3fca7410989477b"/>
    <p:sldId xmlns:r="http://schemas.openxmlformats.org/officeDocument/2006/relationships" id="275" r:id="R3c72dc84d0a24516"/>
    <p:sldId xmlns:r="http://schemas.openxmlformats.org/officeDocument/2006/relationships" id="276" r:id="R0d7991a994734d9b"/>
    <p:sldId xmlns:r="http://schemas.openxmlformats.org/officeDocument/2006/relationships" id="277" r:id="R71aabfe0c9b3417b"/>
    <p:sldId xmlns:r="http://schemas.openxmlformats.org/officeDocument/2006/relationships" id="278" r:id="R972f52dc57c94053"/>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3d7d092646d4cdd" /><Relationship Type="http://schemas.openxmlformats.org/officeDocument/2006/relationships/slideMaster" Target="/ppt/slideMasters/slideMaster1.xml" Id="Ref3c9348305446a5" /><Relationship Type="http://schemas.openxmlformats.org/officeDocument/2006/relationships/notesMaster" Target="/ppt/notesMasters/notesMaster1.xml" Id="R12e869dc03a04f02" /><Relationship Type="http://schemas.openxmlformats.org/officeDocument/2006/relationships/presProps" Target="/ppt/presProps.xml" Id="R72fac2344da94a77" /><Relationship Type="http://schemas.openxmlformats.org/officeDocument/2006/relationships/viewProps" Target="/ppt/viewProps.xml" Id="Rc2ee2dc86a2b4906" /><Relationship Type="http://schemas.openxmlformats.org/officeDocument/2006/relationships/tableStyles" Target="/ppt/tableStyles.xml" Id="R78fd5492f3044fc7" /><Relationship Type="http://schemas.openxmlformats.org/officeDocument/2006/relationships/slide" Target="/ppt/slides/slide1.xml" Id="R0b290730771d4d0f" /><Relationship Type="http://schemas.openxmlformats.org/officeDocument/2006/relationships/slide" Target="/ppt/slides/slide2.xml" Id="R45a6ac0fbc5e4f83" /><Relationship Type="http://schemas.openxmlformats.org/officeDocument/2006/relationships/slide" Target="/ppt/slides/slide3.xml" Id="Ra95117c8a3854bfd" /><Relationship Type="http://schemas.openxmlformats.org/officeDocument/2006/relationships/slide" Target="/ppt/slides/slide4.xml" Id="R7516987a1a064cb8" /><Relationship Type="http://schemas.openxmlformats.org/officeDocument/2006/relationships/slide" Target="/ppt/slides/slide5.xml" Id="R98ad1a5715c44a34" /><Relationship Type="http://schemas.openxmlformats.org/officeDocument/2006/relationships/slide" Target="/ppt/slides/slide6.xml" Id="Rae4c731f60db49a8" /><Relationship Type="http://schemas.openxmlformats.org/officeDocument/2006/relationships/slide" Target="/ppt/slides/slide7.xml" Id="R8c60e35456b9431c" /><Relationship Type="http://schemas.openxmlformats.org/officeDocument/2006/relationships/slide" Target="/ppt/slides/slide8.xml" Id="Re5a2200ecb4948a3" /><Relationship Type="http://schemas.openxmlformats.org/officeDocument/2006/relationships/slide" Target="/ppt/slides/slide9.xml" Id="R621e82fa159b4bf7" /><Relationship Type="http://schemas.openxmlformats.org/officeDocument/2006/relationships/slide" Target="/ppt/slides/slide10.xml" Id="R3a48cc7846b94fdc" /><Relationship Type="http://schemas.openxmlformats.org/officeDocument/2006/relationships/slide" Target="/ppt/slides/slide11.xml" Id="R3910dbf026b5409c" /><Relationship Type="http://schemas.openxmlformats.org/officeDocument/2006/relationships/slide" Target="/ppt/slides/slide12.xml" Id="Rfa98349548b64745" /><Relationship Type="http://schemas.openxmlformats.org/officeDocument/2006/relationships/slide" Target="/ppt/slides/slide13.xml" Id="Rd9b7d6fe9de24a88" /><Relationship Type="http://schemas.openxmlformats.org/officeDocument/2006/relationships/slide" Target="/ppt/slides/slide14.xml" Id="R3e5eebf1d8a048be" /><Relationship Type="http://schemas.openxmlformats.org/officeDocument/2006/relationships/slide" Target="/ppt/slides/slide15.xml" Id="R498fce77f6934e11" /><Relationship Type="http://schemas.openxmlformats.org/officeDocument/2006/relationships/slide" Target="/ppt/slides/slide16.xml" Id="R162938cd2710488e" /><Relationship Type="http://schemas.openxmlformats.org/officeDocument/2006/relationships/slide" Target="/ppt/slides/slide17.xml" Id="R300f1065237048b2" /><Relationship Type="http://schemas.openxmlformats.org/officeDocument/2006/relationships/slide" Target="/ppt/slides/slide18.xml" Id="R51a072664cb74383" /><Relationship Type="http://schemas.openxmlformats.org/officeDocument/2006/relationships/slide" Target="/ppt/slides/slide19.xml" Id="Rf3fca7410989477b" /><Relationship Type="http://schemas.openxmlformats.org/officeDocument/2006/relationships/slide" Target="/ppt/slides/slide20.xml" Id="R3c72dc84d0a24516" /><Relationship Type="http://schemas.openxmlformats.org/officeDocument/2006/relationships/slide" Target="/ppt/slides/slide21.xml" Id="R0d7991a994734d9b" /><Relationship Type="http://schemas.openxmlformats.org/officeDocument/2006/relationships/slide" Target="/ppt/slides/slide22.xml" Id="R71aabfe0c9b3417b" /><Relationship Type="http://schemas.openxmlformats.org/officeDocument/2006/relationships/slide" Target="/ppt/slides/slide23.xml" Id="R972f52dc57c940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0e8394c48249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09b659a312486d" /><Relationship Type="http://schemas.openxmlformats.org/officeDocument/2006/relationships/notesMaster" Target="/ppt/notesMasters/notesMaster1.xml" Id="Rfdddd2225bf942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7126a7552148ac" /><Relationship Type="http://schemas.openxmlformats.org/officeDocument/2006/relationships/notesMaster" Target="/ppt/notesMasters/notesMaster1.xml" Id="R4bfd9fbd132845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6a07d6f66f4ef7" /><Relationship Type="http://schemas.openxmlformats.org/officeDocument/2006/relationships/notesMaster" Target="/ppt/notesMasters/notesMaster1.xml" Id="Raa575d5e6cb34c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2588b83da84487" /><Relationship Type="http://schemas.openxmlformats.org/officeDocument/2006/relationships/notesMaster" Target="/ppt/notesMasters/notesMaster1.xml" Id="R542c525f91a64c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91b70cd7b34e1d" /><Relationship Type="http://schemas.openxmlformats.org/officeDocument/2006/relationships/notesMaster" Target="/ppt/notesMasters/notesMaster1.xml" Id="Rea5de01c4cfc4f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79ca13d0654da6" /><Relationship Type="http://schemas.openxmlformats.org/officeDocument/2006/relationships/notesMaster" Target="/ppt/notesMasters/notesMaster1.xml" Id="Raa794f1bf4ea48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fd715db61f48f4" /><Relationship Type="http://schemas.openxmlformats.org/officeDocument/2006/relationships/notesMaster" Target="/ppt/notesMasters/notesMaster1.xml" Id="R5e7050c925384e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676837c2b94cdb" /><Relationship Type="http://schemas.openxmlformats.org/officeDocument/2006/relationships/notesMaster" Target="/ppt/notesMasters/notesMaster1.xml" Id="R7977b7a8758741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1d82779018498d" /><Relationship Type="http://schemas.openxmlformats.org/officeDocument/2006/relationships/notesMaster" Target="/ppt/notesMasters/notesMaster1.xml" Id="R70a9ac116bfa42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ea1184f6274f95" /><Relationship Type="http://schemas.openxmlformats.org/officeDocument/2006/relationships/notesMaster" Target="/ppt/notesMasters/notesMaster1.xml" Id="Rdec1aaaca2794f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7a78e007af4d35" /><Relationship Type="http://schemas.openxmlformats.org/officeDocument/2006/relationships/notesMaster" Target="/ppt/notesMasters/notesMaster1.xml" Id="Rd22afb2a84e54e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75f8c35d224044" /><Relationship Type="http://schemas.openxmlformats.org/officeDocument/2006/relationships/notesMaster" Target="/ppt/notesMasters/notesMaster1.xml" Id="R7c30b73a67bd45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e541f699cb744be" /><Relationship Type="http://schemas.openxmlformats.org/officeDocument/2006/relationships/notesMaster" Target="/ppt/notesMasters/notesMaster1.xml" Id="R27d941425bfb4d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09ebbd94b046f9" /><Relationship Type="http://schemas.openxmlformats.org/officeDocument/2006/relationships/notesMaster" Target="/ppt/notesMasters/notesMaster1.xml" Id="Rb1f59b77242649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bf7426826104c6f" /><Relationship Type="http://schemas.openxmlformats.org/officeDocument/2006/relationships/notesMaster" Target="/ppt/notesMasters/notesMaster1.xml" Id="R9874f63bf7e046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9c8d21f5b6c46e6" /><Relationship Type="http://schemas.openxmlformats.org/officeDocument/2006/relationships/notesMaster" Target="/ppt/notesMasters/notesMaster1.xml" Id="R7ee1a47681de4ce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5a8e2fba8ab4090" /><Relationship Type="http://schemas.openxmlformats.org/officeDocument/2006/relationships/notesMaster" Target="/ppt/notesMasters/notesMaster1.xml" Id="R959c911635254f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c029cc78b64629" /><Relationship Type="http://schemas.openxmlformats.org/officeDocument/2006/relationships/notesMaster" Target="/ppt/notesMasters/notesMaster1.xml" Id="R47cfe3aabbe442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f244242685410e" /><Relationship Type="http://schemas.openxmlformats.org/officeDocument/2006/relationships/notesMaster" Target="/ppt/notesMasters/notesMaster1.xml" Id="R2ae56f344db0403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57fdc57476d4710" /><Relationship Type="http://schemas.openxmlformats.org/officeDocument/2006/relationships/notesMaster" Target="/ppt/notesMasters/notesMaster1.xml" Id="R872220154330468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eca83d363d4c6d" /><Relationship Type="http://schemas.openxmlformats.org/officeDocument/2006/relationships/notesMaster" Target="/ppt/notesMasters/notesMaster1.xml" Id="Rbc77d41499e647c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a1223da7355437c" /><Relationship Type="http://schemas.openxmlformats.org/officeDocument/2006/relationships/notesMaster" Target="/ppt/notesMasters/notesMaster1.xml" Id="Rebd9ac22f2b24ce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2cdf2e2e354dc2" /><Relationship Type="http://schemas.openxmlformats.org/officeDocument/2006/relationships/notesMaster" Target="/ppt/notesMasters/notesMaster1.xml" Id="Rf7b1e6be0c104c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opens. Say: Good [morning/afternoon]. We are Group 7, and we built the Singapore Jobs Explorer.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Career coaches and job seekers in Singapore. We picked them because they need a first overview quickly and often do not have data skills.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Say: This does not predict whether you will get hired. A job advert shows what an employer is offering. It does not show who was hired.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The file has 1,048,585 rows. Each row is one job advert, with about twenty details.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Three fixes: removed empty rows; treated zero salaries as missing and swapped reversed minimum and maximum; counted multi-category jobs once per category.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About 1,044,597 postings remained. No repeated job IDs were found.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Across 1,044,597 postings there are 2.7 million vacancies in 43 categories. One posting can have several vacancies.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Pay climbs with each level. Entry median S$2,675; Management S$6,500. Overall median S$3,850.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Where the most jobs are and where the best pay is are different questions. IT has many postings and high pay. Admin has many postings and low pay.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3. Personal Care and Beauty has about 0.15 applications per seat; F&amp;B about 0.21. Marketing and PR has about 1.5, and Risk Management about 2.2. Use the same definition as the dashboard: total applications divided by total vacancies.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 Set the sidebar to First 50,000 rows. Keep the Overview and Salary screenshots ready in case the live app fails. Demo: choose Information Technology, then the most junior and a senior career level, then open Trends, Demand vs competition, Skills, Career recommender and Data quality.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 or 3. Trends use the posting date and start in May 2023, when the data collection changed. Monthly counts drop sharply after May 2024. The cause is not confirmed, so say so rather than explain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 The chart shows postings on a log scale against applications per vacancy. Categories in the top-left are big and open. The app lets the user change the minimum posting count.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 Keywords come from job titles, not full descriptions. Only keywords with at least 500 postings are shown. Premium = median of postings with the keyword divided by the overall median, minus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4. Default weights: demand 3, pay 3, low competition 2, easy to enter 2. Change a slider to show how the ranking shifts toward entry-level or higher-paid tracks.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5. Name three limits: adverts are not hires; some data was not clean; trends start in May 2023 and drop after May 2024. The main lesson: data quality decides how far you can trust a chart.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5. Three next steps: confirm the post-May-2024 drop; review extreme salaries; test on the full file with real users.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5. Close with the final line, then say Thank you. We are happy to take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for Q&amp;A. The source notebook reports 1,048,585 rows read and 1,044,597 retained. It drops 3,988 empty rows, removes impossible salary values from the pay field, caps extreme values at the 1st and 99th percentiles, checks duplicate IDs, and expands category membership. Source: project notebooks/01_eda.ipynb and presentation/speaker-2-data-preparation.md.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for Q&amp;A. Seniority bands combine the nine source position levels into five groups. Counts and medians come from the full cleaned dataset. Salary_type was Monthly in the 50,000-row schema sample. Source: project notebooks/01_eda.ipynb, Speaker 3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for Q&amp;A. Use total applications divided by total vacancies, not the mean of per-post ratios. The examples are from the dashboard analysis and should be described as recorded applications. Source: presentation/slide-outline.md and speaker-3-what-the-data-shows.md.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for Q&amp;A. The app scans title text using a defined keyword list and hides terms with fewer than 500 matching postings. Premium = median salary for keyword postings divided by overall median, minus one. Source: presentation/slide-outline.md and app.py / data_utils.py.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for Q&amp;A. Tracks are category × seniority. The app ranks postings, pay, inverse applications per vacancy, and accessible_share (share whose minimum experience is 3 years or less) using percentile ranks across eligible tracks. Default weights are demand 3, pay 3, low competition 2, and easy to enter 2. This is a ranking aid, not a hiring prediction. Source: data_utils.py and slide 15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2565d2c4944d1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17afe17d704d1f" /><Relationship Type="http://schemas.openxmlformats.org/officeDocument/2006/relationships/slideLayout" Target="/ppt/slideLayouts/slideLayout1.xml" Id="Re6c69beecd9541c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c69beecd9541c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b907c97c9d4f16" /><Relationship Type="http://schemas.openxmlformats.org/officeDocument/2006/relationships/notesSlide" Target="/ppt/notesSlides/notesSlide1.xml" Id="Re003a710548140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67041c176a4e23" /><Relationship Type="http://schemas.openxmlformats.org/officeDocument/2006/relationships/notesSlide" Target="/ppt/notesSlides/notesSlide2.xml" Id="R30db43dcdad84f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125ce1394094e22" /><Relationship Type="http://schemas.openxmlformats.org/officeDocument/2006/relationships/notesSlide" Target="/ppt/notesSlides/notesSlide3.xml" Id="R9b6b7c1d7baa49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9b65ce15f24386" /><Relationship Type="http://schemas.openxmlformats.org/officeDocument/2006/relationships/notesSlide" Target="/ppt/notesSlides/notesSlide4.xml" Id="R9239d403d7d746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5595c3c0ce45f7" /><Relationship Type="http://schemas.openxmlformats.org/officeDocument/2006/relationships/notesSlide" Target="/ppt/notesSlides/notesSlide5.xml" Id="R98ba77b278bc48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b0e50d2e62472d" /><Relationship Type="http://schemas.openxmlformats.org/officeDocument/2006/relationships/notesSlide" Target="/ppt/notesSlides/notesSlide6.xml" Id="R79b698d8fe0948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cbcda471aa488b" /><Relationship Type="http://schemas.openxmlformats.org/officeDocument/2006/relationships/notesSlide" Target="/ppt/notesSlides/notesSlide7.xml" Id="Rdc0541ed673d45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c5b92295900442d" /><Relationship Type="http://schemas.openxmlformats.org/officeDocument/2006/relationships/chart" Target="/ppt/slides/charts/chart1.xml" Id="Rde739f14cade4ecb" /><Relationship Type="http://schemas.openxmlformats.org/officeDocument/2006/relationships/notesSlide" Target="/ppt/notesSlides/notesSlide8.xml" Id="Rd66605fcf4f442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3527d6d7234762" /><Relationship Type="http://schemas.openxmlformats.org/officeDocument/2006/relationships/notesSlide" Target="/ppt/notesSlides/notesSlide9.xml" Id="R36856a7214224e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278ff5dc044886" /><Relationship Type="http://schemas.openxmlformats.org/officeDocument/2006/relationships/chart" Target="/ppt/slides/charts/chart2.xml" Id="R1c2d00e1151b4e71" /><Relationship Type="http://schemas.openxmlformats.org/officeDocument/2006/relationships/notesSlide" Target="/ppt/notesSlides/notesSlide10.xml" Id="Re2f10421b30a45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430d30f619a47c6" /><Relationship Type="http://schemas.openxmlformats.org/officeDocument/2006/relationships/notesSlide" Target="/ppt/notesSlides/notesSlide11.xml" Id="R05bb4200bf7a46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93d084e9484178" /><Relationship Type="http://schemas.openxmlformats.org/officeDocument/2006/relationships/chart" Target="/ppt/slides/charts/chart3.xml" Id="Rbcd713baa6b543aa" /><Relationship Type="http://schemas.openxmlformats.org/officeDocument/2006/relationships/notesSlide" Target="/ppt/notesSlides/notesSlide12.xml" Id="R5bbc867948b744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4e6fa9f3694902" /><Relationship Type="http://schemas.openxmlformats.org/officeDocument/2006/relationships/notesSlide" Target="/ppt/notesSlides/notesSlide13.xml" Id="R0485fd92d0b440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767185551d7493e" /><Relationship Type="http://schemas.openxmlformats.org/officeDocument/2006/relationships/chart" Target="/ppt/slides/charts/chart4.xml" Id="R57ae103e16fc4169" /><Relationship Type="http://schemas.openxmlformats.org/officeDocument/2006/relationships/notesSlide" Target="/ppt/notesSlides/notesSlide14.xml" Id="R63f6a8c3d6ec43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10563145c98407c" /><Relationship Type="http://schemas.openxmlformats.org/officeDocument/2006/relationships/notesSlide" Target="/ppt/notesSlides/notesSlide15.xml" Id="R899b055403aa447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7ca9961afad4222" /><Relationship Type="http://schemas.openxmlformats.org/officeDocument/2006/relationships/notesSlide" Target="/ppt/notesSlides/notesSlide16.xml" Id="R16405302c52d4ab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4c20080f8954917" /><Relationship Type="http://schemas.openxmlformats.org/officeDocument/2006/relationships/notesSlide" Target="/ppt/notesSlides/notesSlide17.xml" Id="R71ab1a6f22be447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78a4905b54349b4" /><Relationship Type="http://schemas.openxmlformats.org/officeDocument/2006/relationships/notesSlide" Target="/ppt/notesSlides/notesSlide18.xml" Id="R6f37915c71c947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3cd21abe877451f" /><Relationship Type="http://schemas.openxmlformats.org/officeDocument/2006/relationships/notesSlide" Target="/ppt/notesSlides/notesSlide19.xml" Id="Rb4da55b2328d4cc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b8fb9e1e7c54a14" /><Relationship Type="http://schemas.openxmlformats.org/officeDocument/2006/relationships/notesSlide" Target="/ppt/notesSlides/notesSlide20.xml" Id="R8c289ce0dfca44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c1af7b2bf674807" /><Relationship Type="http://schemas.openxmlformats.org/officeDocument/2006/relationships/notesSlide" Target="/ppt/notesSlides/notesSlide21.xml" Id="R3e6447c734c24e0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2740b7d79864a6b" /><Relationship Type="http://schemas.openxmlformats.org/officeDocument/2006/relationships/notesSlide" Target="/ppt/notesSlides/notesSlide22.xml" Id="Rd75707e506794c4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cf2ea02d36740ec" /><Relationship Type="http://schemas.openxmlformats.org/officeDocument/2006/relationships/notesSlide" Target="/ppt/notesSlides/notesSlide23.xml" Id="R60324eddf1674f0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Median monthly salary (S$)</c:v>
          </c:tx>
          <c:spPr>
            <a:solidFill xmlns:a="http://schemas.openxmlformats.org/drawingml/2006/main">
              <a:srgbClr val="2A9D8F"/>
            </a:solidFill>
          </c:spPr>
          <c:invertIfNegative val="0"/>
          <c:cat>
            <c:strRef>
              <c:f>'Chart Data'!$A$2:$A$6</c:f>
              <c:strCache>
                <c:ptCount val="5"/>
                <c:pt idx="0">
                  <c:v>Entry</c:v>
                </c:pt>
                <c:pt idx="1">
                  <c:v>Junior</c:v>
                </c:pt>
                <c:pt idx="2">
                  <c:v>Mid</c:v>
                </c:pt>
                <c:pt idx="3">
                  <c:v>Senior</c:v>
                </c:pt>
                <c:pt idx="4">
                  <c:v>Management</c:v>
                </c:pt>
              </c:strCache>
            </c:strRef>
          </c:cat>
          <c:val>
            <c:numRef>
              <c:f>'Chart Data'!$B$2:$B$6</c:f>
              <c:numCache>
                <c:formatCode>"S$"#,##0</c:formatCode>
                <c:ptCount val="5"/>
                <c:pt idx="0">
                  <c:v>2675</c:v>
                </c:pt>
                <c:pt idx="1">
                  <c:v>3150</c:v>
                </c:pt>
                <c:pt idx="2">
                  <c:v>4000</c:v>
                </c:pt>
                <c:pt idx="3">
                  <c:v>5000</c:v>
                </c:pt>
                <c:pt idx="4">
                  <c:v>6500</c:v>
                </c:pt>
              </c:numCache>
            </c:numRef>
          </c:val>
        </c:ser>
        <c:dLbls>
          <c:numFmt formatCode="&quot;S$&quot;#,##0" sourceLinked="0"/>
          <c:txPr>
            <a:bodyPr xmlns:a="http://schemas.openxmlformats.org/drawingml/2006/main" anchorCtr="1"/>
            <a:lstStyle xmlns:a="http://schemas.openxmlformats.org/drawingml/2006/main"/>
            <a:p xmlns:a="http://schemas.openxmlformats.org/drawingml/2006/main">
              <a:pPr>
                <a:defRPr sz="1200">
                  <a:solidFill>
                    <a:srgbClr val="1F2933"/>
                  </a:solidFil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0E7"/>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72768"/>
      </c:catAx>
      <c:valAx>
        <c:axId val="48672768"/>
        <c:scaling>
          <c:orientation val="minMax"/>
        </c:scaling>
        <c:delete val="0"/>
        <c:axPos val="l"/>
        <c:majorGridlines>
          <c:spPr>
            <a:ln xmlns:a="http://schemas.openxmlformats.org/drawingml/2006/main" w="9525">
              <a:solidFill>
                <a:srgbClr val="D7E0E7"/>
              </a:solidFill>
              <a:prstDash val="solid"/>
            </a:ln>
          </c:spPr>
        </c:majorGridlines>
        <c:numFmt formatCode="&quot;S$&quot;#,##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Applications per vacancy</c:v>
          </c:tx>
          <c:spPr>
            <a:solidFill xmlns:a="http://schemas.openxmlformats.org/drawingml/2006/main">
              <a:srgbClr val="E9A23B"/>
            </a:solidFill>
          </c:spPr>
          <c:invertIfNegative val="0"/>
          <c:dPt>
            <c:idx val="0"/>
            <c:invertIfNegative val="0"/>
            <c:spPr>
              <a:solidFill xmlns:a="http://schemas.openxmlformats.org/drawingml/2006/main">
                <a:srgbClr val="2A9D8F"/>
              </a:solidFill>
            </c:spPr>
          </c:dPt>
          <c:dPt>
            <c:idx val="1"/>
            <c:invertIfNegative val="0"/>
            <c:spPr>
              <a:solidFill xmlns:a="http://schemas.openxmlformats.org/drawingml/2006/main">
                <a:srgbClr val="2A9D8F"/>
              </a:solidFill>
            </c:spPr>
          </c:dPt>
          <c:cat>
            <c:strRef>
              <c:f>'Chart Data'!$A$2:$A$5</c:f>
              <c:strCache>
                <c:ptCount val="4"/>
                <c:pt idx="0">
                  <c:v>Personal Care / Beauty</c:v>
                </c:pt>
                <c:pt idx="1">
                  <c:v>F&amp;B</c:v>
                </c:pt>
                <c:pt idx="2">
                  <c:v>Marketing / PR</c:v>
                </c:pt>
                <c:pt idx="3">
                  <c:v>Risk Management</c:v>
                </c:pt>
              </c:strCache>
            </c:strRef>
          </c:cat>
          <c:val>
            <c:numRef>
              <c:f>'Chart Data'!$B$2:$B$5</c:f>
              <c:numCache>
                <c:formatCode>0.0</c:formatCode>
                <c:ptCount val="4"/>
                <c:pt idx="0">
                  <c:v>0.15</c:v>
                </c:pt>
                <c:pt idx="1">
                  <c:v>0.21</c:v>
                </c:pt>
                <c:pt idx="2">
                  <c:v>1.48</c:v>
                </c:pt>
                <c:pt idx="3">
                  <c:v>2.16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00">
                  <a:solidFill>
                    <a:srgbClr val="1F2933"/>
                  </a:solidFil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0E7"/>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72768"/>
      </c:catAx>
      <c:valAx>
        <c:axId val="48672768"/>
        <c:scaling>
          <c:orientation val="minMax"/>
        </c:scaling>
        <c:delete val="0"/>
        <c:axPos val="l"/>
        <c:majorGridlines>
          <c:spPr>
            <a:ln xmlns:a="http://schemas.openxmlformats.org/drawingml/2006/main" w="9525">
              <a:solidFill>
                <a:srgbClr val="D7E0E7"/>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Postings per month</c:v>
          </c:tx>
          <c:spPr>
            <a:ln xmlns:a="http://schemas.openxmlformats.org/drawingml/2006/main" w="28575">
              <a:solidFill>
                <a:srgbClr val="2A9D8F"/>
              </a:solidFill>
              <a:prstDash val="solid"/>
            </a:ln>
          </c:spPr>
          <c:marker>
            <c:symbol val="circle"/>
            <c:size val="6"/>
            <c:spPr>
              <a:solidFill xmlns:a="http://schemas.openxmlformats.org/drawingml/2006/main">
                <a:srgbClr val="2A9D8F"/>
              </a:solidFill>
            </c:spPr>
          </c:marker>
          <c:cat>
            <c:strRef>
              <c:f>'Chart Data'!$A$2:$A$21</c:f>
              <c:strCache>
                <c:ptCount val="20"/>
                <c:pt idx="0">
                  <c:v>May 23</c:v>
                </c:pt>
                <c:pt idx="1">
                  <c:v>Jun 23</c:v>
                </c:pt>
                <c:pt idx="2">
                  <c:v>Jul 23</c:v>
                </c:pt>
                <c:pt idx="3">
                  <c:v>Aug 23</c:v>
                </c:pt>
                <c:pt idx="4">
                  <c:v>Sep 23</c:v>
                </c:pt>
                <c:pt idx="5">
                  <c:v>Oct 23</c:v>
                </c:pt>
                <c:pt idx="6">
                  <c:v>Nov 23</c:v>
                </c:pt>
                <c:pt idx="7">
                  <c:v>Dec 23</c:v>
                </c:pt>
                <c:pt idx="8">
                  <c:v>Jan 24</c:v>
                </c:pt>
                <c:pt idx="9">
                  <c:v>Feb 24</c:v>
                </c:pt>
                <c:pt idx="10">
                  <c:v>Mar 24</c:v>
                </c:pt>
                <c:pt idx="11">
                  <c:v>Apr 24</c:v>
                </c:pt>
                <c:pt idx="12">
                  <c:v>May 24</c:v>
                </c:pt>
                <c:pt idx="13">
                  <c:v>Jun 24</c:v>
                </c:pt>
                <c:pt idx="14">
                  <c:v>Jul 24</c:v>
                </c:pt>
                <c:pt idx="15">
                  <c:v>Aug 24</c:v>
                </c:pt>
                <c:pt idx="16">
                  <c:v>Sep 24</c:v>
                </c:pt>
                <c:pt idx="17">
                  <c:v>Oct 24</c:v>
                </c:pt>
                <c:pt idx="18">
                  <c:v>Nov 24</c:v>
                </c:pt>
                <c:pt idx="19">
                  <c:v>Dec 24</c:v>
                </c:pt>
              </c:strCache>
            </c:strRef>
          </c:cat>
          <c:val>
            <c:numRef>
              <c:f>'Chart Data'!$B$2:$B$21</c:f>
              <c:numCache>
                <c:formatCode>#,##0</c:formatCode>
                <c:ptCount val="20"/>
                <c:pt idx="0">
                  <c:v>70032</c:v>
                </c:pt>
                <c:pt idx="1">
                  <c:v>79027</c:v>
                </c:pt>
                <c:pt idx="2">
                  <c:v>77367</c:v>
                </c:pt>
                <c:pt idx="3">
                  <c:v>75556</c:v>
                </c:pt>
                <c:pt idx="4">
                  <c:v>66895</c:v>
                </c:pt>
                <c:pt idx="5">
                  <c:v>70010</c:v>
                </c:pt>
                <c:pt idx="6">
                  <c:v>69589</c:v>
                </c:pt>
                <c:pt idx="7">
                  <c:v>60707</c:v>
                </c:pt>
                <c:pt idx="8">
                  <c:v>57898</c:v>
                </c:pt>
                <c:pt idx="9">
                  <c:v>60282</c:v>
                </c:pt>
                <c:pt idx="10">
                  <c:v>60163</c:v>
                </c:pt>
                <c:pt idx="11">
                  <c:v>59507</c:v>
                </c:pt>
                <c:pt idx="12">
                  <c:v>59482</c:v>
                </c:pt>
                <c:pt idx="13">
                  <c:v>11657</c:v>
                </c:pt>
                <c:pt idx="14">
                  <c:v>11780</c:v>
                </c:pt>
                <c:pt idx="15">
                  <c:v>16836</c:v>
                </c:pt>
                <c:pt idx="16">
                  <c:v>13989</c:v>
                </c:pt>
                <c:pt idx="17">
                  <c:v>9554</c:v>
                </c:pt>
                <c:pt idx="18">
                  <c:v>11059</c:v>
                </c:pt>
                <c:pt idx="19">
                  <c:v>12033</c:v>
                </c:pt>
              </c:numCache>
            </c:numRef>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E0E7"/>
            </a:solidFill>
            <a:prstDash val="solid"/>
          </a:ln>
        </c:spPr>
        <c:txPr>
          <a:bodyPr xmlns:a="http://schemas.openxmlformats.org/drawingml/2006/main" anchorCtr="1"/>
          <a:lstStyle xmlns:a="http://schemas.openxmlformats.org/drawingml/2006/main"/>
          <a:p xmlns:a="http://schemas.openxmlformats.org/drawingml/2006/main">
            <a:pPr>
              <a:defRPr sz="1050">
                <a:solidFill>
                  <a:srgbClr val="1F2933"/>
                </a:solidFill>
              </a:defRPr>
            </a:pPr>
          </a:p>
        </c:txPr>
        <c:crossAx val="48672768"/>
      </c:catAx>
      <c:valAx>
        <c:axId val="48672768"/>
        <c:scaling>
          <c:orientation val="minMax"/>
        </c:scaling>
        <c:delete val="0"/>
        <c:axPos val="l"/>
        <c:majorGridlines>
          <c:spPr>
            <a:ln xmlns:a="http://schemas.openxmlformats.org/drawingml/2006/main" w="9525">
              <a:solidFill>
                <a:srgbClr val="D7E0E7"/>
              </a:solidFill>
              <a:prstDash val="solid"/>
            </a:ln>
          </c:spPr>
        </c:majorGridlines>
        <c:title>
          <c:tx>
            <c:rich>
              <a:bodyPr xmlns:a="http://schemas.openxmlformats.org/drawingml/2006/main"/>
              <a:lstStyle xmlns:a="http://schemas.openxmlformats.org/drawingml/2006/main"/>
              <a:p xmlns:a="http://schemas.openxmlformats.org/drawingml/2006/main">
                <a:r>
                  <a:t>Postings</a:t>
                </a:r>
              </a:p>
            </c:rich>
          </c:tx>
          <c:overlay val="0"/>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Premium vs all postings (%)</c:v>
          </c:tx>
          <c:spPr>
            <a:solidFill xmlns:a="http://schemas.openxmlformats.org/drawingml/2006/main">
              <a:srgbClr val="2A9D8F"/>
            </a:solidFill>
          </c:spPr>
          <c:invertIfNegative val="0"/>
          <c:dPt>
            <c:idx val="4"/>
            <c:invertIfNegative val="0"/>
            <c:spPr>
              <a:solidFill xmlns:a="http://schemas.openxmlformats.org/drawingml/2006/main">
                <a:srgbClr val="C0392B"/>
              </a:solidFill>
            </c:spPr>
          </c:dPt>
          <c:dPt>
            <c:idx val="5"/>
            <c:invertIfNegative val="0"/>
            <c:spPr>
              <a:solidFill xmlns:a="http://schemas.openxmlformats.org/drawingml/2006/main">
                <a:srgbClr val="C0392B"/>
              </a:solidFill>
            </c:spPr>
          </c:dPt>
          <c:cat>
            <c:strRef>
              <c:f>'Chart Data'!$A$2:$A$7</c:f>
              <c:strCache>
                <c:ptCount val="6"/>
                <c:pt idx="0">
                  <c:v>Machine learning / AI</c:v>
                </c:pt>
                <c:pt idx="1">
                  <c:v>Salesforce</c:v>
                </c:pt>
                <c:pt idx="2">
                  <c:v>Cloud</c:v>
                </c:pt>
                <c:pt idx="3">
                  <c:v>Java</c:v>
                </c:pt>
                <c:pt idx="4">
                  <c:v>Accounting</c:v>
                </c:pt>
                <c:pt idx="5">
                  <c:v>AWS</c:v>
                </c:pt>
              </c:strCache>
            </c:strRef>
          </c:cat>
          <c:val>
            <c:numRef>
              <c:f>'Chart Data'!$B$2:$B$7</c:f>
              <c:numCache>
                <c:formatCode>General</c:formatCode>
                <c:ptCount val="6"/>
                <c:pt idx="0">
                  <c:v>123.7</c:v>
                </c:pt>
                <c:pt idx="1">
                  <c:v>119.7</c:v>
                </c:pt>
                <c:pt idx="2">
                  <c:v>110.5</c:v>
                </c:pt>
                <c:pt idx="3">
                  <c:v>97.4</c:v>
                </c:pt>
                <c:pt idx="4">
                  <c:v>-7.9</c:v>
                </c:pt>
                <c:pt idx="5">
                  <c:v>-7.9</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1200">
                  <a:solidFill>
                    <a:srgbClr val="1F2933"/>
                  </a:solidFil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majorGridlines>
          <c:spPr>
            <a:ln xmlns:a="http://schemas.openxmlformats.org/drawingml/2006/main" w="9525">
              <a:solidFill>
                <a:srgbClr val="D7E0E7"/>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7E0E7"/>
            </a:solidFill>
            <a:prstDash val="solid"/>
          </a:ln>
        </c:spPr>
        <c:txPr>
          <a:bodyPr xmlns:a="http://schemas.openxmlformats.org/drawingml/2006/main" anchorCtr="1"/>
          <a:lstStyle xmlns:a="http://schemas.openxmlformats.org/drawingml/2006/main"/>
          <a:p xmlns:a="http://schemas.openxmlformats.org/drawingml/2006/main">
            <a:pPr>
              <a:defRPr sz="1275">
                <a:solidFill>
                  <a:srgbClr val="1F2933"/>
                </a:solidFil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B2A4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C9E47CB-B1D2-4301-B533-7E9EF2882035}"/>
              </a:ext>
            </a:extLst>
          </p:cNvPr>
          <p:cNvSpPr>
            <a:spLocks xmlns:a="http://schemas.openxmlformats.org/drawingml/2006/main" noGrp="1"/>
          </p:cNvSpPr>
          <p:nvPr/>
        </p:nvSpPr>
        <p:spPr>
          <a:xfrm xmlns:a="http://schemas.openxmlformats.org/drawingml/2006/main">
            <a:off x="731520" y="2011680"/>
            <a:ext cx="106984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000" b="1">
                <a:solidFill>
                  <a:srgbClr val="FFFFFF"/>
                </a:solidFill>
                <a:latin typeface="Cambria"/>
                <a:ea typeface="Cambria"/>
                <a:cs typeface="Cambria"/>
              </a:rPr>
              <a:t>Singapore Jobs Explorer</a:t>
            </a:r>
            <a:endParaRPr sz="5000"/>
          </a:p>
        </p:txBody>
      </p:sp>
      <p:sp>
        <p:nvSpPr>
          <p:cNvPr id="3" name="Text 1">
            <a:extLst xmlns:a="http://schemas.openxmlformats.org/drawingml/2006/main">
              <a:ext uri="{FF2B5EF4-FFF2-40B4-BE49-F238E27FC236}">
                <a16:creationId xmlns:a16="http://schemas.microsoft.com/office/drawing/2014/main" id="{45334298-9859-4678-AD12-99C39297DDF5}"/>
              </a:ext>
            </a:extLst>
          </p:cNvPr>
          <p:cNvSpPr>
            <a:spLocks xmlns:a="http://schemas.openxmlformats.org/drawingml/2006/main" noGrp="1"/>
          </p:cNvSpPr>
          <p:nvPr/>
        </p:nvSpPr>
        <p:spPr>
          <a:xfrm xmlns:a="http://schemas.openxmlformats.org/drawingml/2006/main">
            <a:off x="731520" y="3108960"/>
            <a:ext cx="10698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CADCFC"/>
                </a:solidFill>
                <a:latin typeface="Calibri"/>
                <a:ea typeface="Calibri"/>
                <a:cs typeface="Calibri"/>
              </a:rPr>
              <a:t>What job adverts tell a career seeker</a:t>
            </a:r>
            <a:endParaRPr sz="2400"/>
          </a:p>
        </p:txBody>
      </p:sp>
      <p:sp>
        <p:nvSpPr>
          <p:cNvPr id="4" name="Text 2">
            <a:extLst xmlns:a="http://schemas.openxmlformats.org/drawingml/2006/main">
              <a:ext uri="{FF2B5EF4-FFF2-40B4-BE49-F238E27FC236}">
                <a16:creationId xmlns:a16="http://schemas.microsoft.com/office/drawing/2014/main" id="{BB7F821A-81EB-4F2C-8C69-D87B73740B04}"/>
              </a:ext>
            </a:extLst>
          </p:cNvPr>
          <p:cNvSpPr>
            <a:spLocks xmlns:a="http://schemas.openxmlformats.org/drawingml/2006/main" noGrp="1"/>
          </p:cNvSpPr>
          <p:nvPr/>
        </p:nvSpPr>
        <p:spPr>
          <a:xfrm xmlns:a="http://schemas.openxmlformats.org/drawingml/2006/main">
            <a:off x="731520" y="5120640"/>
            <a:ext cx="10698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Group 7  ·  10-minute presentation</a:t>
            </a:r>
            <a:endParaRPr sz="1600"/>
          </a:p>
        </p:txBody>
      </p:sp>
    </p:spTree>
    <p:extLst>
      <p:ext uri="{BB962C8B-B14F-4D97-AF65-F5344CB8AC3E}">
        <p14:creationId xmlns:p14="http://schemas.microsoft.com/office/powerpoint/2010/main" val="9067595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62DEE6-C9E7-4DB2-B9FE-38F33B3FE602}"/>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Who it is for</a:t>
            </a:r>
            <a:endParaRPr sz="3000"/>
          </a:p>
        </p:txBody>
      </p:sp>
      <p:sp>
        <p:nvSpPr>
          <p:cNvPr id="3" name="Shape 1">
            <a:extLst xmlns:a="http://schemas.openxmlformats.org/drawingml/2006/main">
              <a:ext uri="{FF2B5EF4-FFF2-40B4-BE49-F238E27FC236}">
                <a16:creationId xmlns:a16="http://schemas.microsoft.com/office/drawing/2014/main" id="{CECBE028-071D-496E-80E4-BB0CE04E0201}"/>
              </a:ext>
            </a:extLst>
          </p:cNvPr>
          <p:cNvSpPr>
            <a:spLocks xmlns:a="http://schemas.openxmlformats.org/drawingml/2006/main" noGrp="1"/>
          </p:cNvSpPr>
          <p:nvPr/>
        </p:nvSpPr>
        <p:spPr>
          <a:xfrm xmlns:a="http://schemas.openxmlformats.org/drawingml/2006/main">
            <a:off x="548640" y="1737360"/>
            <a:ext cx="5349240" cy="3566160"/>
          </a:xfrm>
          <a:prstGeom xmlns:a="http://schemas.openxmlformats.org/drawingml/2006/main" prst="roundRect">
            <a:avLst>
              <a:gd name="adj" fmla="val 3077"/>
            </a:avLst>
          </a:prstGeom>
          <a:solidFill xmlns:a="http://schemas.openxmlformats.org/drawingml/2006/main">
            <a:srgbClr val="EEF3F6"/>
          </a:solidFill>
          <a:ln xmlns:a="http://schemas.openxmlformats.org/drawingml/2006/main" w="12700">
            <a:solidFill>
              <a:srgbClr val="EEF3F6"/>
            </a:solidFill>
            <a:prstDash val="solid"/>
          </a:ln>
        </p:spPr>
      </p:sp>
      <p:sp>
        <p:nvSpPr>
          <p:cNvPr id="4" name="Shape 2">
            <a:extLst xmlns:a="http://schemas.openxmlformats.org/drawingml/2006/main">
              <a:ext uri="{FF2B5EF4-FFF2-40B4-BE49-F238E27FC236}">
                <a16:creationId xmlns:a16="http://schemas.microsoft.com/office/drawing/2014/main" id="{4F16B7A2-7634-40E0-A27D-587A65100DBD}"/>
              </a:ext>
            </a:extLst>
          </p:cNvPr>
          <p:cNvSpPr>
            <a:spLocks xmlns:a="http://schemas.openxmlformats.org/drawingml/2006/main" noGrp="1"/>
          </p:cNvSpPr>
          <p:nvPr/>
        </p:nvSpPr>
        <p:spPr>
          <a:xfrm xmlns:a="http://schemas.openxmlformats.org/drawingml/2006/main">
            <a:off x="914400" y="2103120"/>
            <a:ext cx="822960" cy="822960"/>
          </a:xfrm>
          <a:prstGeom xmlns:a="http://schemas.openxmlformats.org/drawingml/2006/main" prst="ellipse">
            <a:avLst/>
          </a:prstGeom>
          <a:solidFill xmlns:a="http://schemas.openxmlformats.org/drawingml/2006/main">
            <a:srgbClr val="2A9D8F"/>
          </a:solidFill>
          <a:ln xmlns:a="http://schemas.openxmlformats.org/drawingml/2006/main" w="12700">
            <a:solidFill>
              <a:srgbClr val="2A9D8F"/>
            </a:solidFill>
            <a:prstDash val="solid"/>
          </a:ln>
        </p:spPr>
      </p:sp>
      <p:sp>
        <p:nvSpPr>
          <p:cNvPr id="5" name="Text 3">
            <a:extLst xmlns:a="http://schemas.openxmlformats.org/drawingml/2006/main">
              <a:ext uri="{FF2B5EF4-FFF2-40B4-BE49-F238E27FC236}">
                <a16:creationId xmlns:a16="http://schemas.microsoft.com/office/drawing/2014/main" id="{9C3C2EAD-F8F4-43A6-A216-66BD0F9A2B13}"/>
              </a:ext>
            </a:extLst>
          </p:cNvPr>
          <p:cNvSpPr>
            <a:spLocks xmlns:a="http://schemas.openxmlformats.org/drawingml/2006/main" noGrp="1"/>
          </p:cNvSpPr>
          <p:nvPr/>
        </p:nvSpPr>
        <p:spPr>
          <a:xfrm xmlns:a="http://schemas.openxmlformats.org/drawingml/2006/main">
            <a:off x="914400" y="2103120"/>
            <a:ext cx="8229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FFFFFF"/>
                </a:solidFill>
                <a:latin typeface="Cambria"/>
                <a:ea typeface="Cambria"/>
                <a:cs typeface="Cambria"/>
              </a:rPr>
              <a:t>1</a:t>
            </a:r>
            <a:endParaRPr sz="2400"/>
          </a:p>
        </p:txBody>
      </p:sp>
      <p:sp>
        <p:nvSpPr>
          <p:cNvPr id="6" name="Text 4">
            <a:extLst xmlns:a="http://schemas.openxmlformats.org/drawingml/2006/main">
              <a:ext uri="{FF2B5EF4-FFF2-40B4-BE49-F238E27FC236}">
                <a16:creationId xmlns:a16="http://schemas.microsoft.com/office/drawing/2014/main" id="{05B6F86F-29EE-4037-A13F-D3866C606B0D}"/>
              </a:ext>
            </a:extLst>
          </p:cNvPr>
          <p:cNvSpPr>
            <a:spLocks xmlns:a="http://schemas.openxmlformats.org/drawingml/2006/main" noGrp="1"/>
          </p:cNvSpPr>
          <p:nvPr/>
        </p:nvSpPr>
        <p:spPr>
          <a:xfrm xmlns:a="http://schemas.openxmlformats.org/drawingml/2006/main">
            <a:off x="914400" y="3154680"/>
            <a:ext cx="4663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B2A41"/>
                </a:solidFill>
                <a:latin typeface="Cambria"/>
                <a:ea typeface="Cambria"/>
                <a:cs typeface="Cambria"/>
              </a:rPr>
              <a:t>Career coaches</a:t>
            </a:r>
            <a:endParaRPr sz="2600"/>
          </a:p>
        </p:txBody>
      </p:sp>
      <p:sp>
        <p:nvSpPr>
          <p:cNvPr id="7" name="Text 5">
            <a:extLst xmlns:a="http://schemas.openxmlformats.org/drawingml/2006/main">
              <a:ext uri="{FF2B5EF4-FFF2-40B4-BE49-F238E27FC236}">
                <a16:creationId xmlns:a16="http://schemas.microsoft.com/office/drawing/2014/main" id="{0C2B3350-F98F-415E-99C4-93B05A99D33B}"/>
              </a:ext>
            </a:extLst>
          </p:cNvPr>
          <p:cNvSpPr>
            <a:spLocks xmlns:a="http://schemas.openxmlformats.org/drawingml/2006/main" noGrp="1"/>
          </p:cNvSpPr>
          <p:nvPr/>
        </p:nvSpPr>
        <p:spPr>
          <a:xfrm xmlns:a="http://schemas.openxmlformats.org/drawingml/2006/main">
            <a:off x="914400" y="3794760"/>
            <a:ext cx="46634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F2933"/>
                </a:solidFill>
                <a:latin typeface="Calibri"/>
                <a:ea typeface="Calibri"/>
                <a:cs typeface="Calibri"/>
              </a:rPr>
              <a:t>Need a quick, evidence-based first conversation with a client about roles and pay.</a:t>
            </a:r>
            <a:endParaRPr sz="1800"/>
          </a:p>
        </p:txBody>
      </p:sp>
      <p:sp>
        <p:nvSpPr>
          <p:cNvPr id="8" name="Shape 6">
            <a:extLst xmlns:a="http://schemas.openxmlformats.org/drawingml/2006/main">
              <a:ext uri="{FF2B5EF4-FFF2-40B4-BE49-F238E27FC236}">
                <a16:creationId xmlns:a16="http://schemas.microsoft.com/office/drawing/2014/main" id="{5745FCB2-7E3D-4FAE-922B-FA9C0BC1CB9B}"/>
              </a:ext>
            </a:extLst>
          </p:cNvPr>
          <p:cNvSpPr>
            <a:spLocks xmlns:a="http://schemas.openxmlformats.org/drawingml/2006/main" noGrp="1"/>
          </p:cNvSpPr>
          <p:nvPr/>
        </p:nvSpPr>
        <p:spPr>
          <a:xfrm xmlns:a="http://schemas.openxmlformats.org/drawingml/2006/main">
            <a:off x="6263640" y="1737360"/>
            <a:ext cx="5349240" cy="3566160"/>
          </a:xfrm>
          <a:prstGeom xmlns:a="http://schemas.openxmlformats.org/drawingml/2006/main" prst="roundRect">
            <a:avLst>
              <a:gd name="adj" fmla="val 3077"/>
            </a:avLst>
          </a:prstGeom>
          <a:solidFill xmlns:a="http://schemas.openxmlformats.org/drawingml/2006/main">
            <a:srgbClr val="EEF3F6"/>
          </a:solidFill>
          <a:ln xmlns:a="http://schemas.openxmlformats.org/drawingml/2006/main" w="12700">
            <a:solidFill>
              <a:srgbClr val="EEF3F6"/>
            </a:solidFill>
            <a:prstDash val="solid"/>
          </a:ln>
        </p:spPr>
      </p:sp>
      <p:sp>
        <p:nvSpPr>
          <p:cNvPr id="9" name="Shape 7">
            <a:extLst xmlns:a="http://schemas.openxmlformats.org/drawingml/2006/main">
              <a:ext uri="{FF2B5EF4-FFF2-40B4-BE49-F238E27FC236}">
                <a16:creationId xmlns:a16="http://schemas.microsoft.com/office/drawing/2014/main" id="{5CEBF7BE-E836-4397-B2AB-BE17526B67AF}"/>
              </a:ext>
            </a:extLst>
          </p:cNvPr>
          <p:cNvSpPr>
            <a:spLocks xmlns:a="http://schemas.openxmlformats.org/drawingml/2006/main" noGrp="1"/>
          </p:cNvSpPr>
          <p:nvPr/>
        </p:nvSpPr>
        <p:spPr>
          <a:xfrm xmlns:a="http://schemas.openxmlformats.org/drawingml/2006/main">
            <a:off x="6629400" y="2103120"/>
            <a:ext cx="822960" cy="822960"/>
          </a:xfrm>
          <a:prstGeom xmlns:a="http://schemas.openxmlformats.org/drawingml/2006/main" prst="ellipse">
            <a:avLst/>
          </a:prstGeom>
          <a:solidFill xmlns:a="http://schemas.openxmlformats.org/drawingml/2006/main">
            <a:srgbClr val="2A9D8F"/>
          </a:solidFill>
          <a:ln xmlns:a="http://schemas.openxmlformats.org/drawingml/2006/main" w="12700">
            <a:solidFill>
              <a:srgbClr val="2A9D8F"/>
            </a:solidFill>
            <a:prstDash val="solid"/>
          </a:ln>
        </p:spPr>
      </p:sp>
      <p:sp>
        <p:nvSpPr>
          <p:cNvPr id="10" name="Text 8">
            <a:extLst xmlns:a="http://schemas.openxmlformats.org/drawingml/2006/main">
              <a:ext uri="{FF2B5EF4-FFF2-40B4-BE49-F238E27FC236}">
                <a16:creationId xmlns:a16="http://schemas.microsoft.com/office/drawing/2014/main" id="{4A4E3FEA-ACF1-4EB6-82AA-AD3902F2C3C3}"/>
              </a:ext>
            </a:extLst>
          </p:cNvPr>
          <p:cNvSpPr>
            <a:spLocks xmlns:a="http://schemas.openxmlformats.org/drawingml/2006/main" noGrp="1"/>
          </p:cNvSpPr>
          <p:nvPr/>
        </p:nvSpPr>
        <p:spPr>
          <a:xfrm xmlns:a="http://schemas.openxmlformats.org/drawingml/2006/main">
            <a:off x="6629400" y="2103120"/>
            <a:ext cx="8229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FFFFFF"/>
                </a:solidFill>
                <a:latin typeface="Cambria"/>
                <a:ea typeface="Cambria"/>
                <a:cs typeface="Cambria"/>
              </a:rPr>
              <a:t>2</a:t>
            </a:r>
            <a:endParaRPr sz="2400"/>
          </a:p>
        </p:txBody>
      </p:sp>
      <p:sp>
        <p:nvSpPr>
          <p:cNvPr id="11" name="Text 9">
            <a:extLst xmlns:a="http://schemas.openxmlformats.org/drawingml/2006/main">
              <a:ext uri="{FF2B5EF4-FFF2-40B4-BE49-F238E27FC236}">
                <a16:creationId xmlns:a16="http://schemas.microsoft.com/office/drawing/2014/main" id="{0EF12078-A7C9-4CBA-918D-8B71AEF92924}"/>
              </a:ext>
            </a:extLst>
          </p:cNvPr>
          <p:cNvSpPr>
            <a:spLocks xmlns:a="http://schemas.openxmlformats.org/drawingml/2006/main" noGrp="1"/>
          </p:cNvSpPr>
          <p:nvPr/>
        </p:nvSpPr>
        <p:spPr>
          <a:xfrm xmlns:a="http://schemas.openxmlformats.org/drawingml/2006/main">
            <a:off x="6629400" y="3154680"/>
            <a:ext cx="46634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B2A41"/>
                </a:solidFill>
                <a:latin typeface="Cambria"/>
                <a:ea typeface="Cambria"/>
                <a:cs typeface="Cambria"/>
              </a:rPr>
              <a:t>Job seekers</a:t>
            </a:r>
            <a:endParaRPr sz="2600"/>
          </a:p>
        </p:txBody>
      </p:sp>
      <p:sp>
        <p:nvSpPr>
          <p:cNvPr id="12" name="Text 10">
            <a:extLst xmlns:a="http://schemas.openxmlformats.org/drawingml/2006/main">
              <a:ext uri="{FF2B5EF4-FFF2-40B4-BE49-F238E27FC236}">
                <a16:creationId xmlns:a16="http://schemas.microsoft.com/office/drawing/2014/main" id="{A2C591E7-4CBA-43A3-B4E9-658933492FA4}"/>
              </a:ext>
            </a:extLst>
          </p:cNvPr>
          <p:cNvSpPr>
            <a:spLocks xmlns:a="http://schemas.openxmlformats.org/drawingml/2006/main" noGrp="1"/>
          </p:cNvSpPr>
          <p:nvPr/>
        </p:nvSpPr>
        <p:spPr>
          <a:xfrm xmlns:a="http://schemas.openxmlformats.org/drawingml/2006/main">
            <a:off x="6629400" y="3794760"/>
            <a:ext cx="46634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F2933"/>
                </a:solidFill>
                <a:latin typeface="Calibri"/>
                <a:ea typeface="Calibri"/>
                <a:cs typeface="Calibri"/>
              </a:rPr>
              <a:t>Want to see which roles are advertised, what they pay, and how competitive they are.</a:t>
            </a:r>
            <a:endParaRPr sz="1800"/>
          </a:p>
        </p:txBody>
      </p:sp>
      <p:sp>
        <p:nvSpPr>
          <p:cNvPr id="13" name="Text 11">
            <a:extLst xmlns:a="http://schemas.openxmlformats.org/drawingml/2006/main">
              <a:ext uri="{FF2B5EF4-FFF2-40B4-BE49-F238E27FC236}">
                <a16:creationId xmlns:a16="http://schemas.microsoft.com/office/drawing/2014/main" id="{C795D7FA-2D65-4EAF-9922-B2AE8337C867}"/>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2</a:t>
            </a:r>
            <a:endParaRPr sz="1000"/>
          </a:p>
        </p:txBody>
      </p:sp>
    </p:spTree>
    <p:extLst>
      <p:ext uri="{BB962C8B-B14F-4D97-AF65-F5344CB8AC3E}">
        <p14:creationId xmlns:p14="http://schemas.microsoft.com/office/powerpoint/2010/main" val="106879964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412D1C-19D4-457B-A5DD-AB4C5B5DBB69}"/>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The question we set out to answer</a:t>
            </a:r>
            <a:endParaRPr sz="3000"/>
          </a:p>
        </p:txBody>
      </p:sp>
      <p:sp>
        <p:nvSpPr>
          <p:cNvPr id="3" name="Text 1">
            <a:extLst xmlns:a="http://schemas.openxmlformats.org/drawingml/2006/main">
              <a:ext uri="{FF2B5EF4-FFF2-40B4-BE49-F238E27FC236}">
                <a16:creationId xmlns:a16="http://schemas.microsoft.com/office/drawing/2014/main" id="{707F9C8E-4111-4616-80FD-B33C8AA238AF}"/>
              </a:ext>
            </a:extLst>
          </p:cNvPr>
          <p:cNvSpPr>
            <a:spLocks xmlns:a="http://schemas.openxmlformats.org/drawingml/2006/main" noGrp="1"/>
          </p:cNvSpPr>
          <p:nvPr/>
        </p:nvSpPr>
        <p:spPr>
          <a:xfrm xmlns:a="http://schemas.openxmlformats.org/drawingml/2006/main">
            <a:off x="548640" y="1828800"/>
            <a:ext cx="110642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a:solidFill>
                  <a:srgbClr val="1B2A41"/>
                </a:solidFill>
                <a:latin typeface="Cambria"/>
                <a:ea typeface="Cambria"/>
                <a:cs typeface="Cambria"/>
              </a:rPr>
              <a:t>How can someone compare how many jobs are advertised, and what pay is listed, across industries, career levels, and time?</a:t>
            </a:r>
            <a:endParaRPr sz="3200"/>
          </a:p>
        </p:txBody>
      </p:sp>
      <p:sp>
        <p:nvSpPr>
          <p:cNvPr id="4" name="Shape 2">
            <a:extLst xmlns:a="http://schemas.openxmlformats.org/drawingml/2006/main">
              <a:ext uri="{FF2B5EF4-FFF2-40B4-BE49-F238E27FC236}">
                <a16:creationId xmlns:a16="http://schemas.microsoft.com/office/drawing/2014/main" id="{612E4F6C-ADE6-419C-B64F-E96EBEBC6906}"/>
              </a:ext>
            </a:extLst>
          </p:cNvPr>
          <p:cNvSpPr>
            <a:spLocks xmlns:a="http://schemas.openxmlformats.org/drawingml/2006/main" noGrp="1"/>
          </p:cNvSpPr>
          <p:nvPr/>
        </p:nvSpPr>
        <p:spPr>
          <a:xfrm xmlns:a="http://schemas.openxmlformats.org/drawingml/2006/main">
            <a:off x="548640" y="4480560"/>
            <a:ext cx="11064240" cy="1097280"/>
          </a:xfrm>
          <a:prstGeom xmlns:a="http://schemas.openxmlformats.org/drawingml/2006/main" prst="rect">
            <a:avLst/>
          </a:prstGeom>
          <a:solidFill xmlns:a="http://schemas.openxmlformats.org/drawingml/2006/main">
            <a:srgbClr val="EEF3F6"/>
          </a:solidFill>
          <a:ln xmlns:a="http://schemas.openxmlformats.org/drawingml/2006/main" w="12700">
            <a:solidFill>
              <a:srgbClr val="EEF3F6"/>
            </a:solidFill>
            <a:prstDash val="solid"/>
          </a:ln>
        </p:spPr>
      </p:sp>
      <p:sp>
        <p:nvSpPr>
          <p:cNvPr id="5" name="Text 3">
            <a:extLst xmlns:a="http://schemas.openxmlformats.org/drawingml/2006/main">
              <a:ext uri="{FF2B5EF4-FFF2-40B4-BE49-F238E27FC236}">
                <a16:creationId xmlns:a16="http://schemas.microsoft.com/office/drawing/2014/main" id="{049F1490-E3FD-47DB-84DE-4EA72D4A9930}"/>
              </a:ext>
            </a:extLst>
          </p:cNvPr>
          <p:cNvSpPr>
            <a:spLocks xmlns:a="http://schemas.openxmlformats.org/drawingml/2006/main" noGrp="1"/>
          </p:cNvSpPr>
          <p:nvPr/>
        </p:nvSpPr>
        <p:spPr>
          <a:xfrm xmlns:a="http://schemas.openxmlformats.org/drawingml/2006/main">
            <a:off x="822960" y="4480560"/>
            <a:ext cx="105156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F2933"/>
                </a:solidFill>
                <a:latin typeface="Calibri"/>
                <a:ea typeface="Calibri"/>
                <a:cs typeface="Calibri"/>
              </a:rPr>
              <a:t>This does not predict whether you will get hired. A job advert shows what an employer offers, not who was hired.</a:t>
            </a:r>
            <a:endParaRPr sz="1800"/>
          </a:p>
        </p:txBody>
      </p:sp>
      <p:sp>
        <p:nvSpPr>
          <p:cNvPr id="6" name="Text 4">
            <a:extLst xmlns:a="http://schemas.openxmlformats.org/drawingml/2006/main">
              <a:ext uri="{FF2B5EF4-FFF2-40B4-BE49-F238E27FC236}">
                <a16:creationId xmlns:a16="http://schemas.microsoft.com/office/drawing/2014/main" id="{627D37EE-FF7D-4220-849C-04CC781935FE}"/>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3</a:t>
            </a:r>
            <a:endParaRPr sz="1000"/>
          </a:p>
        </p:txBody>
      </p:sp>
    </p:spTree>
    <p:extLst>
      <p:ext uri="{BB962C8B-B14F-4D97-AF65-F5344CB8AC3E}">
        <p14:creationId xmlns:p14="http://schemas.microsoft.com/office/powerpoint/2010/main" val="110297486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95036BE-ED89-49D8-AB1B-7359BAC007C8}"/>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One file, 1,048,585 job adverts</a:t>
            </a:r>
            <a:endParaRPr sz="3000"/>
          </a:p>
        </p:txBody>
      </p:sp>
      <p:sp>
        <p:nvSpPr>
          <p:cNvPr id="3" name="Shape 1">
            <a:extLst xmlns:a="http://schemas.openxmlformats.org/drawingml/2006/main">
              <a:ext uri="{FF2B5EF4-FFF2-40B4-BE49-F238E27FC236}">
                <a16:creationId xmlns:a16="http://schemas.microsoft.com/office/drawing/2014/main" id="{B2664B46-F636-4511-B43C-7588A6D1CD1B}"/>
              </a:ext>
            </a:extLst>
          </p:cNvPr>
          <p:cNvSpPr>
            <a:spLocks xmlns:a="http://schemas.openxmlformats.org/drawingml/2006/main" noGrp="1"/>
          </p:cNvSpPr>
          <p:nvPr/>
        </p:nvSpPr>
        <p:spPr>
          <a:xfrm xmlns:a="http://schemas.openxmlformats.org/drawingml/2006/main">
            <a:off x="548640" y="1737360"/>
            <a:ext cx="3474720" cy="3108960"/>
          </a:xfrm>
          <a:prstGeom xmlns:a="http://schemas.openxmlformats.org/drawingml/2006/main" prst="roundRect">
            <a:avLst>
              <a:gd name="adj" fmla="val 3529"/>
            </a:avLst>
          </a:prstGeom>
          <a:solidFill xmlns:a="http://schemas.openxmlformats.org/drawingml/2006/main">
            <a:srgbClr val="EEF3F6"/>
          </a:solidFill>
          <a:ln xmlns:a="http://schemas.openxmlformats.org/drawingml/2006/main" w="12700">
            <a:solidFill>
              <a:srgbClr val="EEF3F6"/>
            </a:solidFill>
            <a:prstDash val="solid"/>
          </a:ln>
        </p:spPr>
      </p:sp>
      <p:sp>
        <p:nvSpPr>
          <p:cNvPr id="4" name="Text 2">
            <a:extLst xmlns:a="http://schemas.openxmlformats.org/drawingml/2006/main">
              <a:ext uri="{FF2B5EF4-FFF2-40B4-BE49-F238E27FC236}">
                <a16:creationId xmlns:a16="http://schemas.microsoft.com/office/drawing/2014/main" id="{1CCE9993-C8B4-4934-87E7-231682F3D7C2}"/>
              </a:ext>
            </a:extLst>
          </p:cNvPr>
          <p:cNvSpPr>
            <a:spLocks xmlns:a="http://schemas.openxmlformats.org/drawingml/2006/main" noGrp="1"/>
          </p:cNvSpPr>
          <p:nvPr/>
        </p:nvSpPr>
        <p:spPr>
          <a:xfrm xmlns:a="http://schemas.openxmlformats.org/drawingml/2006/main">
            <a:off x="822960" y="2057400"/>
            <a:ext cx="29260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1B2A41"/>
                </a:solidFill>
                <a:latin typeface="Cambria"/>
                <a:ea typeface="Cambria"/>
                <a:cs typeface="Cambria"/>
              </a:rPr>
              <a:t>1,048,585</a:t>
            </a:r>
            <a:endParaRPr sz="4400"/>
          </a:p>
        </p:txBody>
      </p:sp>
      <p:sp>
        <p:nvSpPr>
          <p:cNvPr id="5" name="Text 3">
            <a:extLst xmlns:a="http://schemas.openxmlformats.org/drawingml/2006/main">
              <a:ext uri="{FF2B5EF4-FFF2-40B4-BE49-F238E27FC236}">
                <a16:creationId xmlns:a16="http://schemas.microsoft.com/office/drawing/2014/main" id="{7CF96A2C-2016-474F-8D99-7493AE9D564A}"/>
              </a:ext>
            </a:extLst>
          </p:cNvPr>
          <p:cNvSpPr>
            <a:spLocks xmlns:a="http://schemas.openxmlformats.org/drawingml/2006/main" noGrp="1"/>
          </p:cNvSpPr>
          <p:nvPr/>
        </p:nvSpPr>
        <p:spPr>
          <a:xfrm xmlns:a="http://schemas.openxmlformats.org/drawingml/2006/main">
            <a:off x="822960" y="3108960"/>
            <a:ext cx="292608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Rows: one row is one job advert</a:t>
            </a:r>
            <a:endParaRPr sz="1600"/>
          </a:p>
        </p:txBody>
      </p:sp>
      <p:sp>
        <p:nvSpPr>
          <p:cNvPr id="6" name="Shape 4">
            <a:extLst xmlns:a="http://schemas.openxmlformats.org/drawingml/2006/main">
              <a:ext uri="{FF2B5EF4-FFF2-40B4-BE49-F238E27FC236}">
                <a16:creationId xmlns:a16="http://schemas.microsoft.com/office/drawing/2014/main" id="{EDB614D9-BEB3-45A0-BB37-36DA44A2E167}"/>
              </a:ext>
            </a:extLst>
          </p:cNvPr>
          <p:cNvSpPr>
            <a:spLocks xmlns:a="http://schemas.openxmlformats.org/drawingml/2006/main" noGrp="1"/>
          </p:cNvSpPr>
          <p:nvPr/>
        </p:nvSpPr>
        <p:spPr>
          <a:xfrm xmlns:a="http://schemas.openxmlformats.org/drawingml/2006/main">
            <a:off x="4343400" y="1737360"/>
            <a:ext cx="3474720" cy="3108960"/>
          </a:xfrm>
          <a:prstGeom xmlns:a="http://schemas.openxmlformats.org/drawingml/2006/main" prst="roundRect">
            <a:avLst>
              <a:gd name="adj" fmla="val 3529"/>
            </a:avLst>
          </a:prstGeom>
          <a:solidFill xmlns:a="http://schemas.openxmlformats.org/drawingml/2006/main">
            <a:srgbClr val="EEF3F6"/>
          </a:solidFill>
          <a:ln xmlns:a="http://schemas.openxmlformats.org/drawingml/2006/main" w="12700">
            <a:solidFill>
              <a:srgbClr val="EEF3F6"/>
            </a:solidFill>
            <a:prstDash val="solid"/>
          </a:ln>
        </p:spPr>
      </p:sp>
      <p:sp>
        <p:nvSpPr>
          <p:cNvPr id="7" name="Text 5">
            <a:extLst xmlns:a="http://schemas.openxmlformats.org/drawingml/2006/main">
              <a:ext uri="{FF2B5EF4-FFF2-40B4-BE49-F238E27FC236}">
                <a16:creationId xmlns:a16="http://schemas.microsoft.com/office/drawing/2014/main" id="{32CB4A97-8772-4EEC-9DDD-D5F98830C2E9}"/>
              </a:ext>
            </a:extLst>
          </p:cNvPr>
          <p:cNvSpPr>
            <a:spLocks xmlns:a="http://schemas.openxmlformats.org/drawingml/2006/main" noGrp="1"/>
          </p:cNvSpPr>
          <p:nvPr/>
        </p:nvSpPr>
        <p:spPr>
          <a:xfrm xmlns:a="http://schemas.openxmlformats.org/drawingml/2006/main">
            <a:off x="4617720" y="2057400"/>
            <a:ext cx="29260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1B2A41"/>
                </a:solidFill>
                <a:latin typeface="Cambria"/>
                <a:ea typeface="Cambria"/>
                <a:cs typeface="Cambria"/>
              </a:rPr>
              <a:t>22</a:t>
            </a:r>
            <a:endParaRPr sz="4400"/>
          </a:p>
        </p:txBody>
      </p:sp>
      <p:sp>
        <p:nvSpPr>
          <p:cNvPr id="8" name="Text 6">
            <a:extLst xmlns:a="http://schemas.openxmlformats.org/drawingml/2006/main">
              <a:ext uri="{FF2B5EF4-FFF2-40B4-BE49-F238E27FC236}">
                <a16:creationId xmlns:a16="http://schemas.microsoft.com/office/drawing/2014/main" id="{650ED83B-3BEE-4BB3-9D51-E29D979326EB}"/>
              </a:ext>
            </a:extLst>
          </p:cNvPr>
          <p:cNvSpPr>
            <a:spLocks xmlns:a="http://schemas.openxmlformats.org/drawingml/2006/main" noGrp="1"/>
          </p:cNvSpPr>
          <p:nvPr/>
        </p:nvSpPr>
        <p:spPr>
          <a:xfrm xmlns:a="http://schemas.openxmlformats.org/drawingml/2006/main">
            <a:off x="4617720" y="3108960"/>
            <a:ext cx="292608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Columns: title, pay range, industry, seniority, dates and more</a:t>
            </a:r>
            <a:endParaRPr sz="1600"/>
          </a:p>
        </p:txBody>
      </p:sp>
      <p:sp>
        <p:nvSpPr>
          <p:cNvPr id="9" name="Shape 7">
            <a:extLst xmlns:a="http://schemas.openxmlformats.org/drawingml/2006/main">
              <a:ext uri="{FF2B5EF4-FFF2-40B4-BE49-F238E27FC236}">
                <a16:creationId xmlns:a16="http://schemas.microsoft.com/office/drawing/2014/main" id="{AEFAE0FB-CF8D-4F9B-AF45-8FFD90B805C2}"/>
              </a:ext>
            </a:extLst>
          </p:cNvPr>
          <p:cNvSpPr>
            <a:spLocks xmlns:a="http://schemas.openxmlformats.org/drawingml/2006/main" noGrp="1"/>
          </p:cNvSpPr>
          <p:nvPr/>
        </p:nvSpPr>
        <p:spPr>
          <a:xfrm xmlns:a="http://schemas.openxmlformats.org/drawingml/2006/main">
            <a:off x="8138160" y="1737360"/>
            <a:ext cx="3474720" cy="3108960"/>
          </a:xfrm>
          <a:prstGeom xmlns:a="http://schemas.openxmlformats.org/drawingml/2006/main" prst="roundRect">
            <a:avLst>
              <a:gd name="adj" fmla="val 3529"/>
            </a:avLst>
          </a:prstGeom>
          <a:solidFill xmlns:a="http://schemas.openxmlformats.org/drawingml/2006/main">
            <a:srgbClr val="EEF3F6"/>
          </a:solidFill>
          <a:ln xmlns:a="http://schemas.openxmlformats.org/drawingml/2006/main" w="12700">
            <a:solidFill>
              <a:srgbClr val="EEF3F6"/>
            </a:solidFill>
            <a:prstDash val="solid"/>
          </a:ln>
        </p:spPr>
      </p:sp>
      <p:sp>
        <p:nvSpPr>
          <p:cNvPr id="10" name="Text 8">
            <a:extLst xmlns:a="http://schemas.openxmlformats.org/drawingml/2006/main">
              <a:ext uri="{FF2B5EF4-FFF2-40B4-BE49-F238E27FC236}">
                <a16:creationId xmlns:a16="http://schemas.microsoft.com/office/drawing/2014/main" id="{E72EA1C4-582D-48F2-A897-78C072B94A16}"/>
              </a:ext>
            </a:extLst>
          </p:cNvPr>
          <p:cNvSpPr>
            <a:spLocks xmlns:a="http://schemas.openxmlformats.org/drawingml/2006/main" noGrp="1"/>
          </p:cNvSpPr>
          <p:nvPr/>
        </p:nvSpPr>
        <p:spPr>
          <a:xfrm xmlns:a="http://schemas.openxmlformats.org/drawingml/2006/main">
            <a:off x="8412480" y="2057400"/>
            <a:ext cx="29260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1B2A41"/>
                </a:solidFill>
                <a:latin typeface="Cambria"/>
                <a:ea typeface="Cambria"/>
                <a:cs typeface="Cambria"/>
              </a:rPr>
              <a:t>50,000</a:t>
            </a:r>
            <a:endParaRPr sz="4400"/>
          </a:p>
        </p:txBody>
      </p:sp>
      <p:sp>
        <p:nvSpPr>
          <p:cNvPr id="11" name="Text 9">
            <a:extLst xmlns:a="http://schemas.openxmlformats.org/drawingml/2006/main">
              <a:ext uri="{FF2B5EF4-FFF2-40B4-BE49-F238E27FC236}">
                <a16:creationId xmlns:a16="http://schemas.microsoft.com/office/drawing/2014/main" id="{8D835571-5ABC-411B-8DE9-8E113849522A}"/>
              </a:ext>
            </a:extLst>
          </p:cNvPr>
          <p:cNvSpPr>
            <a:spLocks xmlns:a="http://schemas.openxmlformats.org/drawingml/2006/main" noGrp="1"/>
          </p:cNvSpPr>
          <p:nvPr/>
        </p:nvSpPr>
        <p:spPr>
          <a:xfrm xmlns:a="http://schemas.openxmlformats.org/drawingml/2006/main">
            <a:off x="8412480" y="3108960"/>
            <a:ext cx="292608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rows the dashboard opens with by default, for speed; the full file is one click away</a:t>
            </a:r>
            <a:endParaRPr sz="1600"/>
          </a:p>
        </p:txBody>
      </p:sp>
      <p:sp>
        <p:nvSpPr>
          <p:cNvPr id="12" name="Text 10">
            <a:extLst xmlns:a="http://schemas.openxmlformats.org/drawingml/2006/main">
              <a:ext uri="{FF2B5EF4-FFF2-40B4-BE49-F238E27FC236}">
                <a16:creationId xmlns:a16="http://schemas.microsoft.com/office/drawing/2014/main" id="{27AD4D2A-D00D-4968-820A-CC93DED59B8C}"/>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4</a:t>
            </a:r>
            <a:endParaRPr sz="1000"/>
          </a:p>
        </p:txBody>
      </p:sp>
    </p:spTree>
    <p:extLst>
      <p:ext uri="{BB962C8B-B14F-4D97-AF65-F5344CB8AC3E}">
        <p14:creationId xmlns:p14="http://schemas.microsoft.com/office/powerpoint/2010/main" val="179258858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442F91-0698-4030-938E-0632A9B1256C}"/>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Three things we fixed before analysis</a:t>
            </a:r>
            <a:endParaRPr sz="3000"/>
          </a:p>
        </p:txBody>
      </p:sp>
      <p:sp>
        <p:nvSpPr>
          <p:cNvPr id="3" name="Shape 1">
            <a:extLst xmlns:a="http://schemas.openxmlformats.org/drawingml/2006/main">
              <a:ext uri="{FF2B5EF4-FFF2-40B4-BE49-F238E27FC236}">
                <a16:creationId xmlns:a16="http://schemas.microsoft.com/office/drawing/2014/main" id="{7DB8D6DF-339E-4AC9-AC21-395E076BB952}"/>
              </a:ext>
            </a:extLst>
          </p:cNvPr>
          <p:cNvSpPr>
            <a:spLocks xmlns:a="http://schemas.openxmlformats.org/drawingml/2006/main" noGrp="1"/>
          </p:cNvSpPr>
          <p:nvPr/>
        </p:nvSpPr>
        <p:spPr>
          <a:xfrm xmlns:a="http://schemas.openxmlformats.org/drawingml/2006/main">
            <a:off x="548640" y="1737360"/>
            <a:ext cx="822960" cy="822960"/>
          </a:xfrm>
          <a:prstGeom xmlns:a="http://schemas.openxmlformats.org/drawingml/2006/main" prst="ellipse">
            <a:avLst/>
          </a:prstGeom>
          <a:solidFill xmlns:a="http://schemas.openxmlformats.org/drawingml/2006/main">
            <a:srgbClr val="2A9D8F"/>
          </a:solidFill>
          <a:ln xmlns:a="http://schemas.openxmlformats.org/drawingml/2006/main" w="12700">
            <a:solidFill>
              <a:srgbClr val="2A9D8F"/>
            </a:solidFill>
            <a:prstDash val="solid"/>
          </a:ln>
        </p:spPr>
      </p:sp>
      <p:sp>
        <p:nvSpPr>
          <p:cNvPr id="4" name="Text 2">
            <a:extLst xmlns:a="http://schemas.openxmlformats.org/drawingml/2006/main">
              <a:ext uri="{FF2B5EF4-FFF2-40B4-BE49-F238E27FC236}">
                <a16:creationId xmlns:a16="http://schemas.microsoft.com/office/drawing/2014/main" id="{490C16BE-0EAE-484F-8921-3E5B4E4689B5}"/>
              </a:ext>
            </a:extLst>
          </p:cNvPr>
          <p:cNvSpPr>
            <a:spLocks xmlns:a="http://schemas.openxmlformats.org/drawingml/2006/main" noGrp="1"/>
          </p:cNvSpPr>
          <p:nvPr/>
        </p:nvSpPr>
        <p:spPr>
          <a:xfrm xmlns:a="http://schemas.openxmlformats.org/drawingml/2006/main">
            <a:off x="548640" y="1737360"/>
            <a:ext cx="8229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FFFFFF"/>
                </a:solidFill>
                <a:latin typeface="Cambria"/>
                <a:ea typeface="Cambria"/>
                <a:cs typeface="Cambria"/>
              </a:rPr>
              <a:t>1</a:t>
            </a:r>
            <a:endParaRPr sz="2400"/>
          </a:p>
        </p:txBody>
      </p:sp>
      <p:sp>
        <p:nvSpPr>
          <p:cNvPr id="5" name="Text 3">
            <a:extLst xmlns:a="http://schemas.openxmlformats.org/drawingml/2006/main">
              <a:ext uri="{FF2B5EF4-FFF2-40B4-BE49-F238E27FC236}">
                <a16:creationId xmlns:a16="http://schemas.microsoft.com/office/drawing/2014/main" id="{16313671-49BE-4838-817B-9BA6ED667692}"/>
              </a:ext>
            </a:extLst>
          </p:cNvPr>
          <p:cNvSpPr>
            <a:spLocks xmlns:a="http://schemas.openxmlformats.org/drawingml/2006/main" noGrp="1"/>
          </p:cNvSpPr>
          <p:nvPr/>
        </p:nvSpPr>
        <p:spPr>
          <a:xfrm xmlns:a="http://schemas.openxmlformats.org/drawingml/2006/main">
            <a:off x="1645920" y="1719072"/>
            <a:ext cx="9875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B2A41"/>
                </a:solidFill>
                <a:latin typeface="Cambria"/>
                <a:ea typeface="Cambria"/>
                <a:cs typeface="Cambria"/>
              </a:rPr>
              <a:t>Empty rows</a:t>
            </a:r>
            <a:endParaRPr sz="2400"/>
          </a:p>
        </p:txBody>
      </p:sp>
      <p:sp>
        <p:nvSpPr>
          <p:cNvPr id="6" name="Text 4">
            <a:extLst xmlns:a="http://schemas.openxmlformats.org/drawingml/2006/main">
              <a:ext uri="{FF2B5EF4-FFF2-40B4-BE49-F238E27FC236}">
                <a16:creationId xmlns:a16="http://schemas.microsoft.com/office/drawing/2014/main" id="{492F0DF6-46DF-4288-BBFE-3E36B29A6D55}"/>
              </a:ext>
            </a:extLst>
          </p:cNvPr>
          <p:cNvSpPr>
            <a:spLocks xmlns:a="http://schemas.openxmlformats.org/drawingml/2006/main" noGrp="1"/>
          </p:cNvSpPr>
          <p:nvPr/>
        </p:nvSpPr>
        <p:spPr>
          <a:xfrm xmlns:a="http://schemas.openxmlformats.org/drawingml/2006/main">
            <a:off x="1645920" y="2194560"/>
            <a:ext cx="98755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F2933"/>
                </a:solidFill>
                <a:latin typeface="Calibri"/>
                <a:ea typeface="Calibri"/>
                <a:cs typeface="Calibri"/>
              </a:rPr>
              <a:t>Blank except for a zero salary. Not real adverts, so removed.</a:t>
            </a:r>
            <a:endParaRPr sz="1800"/>
          </a:p>
        </p:txBody>
      </p:sp>
      <p:sp>
        <p:nvSpPr>
          <p:cNvPr id="7" name="Shape 5">
            <a:extLst xmlns:a="http://schemas.openxmlformats.org/drawingml/2006/main">
              <a:ext uri="{FF2B5EF4-FFF2-40B4-BE49-F238E27FC236}">
                <a16:creationId xmlns:a16="http://schemas.microsoft.com/office/drawing/2014/main" id="{3B8F3D7B-215B-421B-A602-190EBBD2DDA4}"/>
              </a:ext>
            </a:extLst>
          </p:cNvPr>
          <p:cNvSpPr>
            <a:spLocks xmlns:a="http://schemas.openxmlformats.org/drawingml/2006/main" noGrp="1"/>
          </p:cNvSpPr>
          <p:nvPr/>
        </p:nvSpPr>
        <p:spPr>
          <a:xfrm xmlns:a="http://schemas.openxmlformats.org/drawingml/2006/main">
            <a:off x="548640" y="3200400"/>
            <a:ext cx="822960" cy="822960"/>
          </a:xfrm>
          <a:prstGeom xmlns:a="http://schemas.openxmlformats.org/drawingml/2006/main" prst="ellipse">
            <a:avLst/>
          </a:prstGeom>
          <a:solidFill xmlns:a="http://schemas.openxmlformats.org/drawingml/2006/main">
            <a:srgbClr val="2A9D8F"/>
          </a:solidFill>
          <a:ln xmlns:a="http://schemas.openxmlformats.org/drawingml/2006/main" w="12700">
            <a:solidFill>
              <a:srgbClr val="2A9D8F"/>
            </a:solidFill>
            <a:prstDash val="solid"/>
          </a:ln>
        </p:spPr>
      </p:sp>
      <p:sp>
        <p:nvSpPr>
          <p:cNvPr id="8" name="Text 6">
            <a:extLst xmlns:a="http://schemas.openxmlformats.org/drawingml/2006/main">
              <a:ext uri="{FF2B5EF4-FFF2-40B4-BE49-F238E27FC236}">
                <a16:creationId xmlns:a16="http://schemas.microsoft.com/office/drawing/2014/main" id="{959059C8-3185-4E4A-B369-3BEA25CD042B}"/>
              </a:ext>
            </a:extLst>
          </p:cNvPr>
          <p:cNvSpPr>
            <a:spLocks xmlns:a="http://schemas.openxmlformats.org/drawingml/2006/main" noGrp="1"/>
          </p:cNvSpPr>
          <p:nvPr/>
        </p:nvSpPr>
        <p:spPr>
          <a:xfrm xmlns:a="http://schemas.openxmlformats.org/drawingml/2006/main">
            <a:off x="548640" y="3200400"/>
            <a:ext cx="8229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FFFFFF"/>
                </a:solidFill>
                <a:latin typeface="Cambria"/>
                <a:ea typeface="Cambria"/>
                <a:cs typeface="Cambria"/>
              </a:rPr>
              <a:t>2</a:t>
            </a:r>
            <a:endParaRPr sz="2400"/>
          </a:p>
        </p:txBody>
      </p:sp>
      <p:sp>
        <p:nvSpPr>
          <p:cNvPr id="9" name="Text 7">
            <a:extLst xmlns:a="http://schemas.openxmlformats.org/drawingml/2006/main">
              <a:ext uri="{FF2B5EF4-FFF2-40B4-BE49-F238E27FC236}">
                <a16:creationId xmlns:a16="http://schemas.microsoft.com/office/drawing/2014/main" id="{0403D8EF-CE8E-4A29-B174-A08740D5BCCE}"/>
              </a:ext>
            </a:extLst>
          </p:cNvPr>
          <p:cNvSpPr>
            <a:spLocks xmlns:a="http://schemas.openxmlformats.org/drawingml/2006/main" noGrp="1"/>
          </p:cNvSpPr>
          <p:nvPr/>
        </p:nvSpPr>
        <p:spPr>
          <a:xfrm xmlns:a="http://schemas.openxmlformats.org/drawingml/2006/main">
            <a:off x="1645920" y="3182112"/>
            <a:ext cx="9875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B2A41"/>
                </a:solidFill>
                <a:latin typeface="Cambria"/>
                <a:ea typeface="Cambria"/>
                <a:cs typeface="Cambria"/>
              </a:rPr>
              <a:t>Zero and impossible salaries</a:t>
            </a:r>
            <a:endParaRPr sz="2400"/>
          </a:p>
        </p:txBody>
      </p:sp>
      <p:sp>
        <p:nvSpPr>
          <p:cNvPr id="10" name="Text 8">
            <a:extLst xmlns:a="http://schemas.openxmlformats.org/drawingml/2006/main">
              <a:ext uri="{FF2B5EF4-FFF2-40B4-BE49-F238E27FC236}">
                <a16:creationId xmlns:a16="http://schemas.microsoft.com/office/drawing/2014/main" id="{49E7BE48-D5F7-489C-94F3-3036B756C337}"/>
              </a:ext>
            </a:extLst>
          </p:cNvPr>
          <p:cNvSpPr>
            <a:spLocks xmlns:a="http://schemas.openxmlformats.org/drawingml/2006/main" noGrp="1"/>
          </p:cNvSpPr>
          <p:nvPr/>
        </p:nvSpPr>
        <p:spPr>
          <a:xfrm xmlns:a="http://schemas.openxmlformats.org/drawingml/2006/main">
            <a:off x="1645920" y="3657600"/>
            <a:ext cx="98755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F2933"/>
                </a:solidFill>
                <a:latin typeface="Calibri"/>
                <a:ea typeface="Calibri"/>
                <a:cs typeface="Calibri"/>
              </a:rPr>
              <a:t>Zero means no salary was given, so it is treated as missing, not as pay of zero.</a:t>
            </a:r>
            <a:endParaRPr sz="1800"/>
          </a:p>
        </p:txBody>
      </p:sp>
      <p:sp>
        <p:nvSpPr>
          <p:cNvPr id="11" name="Shape 9">
            <a:extLst xmlns:a="http://schemas.openxmlformats.org/drawingml/2006/main">
              <a:ext uri="{FF2B5EF4-FFF2-40B4-BE49-F238E27FC236}">
                <a16:creationId xmlns:a16="http://schemas.microsoft.com/office/drawing/2014/main" id="{EA6FF559-A967-451C-9D16-F05C3E49E3F6}"/>
              </a:ext>
            </a:extLst>
          </p:cNvPr>
          <p:cNvSpPr>
            <a:spLocks xmlns:a="http://schemas.openxmlformats.org/drawingml/2006/main" noGrp="1"/>
          </p:cNvSpPr>
          <p:nvPr/>
        </p:nvSpPr>
        <p:spPr>
          <a:xfrm xmlns:a="http://schemas.openxmlformats.org/drawingml/2006/main">
            <a:off x="548640" y="4663440"/>
            <a:ext cx="822960" cy="822960"/>
          </a:xfrm>
          <a:prstGeom xmlns:a="http://schemas.openxmlformats.org/drawingml/2006/main" prst="ellipse">
            <a:avLst/>
          </a:prstGeom>
          <a:solidFill xmlns:a="http://schemas.openxmlformats.org/drawingml/2006/main">
            <a:srgbClr val="2A9D8F"/>
          </a:solidFill>
          <a:ln xmlns:a="http://schemas.openxmlformats.org/drawingml/2006/main" w="12700">
            <a:solidFill>
              <a:srgbClr val="2A9D8F"/>
            </a:solidFill>
            <a:prstDash val="solid"/>
          </a:ln>
        </p:spPr>
      </p:sp>
      <p:sp>
        <p:nvSpPr>
          <p:cNvPr id="12" name="Text 10">
            <a:extLst xmlns:a="http://schemas.openxmlformats.org/drawingml/2006/main">
              <a:ext uri="{FF2B5EF4-FFF2-40B4-BE49-F238E27FC236}">
                <a16:creationId xmlns:a16="http://schemas.microsoft.com/office/drawing/2014/main" id="{33426EF6-D459-45FB-90FC-67E6E799D457}"/>
              </a:ext>
            </a:extLst>
          </p:cNvPr>
          <p:cNvSpPr>
            <a:spLocks xmlns:a="http://schemas.openxmlformats.org/drawingml/2006/main" noGrp="1"/>
          </p:cNvSpPr>
          <p:nvPr/>
        </p:nvSpPr>
        <p:spPr>
          <a:xfrm xmlns:a="http://schemas.openxmlformats.org/drawingml/2006/main">
            <a:off x="548640" y="4663440"/>
            <a:ext cx="8229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FFFFFF"/>
                </a:solidFill>
                <a:latin typeface="Cambria"/>
                <a:ea typeface="Cambria"/>
                <a:cs typeface="Cambria"/>
              </a:rPr>
              <a:t>3</a:t>
            </a:r>
            <a:endParaRPr sz="2400"/>
          </a:p>
        </p:txBody>
      </p:sp>
      <p:sp>
        <p:nvSpPr>
          <p:cNvPr id="13" name="Text 11">
            <a:extLst xmlns:a="http://schemas.openxmlformats.org/drawingml/2006/main">
              <a:ext uri="{FF2B5EF4-FFF2-40B4-BE49-F238E27FC236}">
                <a16:creationId xmlns:a16="http://schemas.microsoft.com/office/drawing/2014/main" id="{E7A7895A-A4E9-478C-B060-B9C9772FBA12}"/>
              </a:ext>
            </a:extLst>
          </p:cNvPr>
          <p:cNvSpPr>
            <a:spLocks xmlns:a="http://schemas.openxmlformats.org/drawingml/2006/main" noGrp="1"/>
          </p:cNvSpPr>
          <p:nvPr/>
        </p:nvSpPr>
        <p:spPr>
          <a:xfrm xmlns:a="http://schemas.openxmlformats.org/drawingml/2006/main">
            <a:off x="1645920" y="4645152"/>
            <a:ext cx="9875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B2A41"/>
                </a:solidFill>
                <a:latin typeface="Cambria"/>
                <a:ea typeface="Cambria"/>
                <a:cs typeface="Cambria"/>
              </a:rPr>
              <a:t>Jobs in several categories</a:t>
            </a:r>
            <a:endParaRPr sz="2400"/>
          </a:p>
        </p:txBody>
      </p:sp>
      <p:sp>
        <p:nvSpPr>
          <p:cNvPr id="14" name="Text 12">
            <a:extLst xmlns:a="http://schemas.openxmlformats.org/drawingml/2006/main">
              <a:ext uri="{FF2B5EF4-FFF2-40B4-BE49-F238E27FC236}">
                <a16:creationId xmlns:a16="http://schemas.microsoft.com/office/drawing/2014/main" id="{57E51934-2AA7-4FAF-9727-561E0C5C51D8}"/>
              </a:ext>
            </a:extLst>
          </p:cNvPr>
          <p:cNvSpPr>
            <a:spLocks xmlns:a="http://schemas.openxmlformats.org/drawingml/2006/main" noGrp="1"/>
          </p:cNvSpPr>
          <p:nvPr/>
        </p:nvSpPr>
        <p:spPr>
          <a:xfrm xmlns:a="http://schemas.openxmlformats.org/drawingml/2006/main">
            <a:off x="1645920" y="5120640"/>
            <a:ext cx="98755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F2933"/>
                </a:solidFill>
                <a:latin typeface="Calibri"/>
                <a:ea typeface="Calibri"/>
                <a:cs typeface="Calibri"/>
              </a:rPr>
              <a:t>One job can sit in more than one industry. Each category is counted once per job.</a:t>
            </a:r>
            <a:endParaRPr sz="1800"/>
          </a:p>
        </p:txBody>
      </p:sp>
      <p:sp>
        <p:nvSpPr>
          <p:cNvPr id="15" name="Text 13">
            <a:extLst xmlns:a="http://schemas.openxmlformats.org/drawingml/2006/main">
              <a:ext uri="{FF2B5EF4-FFF2-40B4-BE49-F238E27FC236}">
                <a16:creationId xmlns:a16="http://schemas.microsoft.com/office/drawing/2014/main" id="{B20937E6-BF3E-4F14-9AB3-214801A5B04C}"/>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5</a:t>
            </a:r>
            <a:endParaRPr sz="1000"/>
          </a:p>
        </p:txBody>
      </p:sp>
    </p:spTree>
    <p:extLst>
      <p:ext uri="{BB962C8B-B14F-4D97-AF65-F5344CB8AC3E}">
        <p14:creationId xmlns:p14="http://schemas.microsoft.com/office/powerpoint/2010/main" val="15783690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47F069-BE18-47E4-8909-C8FBE1D1C77F}"/>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3,988 empty rows removed; 1,044,597 postings kept</a:t>
            </a:r>
            <a:endParaRPr sz="3000"/>
          </a:p>
        </p:txBody>
      </p:sp>
      <p:sp>
        <p:nvSpPr>
          <p:cNvPr id="3" name="Shape 1">
            <a:extLst xmlns:a="http://schemas.openxmlformats.org/drawingml/2006/main">
              <a:ext uri="{FF2B5EF4-FFF2-40B4-BE49-F238E27FC236}">
                <a16:creationId xmlns:a16="http://schemas.microsoft.com/office/drawing/2014/main" id="{A22BE959-0424-4148-9E37-8DA8F909C52C}"/>
              </a:ext>
            </a:extLst>
          </p:cNvPr>
          <p:cNvSpPr>
            <a:spLocks xmlns:a="http://schemas.openxmlformats.org/drawingml/2006/main" noGrp="1"/>
          </p:cNvSpPr>
          <p:nvPr/>
        </p:nvSpPr>
        <p:spPr>
          <a:xfrm xmlns:a="http://schemas.openxmlformats.org/drawingml/2006/main">
            <a:off x="548640" y="1737360"/>
            <a:ext cx="5394960" cy="3108960"/>
          </a:xfrm>
          <a:prstGeom xmlns:a="http://schemas.openxmlformats.org/drawingml/2006/main" prst="roundRect">
            <a:avLst>
              <a:gd name="adj" fmla="val 3529"/>
            </a:avLst>
          </a:prstGeom>
          <a:solidFill xmlns:a="http://schemas.openxmlformats.org/drawingml/2006/main">
            <a:srgbClr val="EEF3F6"/>
          </a:solidFill>
          <a:ln xmlns:a="http://schemas.openxmlformats.org/drawingml/2006/main" w="12700">
            <a:solidFill>
              <a:srgbClr val="EEF3F6"/>
            </a:solidFill>
            <a:prstDash val="solid"/>
          </a:ln>
        </p:spPr>
      </p:sp>
      <p:sp>
        <p:nvSpPr>
          <p:cNvPr id="4" name="Text 2">
            <a:extLst xmlns:a="http://schemas.openxmlformats.org/drawingml/2006/main">
              <a:ext uri="{FF2B5EF4-FFF2-40B4-BE49-F238E27FC236}">
                <a16:creationId xmlns:a16="http://schemas.microsoft.com/office/drawing/2014/main" id="{A229915F-7E83-485F-A95D-8D52818FA0CB}"/>
              </a:ext>
            </a:extLst>
          </p:cNvPr>
          <p:cNvSpPr>
            <a:spLocks xmlns:a="http://schemas.openxmlformats.org/drawingml/2006/main" noGrp="1"/>
          </p:cNvSpPr>
          <p:nvPr/>
        </p:nvSpPr>
        <p:spPr>
          <a:xfrm xmlns:a="http://schemas.openxmlformats.org/drawingml/2006/main">
            <a:off x="822960" y="2057400"/>
            <a:ext cx="48463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1B2A41"/>
                </a:solidFill>
                <a:latin typeface="Cambria"/>
                <a:ea typeface="Cambria"/>
                <a:cs typeface="Cambria"/>
              </a:rPr>
              <a:t>1,044,597</a:t>
            </a:r>
            <a:endParaRPr sz="4400"/>
          </a:p>
        </p:txBody>
      </p:sp>
      <p:sp>
        <p:nvSpPr>
          <p:cNvPr id="5" name="Text 3">
            <a:extLst xmlns:a="http://schemas.openxmlformats.org/drawingml/2006/main">
              <a:ext uri="{FF2B5EF4-FFF2-40B4-BE49-F238E27FC236}">
                <a16:creationId xmlns:a16="http://schemas.microsoft.com/office/drawing/2014/main" id="{F8A36F8E-0F3B-4C22-88C1-D8660EF7C8E9}"/>
              </a:ext>
            </a:extLst>
          </p:cNvPr>
          <p:cNvSpPr>
            <a:spLocks xmlns:a="http://schemas.openxmlformats.org/drawingml/2006/main" noGrp="1"/>
          </p:cNvSpPr>
          <p:nvPr/>
        </p:nvSpPr>
        <p:spPr>
          <a:xfrm xmlns:a="http://schemas.openxmlformats.org/drawingml/2006/main">
            <a:off x="822960" y="3108960"/>
            <a:ext cx="48463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postings kept for analysis (99.62% of rows)</a:t>
            </a:r>
            <a:endParaRPr sz="1600"/>
          </a:p>
        </p:txBody>
      </p:sp>
      <p:sp>
        <p:nvSpPr>
          <p:cNvPr id="6" name="Shape 4">
            <a:extLst xmlns:a="http://schemas.openxmlformats.org/drawingml/2006/main">
              <a:ext uri="{FF2B5EF4-FFF2-40B4-BE49-F238E27FC236}">
                <a16:creationId xmlns:a16="http://schemas.microsoft.com/office/drawing/2014/main" id="{99938D8A-EE23-40C4-86FB-6E261DC72345}"/>
              </a:ext>
            </a:extLst>
          </p:cNvPr>
          <p:cNvSpPr>
            <a:spLocks xmlns:a="http://schemas.openxmlformats.org/drawingml/2006/main" noGrp="1"/>
          </p:cNvSpPr>
          <p:nvPr/>
        </p:nvSpPr>
        <p:spPr>
          <a:xfrm xmlns:a="http://schemas.openxmlformats.org/drawingml/2006/main">
            <a:off x="6217920" y="1737360"/>
            <a:ext cx="5394960" cy="3108960"/>
          </a:xfrm>
          <a:prstGeom xmlns:a="http://schemas.openxmlformats.org/drawingml/2006/main" prst="roundRect">
            <a:avLst>
              <a:gd name="adj" fmla="val 3529"/>
            </a:avLst>
          </a:prstGeom>
          <a:solidFill xmlns:a="http://schemas.openxmlformats.org/drawingml/2006/main">
            <a:srgbClr val="EEF3F6"/>
          </a:solidFill>
          <a:ln xmlns:a="http://schemas.openxmlformats.org/drawingml/2006/main" w="12700">
            <a:solidFill>
              <a:srgbClr val="EEF3F6"/>
            </a:solidFill>
            <a:prstDash val="solid"/>
          </a:ln>
        </p:spPr>
      </p:sp>
      <p:sp>
        <p:nvSpPr>
          <p:cNvPr id="7" name="Text 5">
            <a:extLst xmlns:a="http://schemas.openxmlformats.org/drawingml/2006/main">
              <a:ext uri="{FF2B5EF4-FFF2-40B4-BE49-F238E27FC236}">
                <a16:creationId xmlns:a16="http://schemas.microsoft.com/office/drawing/2014/main" id="{69B3C4BC-2868-43F7-BEA2-816E1FFC8F7C}"/>
              </a:ext>
            </a:extLst>
          </p:cNvPr>
          <p:cNvSpPr>
            <a:spLocks xmlns:a="http://schemas.openxmlformats.org/drawingml/2006/main" noGrp="1"/>
          </p:cNvSpPr>
          <p:nvPr/>
        </p:nvSpPr>
        <p:spPr>
          <a:xfrm xmlns:a="http://schemas.openxmlformats.org/drawingml/2006/main">
            <a:off x="6492240" y="2057400"/>
            <a:ext cx="48463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E9A23B"/>
                </a:solidFill>
                <a:latin typeface="Cambria"/>
                <a:ea typeface="Cambria"/>
                <a:cs typeface="Cambria"/>
              </a:rPr>
              <a:t>3,988</a:t>
            </a:r>
            <a:endParaRPr sz="4400"/>
          </a:p>
        </p:txBody>
      </p:sp>
      <p:sp>
        <p:nvSpPr>
          <p:cNvPr id="8" name="Text 6">
            <a:extLst xmlns:a="http://schemas.openxmlformats.org/drawingml/2006/main">
              <a:ext uri="{FF2B5EF4-FFF2-40B4-BE49-F238E27FC236}">
                <a16:creationId xmlns:a16="http://schemas.microsoft.com/office/drawing/2014/main" id="{2A3561AB-39E7-4312-8EAD-7F12FC36DFE0}"/>
              </a:ext>
            </a:extLst>
          </p:cNvPr>
          <p:cNvSpPr>
            <a:spLocks xmlns:a="http://schemas.openxmlformats.org/drawingml/2006/main" noGrp="1"/>
          </p:cNvSpPr>
          <p:nvPr/>
        </p:nvSpPr>
        <p:spPr>
          <a:xfrm xmlns:a="http://schemas.openxmlformats.org/drawingml/2006/main">
            <a:off x="6492240" y="3108960"/>
            <a:ext cx="48463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empty rows removed (0.38% of rows)</a:t>
            </a:r>
            <a:endParaRPr sz="1600"/>
          </a:p>
        </p:txBody>
      </p:sp>
      <p:sp>
        <p:nvSpPr>
          <p:cNvPr id="9" name="Text 7">
            <a:extLst xmlns:a="http://schemas.openxmlformats.org/drawingml/2006/main">
              <a:ext uri="{FF2B5EF4-FFF2-40B4-BE49-F238E27FC236}">
                <a16:creationId xmlns:a16="http://schemas.microsoft.com/office/drawing/2014/main" id="{B72FF3CA-5323-410C-8F46-CC33E287C455}"/>
              </a:ext>
            </a:extLst>
          </p:cNvPr>
          <p:cNvSpPr>
            <a:spLocks xmlns:a="http://schemas.openxmlformats.org/drawingml/2006/main" noGrp="1"/>
          </p:cNvSpPr>
          <p:nvPr/>
        </p:nvSpPr>
        <p:spPr>
          <a:xfrm xmlns:a="http://schemas.openxmlformats.org/drawingml/2006/main">
            <a:off x="548640" y="5212080"/>
            <a:ext cx="11064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5B6770"/>
                </a:solidFill>
                <a:latin typeface="Calibri"/>
                <a:ea typeface="Calibri"/>
                <a:cs typeface="Calibri"/>
              </a:rPr>
              <a:t>No repeated job IDs were found. Every posting in the cleaned file is unique.</a:t>
            </a:r>
            <a:endParaRPr sz="1800"/>
          </a:p>
        </p:txBody>
      </p:sp>
      <p:sp>
        <p:nvSpPr>
          <p:cNvPr id="10" name="Text 8">
            <a:extLst xmlns:a="http://schemas.openxmlformats.org/drawingml/2006/main">
              <a:ext uri="{FF2B5EF4-FFF2-40B4-BE49-F238E27FC236}">
                <a16:creationId xmlns:a16="http://schemas.microsoft.com/office/drawing/2014/main" id="{8E500CB9-4FE6-41DC-9EF5-DFE2E17540A2}"/>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6</a:t>
            </a:r>
            <a:endParaRPr sz="1000"/>
          </a:p>
        </p:txBody>
      </p:sp>
    </p:spTree>
    <p:extLst>
      <p:ext uri="{BB962C8B-B14F-4D97-AF65-F5344CB8AC3E}">
        <p14:creationId xmlns:p14="http://schemas.microsoft.com/office/powerpoint/2010/main" val="153221091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D6A16A3-67C3-4B13-AB36-869B00C99062}"/>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1,044,597 postings, 2.7 million vacancies</a:t>
            </a:r>
            <a:endParaRPr sz="3000"/>
          </a:p>
        </p:txBody>
      </p:sp>
      <p:sp>
        <p:nvSpPr>
          <p:cNvPr id="3" name="Shape 1">
            <a:extLst xmlns:a="http://schemas.openxmlformats.org/drawingml/2006/main">
              <a:ext uri="{FF2B5EF4-FFF2-40B4-BE49-F238E27FC236}">
                <a16:creationId xmlns:a16="http://schemas.microsoft.com/office/drawing/2014/main" id="{E14CE940-11F5-4604-B997-C4F47E9E4DC4}"/>
              </a:ext>
            </a:extLst>
          </p:cNvPr>
          <p:cNvSpPr>
            <a:spLocks xmlns:a="http://schemas.openxmlformats.org/drawingml/2006/main" noGrp="1"/>
          </p:cNvSpPr>
          <p:nvPr/>
        </p:nvSpPr>
        <p:spPr>
          <a:xfrm xmlns:a="http://schemas.openxmlformats.org/drawingml/2006/main">
            <a:off x="548640" y="1737360"/>
            <a:ext cx="2651760" cy="3108960"/>
          </a:xfrm>
          <a:prstGeom xmlns:a="http://schemas.openxmlformats.org/drawingml/2006/main" prst="roundRect">
            <a:avLst>
              <a:gd name="adj" fmla="val 4138"/>
            </a:avLst>
          </a:prstGeom>
          <a:solidFill xmlns:a="http://schemas.openxmlformats.org/drawingml/2006/main">
            <a:srgbClr val="EEF3F6"/>
          </a:solidFill>
          <a:ln xmlns:a="http://schemas.openxmlformats.org/drawingml/2006/main" w="12700">
            <a:solidFill>
              <a:srgbClr val="EEF3F6"/>
            </a:solidFill>
            <a:prstDash val="solid"/>
          </a:ln>
        </p:spPr>
      </p:sp>
      <p:sp>
        <p:nvSpPr>
          <p:cNvPr id="4" name="Text 2">
            <a:extLst xmlns:a="http://schemas.openxmlformats.org/drawingml/2006/main">
              <a:ext uri="{FF2B5EF4-FFF2-40B4-BE49-F238E27FC236}">
                <a16:creationId xmlns:a16="http://schemas.microsoft.com/office/drawing/2014/main" id="{F2C181EC-FD8E-4895-915B-51D4DBBB6E48}"/>
              </a:ext>
            </a:extLst>
          </p:cNvPr>
          <p:cNvSpPr>
            <a:spLocks xmlns:a="http://schemas.openxmlformats.org/drawingml/2006/main" noGrp="1"/>
          </p:cNvSpPr>
          <p:nvPr/>
        </p:nvSpPr>
        <p:spPr>
          <a:xfrm xmlns:a="http://schemas.openxmlformats.org/drawingml/2006/main">
            <a:off x="822960" y="2057400"/>
            <a:ext cx="21031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1B2A41"/>
                </a:solidFill>
                <a:latin typeface="Cambria"/>
                <a:ea typeface="Cambria"/>
                <a:cs typeface="Cambria"/>
              </a:rPr>
              <a:t>1.04M</a:t>
            </a:r>
            <a:endParaRPr sz="4400"/>
          </a:p>
        </p:txBody>
      </p:sp>
      <p:sp>
        <p:nvSpPr>
          <p:cNvPr id="5" name="Text 3">
            <a:extLst xmlns:a="http://schemas.openxmlformats.org/drawingml/2006/main">
              <a:ext uri="{FF2B5EF4-FFF2-40B4-BE49-F238E27FC236}">
                <a16:creationId xmlns:a16="http://schemas.microsoft.com/office/drawing/2014/main" id="{FCFA2226-4DA2-42B7-999C-ECD7A03F8F38}"/>
              </a:ext>
            </a:extLst>
          </p:cNvPr>
          <p:cNvSpPr>
            <a:spLocks xmlns:a="http://schemas.openxmlformats.org/drawingml/2006/main" noGrp="1"/>
          </p:cNvSpPr>
          <p:nvPr/>
        </p:nvSpPr>
        <p:spPr>
          <a:xfrm xmlns:a="http://schemas.openxmlformats.org/drawingml/2006/main">
            <a:off x="822960" y="3108960"/>
            <a:ext cx="21031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postings</a:t>
            </a:r>
            <a:endParaRPr sz="1600"/>
          </a:p>
        </p:txBody>
      </p:sp>
      <p:sp>
        <p:nvSpPr>
          <p:cNvPr id="6" name="Shape 4">
            <a:extLst xmlns:a="http://schemas.openxmlformats.org/drawingml/2006/main">
              <a:ext uri="{FF2B5EF4-FFF2-40B4-BE49-F238E27FC236}">
                <a16:creationId xmlns:a16="http://schemas.microsoft.com/office/drawing/2014/main" id="{B1DCEE4F-B06B-4C25-8CBF-7B9335E1F21F}"/>
              </a:ext>
            </a:extLst>
          </p:cNvPr>
          <p:cNvSpPr>
            <a:spLocks xmlns:a="http://schemas.openxmlformats.org/drawingml/2006/main" noGrp="1"/>
          </p:cNvSpPr>
          <p:nvPr/>
        </p:nvSpPr>
        <p:spPr>
          <a:xfrm xmlns:a="http://schemas.openxmlformats.org/drawingml/2006/main">
            <a:off x="3383280" y="1737360"/>
            <a:ext cx="2651760" cy="3108960"/>
          </a:xfrm>
          <a:prstGeom xmlns:a="http://schemas.openxmlformats.org/drawingml/2006/main" prst="roundRect">
            <a:avLst>
              <a:gd name="adj" fmla="val 4138"/>
            </a:avLst>
          </a:prstGeom>
          <a:solidFill xmlns:a="http://schemas.openxmlformats.org/drawingml/2006/main">
            <a:srgbClr val="EEF3F6"/>
          </a:solidFill>
          <a:ln xmlns:a="http://schemas.openxmlformats.org/drawingml/2006/main" w="12700">
            <a:solidFill>
              <a:srgbClr val="EEF3F6"/>
            </a:solidFill>
            <a:prstDash val="solid"/>
          </a:ln>
        </p:spPr>
      </p:sp>
      <p:sp>
        <p:nvSpPr>
          <p:cNvPr id="7" name="Text 5">
            <a:extLst xmlns:a="http://schemas.openxmlformats.org/drawingml/2006/main">
              <a:ext uri="{FF2B5EF4-FFF2-40B4-BE49-F238E27FC236}">
                <a16:creationId xmlns:a16="http://schemas.microsoft.com/office/drawing/2014/main" id="{F01D8F68-6543-48CA-8218-CD748BAC5479}"/>
              </a:ext>
            </a:extLst>
          </p:cNvPr>
          <p:cNvSpPr>
            <a:spLocks xmlns:a="http://schemas.openxmlformats.org/drawingml/2006/main" noGrp="1"/>
          </p:cNvSpPr>
          <p:nvPr/>
        </p:nvSpPr>
        <p:spPr>
          <a:xfrm xmlns:a="http://schemas.openxmlformats.org/drawingml/2006/main">
            <a:off x="3657600" y="2057400"/>
            <a:ext cx="21031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1B2A41"/>
                </a:solidFill>
                <a:latin typeface="Cambria"/>
                <a:ea typeface="Cambria"/>
                <a:cs typeface="Cambria"/>
              </a:rPr>
              <a:t>2.73M</a:t>
            </a:r>
            <a:endParaRPr sz="4400"/>
          </a:p>
        </p:txBody>
      </p:sp>
      <p:sp>
        <p:nvSpPr>
          <p:cNvPr id="8" name="Text 6">
            <a:extLst xmlns:a="http://schemas.openxmlformats.org/drawingml/2006/main">
              <a:ext uri="{FF2B5EF4-FFF2-40B4-BE49-F238E27FC236}">
                <a16:creationId xmlns:a16="http://schemas.microsoft.com/office/drawing/2014/main" id="{362A5FF9-383C-4C7F-9985-B633613FB636}"/>
              </a:ext>
            </a:extLst>
          </p:cNvPr>
          <p:cNvSpPr>
            <a:spLocks xmlns:a="http://schemas.openxmlformats.org/drawingml/2006/main" noGrp="1"/>
          </p:cNvSpPr>
          <p:nvPr/>
        </p:nvSpPr>
        <p:spPr>
          <a:xfrm xmlns:a="http://schemas.openxmlformats.org/drawingml/2006/main">
            <a:off x="3657600" y="3108960"/>
            <a:ext cx="21031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vacancies (open seats)</a:t>
            </a:r>
            <a:endParaRPr sz="1600"/>
          </a:p>
        </p:txBody>
      </p:sp>
      <p:sp>
        <p:nvSpPr>
          <p:cNvPr id="9" name="Shape 7">
            <a:extLst xmlns:a="http://schemas.openxmlformats.org/drawingml/2006/main">
              <a:ext uri="{FF2B5EF4-FFF2-40B4-BE49-F238E27FC236}">
                <a16:creationId xmlns:a16="http://schemas.microsoft.com/office/drawing/2014/main" id="{9CDC6AF2-A059-43EA-9E2B-98438C366DE1}"/>
              </a:ext>
            </a:extLst>
          </p:cNvPr>
          <p:cNvSpPr>
            <a:spLocks xmlns:a="http://schemas.openxmlformats.org/drawingml/2006/main" noGrp="1"/>
          </p:cNvSpPr>
          <p:nvPr/>
        </p:nvSpPr>
        <p:spPr>
          <a:xfrm xmlns:a="http://schemas.openxmlformats.org/drawingml/2006/main">
            <a:off x="6217920" y="1737360"/>
            <a:ext cx="2651760" cy="3108960"/>
          </a:xfrm>
          <a:prstGeom xmlns:a="http://schemas.openxmlformats.org/drawingml/2006/main" prst="roundRect">
            <a:avLst>
              <a:gd name="adj" fmla="val 4138"/>
            </a:avLst>
          </a:prstGeom>
          <a:solidFill xmlns:a="http://schemas.openxmlformats.org/drawingml/2006/main">
            <a:srgbClr val="EEF3F6"/>
          </a:solidFill>
          <a:ln xmlns:a="http://schemas.openxmlformats.org/drawingml/2006/main" w="12700">
            <a:solidFill>
              <a:srgbClr val="EEF3F6"/>
            </a:solidFill>
            <a:prstDash val="solid"/>
          </a:ln>
        </p:spPr>
      </p:sp>
      <p:sp>
        <p:nvSpPr>
          <p:cNvPr id="10" name="Text 8">
            <a:extLst xmlns:a="http://schemas.openxmlformats.org/drawingml/2006/main">
              <a:ext uri="{FF2B5EF4-FFF2-40B4-BE49-F238E27FC236}">
                <a16:creationId xmlns:a16="http://schemas.microsoft.com/office/drawing/2014/main" id="{2F13FBF6-B4EE-408F-8E60-05A470D5D6E5}"/>
              </a:ext>
            </a:extLst>
          </p:cNvPr>
          <p:cNvSpPr>
            <a:spLocks xmlns:a="http://schemas.openxmlformats.org/drawingml/2006/main" noGrp="1"/>
          </p:cNvSpPr>
          <p:nvPr/>
        </p:nvSpPr>
        <p:spPr>
          <a:xfrm xmlns:a="http://schemas.openxmlformats.org/drawingml/2006/main">
            <a:off x="6492240" y="2057400"/>
            <a:ext cx="21031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1B2A41"/>
                </a:solidFill>
                <a:latin typeface="Cambria"/>
                <a:ea typeface="Cambria"/>
                <a:cs typeface="Cambria"/>
              </a:rPr>
              <a:t>53,150</a:t>
            </a:r>
            <a:endParaRPr sz="4400"/>
          </a:p>
        </p:txBody>
      </p:sp>
      <p:sp>
        <p:nvSpPr>
          <p:cNvPr id="11" name="Text 9">
            <a:extLst xmlns:a="http://schemas.openxmlformats.org/drawingml/2006/main">
              <a:ext uri="{FF2B5EF4-FFF2-40B4-BE49-F238E27FC236}">
                <a16:creationId xmlns:a16="http://schemas.microsoft.com/office/drawing/2014/main" id="{5EF05BE2-269A-4FAA-BAC3-90F3BAA7B665}"/>
              </a:ext>
            </a:extLst>
          </p:cNvPr>
          <p:cNvSpPr>
            <a:spLocks xmlns:a="http://schemas.openxmlformats.org/drawingml/2006/main" noGrp="1"/>
          </p:cNvSpPr>
          <p:nvPr/>
        </p:nvSpPr>
        <p:spPr>
          <a:xfrm xmlns:a="http://schemas.openxmlformats.org/drawingml/2006/main">
            <a:off x="6492240" y="3108960"/>
            <a:ext cx="21031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organisations posting</a:t>
            </a:r>
            <a:endParaRPr sz="1600"/>
          </a:p>
        </p:txBody>
      </p:sp>
      <p:sp>
        <p:nvSpPr>
          <p:cNvPr id="12" name="Shape 10">
            <a:extLst xmlns:a="http://schemas.openxmlformats.org/drawingml/2006/main">
              <a:ext uri="{FF2B5EF4-FFF2-40B4-BE49-F238E27FC236}">
                <a16:creationId xmlns:a16="http://schemas.microsoft.com/office/drawing/2014/main" id="{BCBBBAB3-FF89-456F-84EA-29C76B5EE3A8}"/>
              </a:ext>
            </a:extLst>
          </p:cNvPr>
          <p:cNvSpPr>
            <a:spLocks xmlns:a="http://schemas.openxmlformats.org/drawingml/2006/main" noGrp="1"/>
          </p:cNvSpPr>
          <p:nvPr/>
        </p:nvSpPr>
        <p:spPr>
          <a:xfrm xmlns:a="http://schemas.openxmlformats.org/drawingml/2006/main">
            <a:off x="9052560" y="1737360"/>
            <a:ext cx="2651760" cy="3108960"/>
          </a:xfrm>
          <a:prstGeom xmlns:a="http://schemas.openxmlformats.org/drawingml/2006/main" prst="roundRect">
            <a:avLst>
              <a:gd name="adj" fmla="val 4138"/>
            </a:avLst>
          </a:prstGeom>
          <a:solidFill xmlns:a="http://schemas.openxmlformats.org/drawingml/2006/main">
            <a:srgbClr val="EEF3F6"/>
          </a:solidFill>
          <a:ln xmlns:a="http://schemas.openxmlformats.org/drawingml/2006/main" w="12700">
            <a:solidFill>
              <a:srgbClr val="EEF3F6"/>
            </a:solidFill>
            <a:prstDash val="solid"/>
          </a:ln>
        </p:spPr>
      </p:sp>
      <p:sp>
        <p:nvSpPr>
          <p:cNvPr id="13" name="Text 11">
            <a:extLst xmlns:a="http://schemas.openxmlformats.org/drawingml/2006/main">
              <a:ext uri="{FF2B5EF4-FFF2-40B4-BE49-F238E27FC236}">
                <a16:creationId xmlns:a16="http://schemas.microsoft.com/office/drawing/2014/main" id="{3B024752-7550-40CD-9F94-44D5549B495C}"/>
              </a:ext>
            </a:extLst>
          </p:cNvPr>
          <p:cNvSpPr>
            <a:spLocks xmlns:a="http://schemas.openxmlformats.org/drawingml/2006/main" noGrp="1"/>
          </p:cNvSpPr>
          <p:nvPr/>
        </p:nvSpPr>
        <p:spPr>
          <a:xfrm xmlns:a="http://schemas.openxmlformats.org/drawingml/2006/main">
            <a:off x="9326880" y="2057400"/>
            <a:ext cx="21031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1B2A41"/>
                </a:solidFill>
                <a:latin typeface="Cambria"/>
                <a:ea typeface="Cambria"/>
                <a:cs typeface="Cambria"/>
              </a:rPr>
              <a:t>43</a:t>
            </a:r>
            <a:endParaRPr sz="4400"/>
          </a:p>
        </p:txBody>
      </p:sp>
      <p:sp>
        <p:nvSpPr>
          <p:cNvPr id="14" name="Text 12">
            <a:extLst xmlns:a="http://schemas.openxmlformats.org/drawingml/2006/main">
              <a:ext uri="{FF2B5EF4-FFF2-40B4-BE49-F238E27FC236}">
                <a16:creationId xmlns:a16="http://schemas.microsoft.com/office/drawing/2014/main" id="{5C9A47F1-D31A-49AC-BE81-2D44FB2FD76E}"/>
              </a:ext>
            </a:extLst>
          </p:cNvPr>
          <p:cNvSpPr>
            <a:spLocks xmlns:a="http://schemas.openxmlformats.org/drawingml/2006/main" noGrp="1"/>
          </p:cNvSpPr>
          <p:nvPr/>
        </p:nvSpPr>
        <p:spPr>
          <a:xfrm xmlns:a="http://schemas.openxmlformats.org/drawingml/2006/main">
            <a:off x="9326880" y="3108960"/>
            <a:ext cx="210312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industry categories</a:t>
            </a:r>
            <a:endParaRPr sz="1600"/>
          </a:p>
        </p:txBody>
      </p:sp>
      <p:sp>
        <p:nvSpPr>
          <p:cNvPr id="15" name="Text 13">
            <a:extLst xmlns:a="http://schemas.openxmlformats.org/drawingml/2006/main">
              <a:ext uri="{FF2B5EF4-FFF2-40B4-BE49-F238E27FC236}">
                <a16:creationId xmlns:a16="http://schemas.microsoft.com/office/drawing/2014/main" id="{38B7DD9A-7CC0-4101-AF82-7D4DDBF373C6}"/>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7</a:t>
            </a:r>
            <a:endParaRPr sz="1000"/>
          </a:p>
        </p:txBody>
      </p:sp>
    </p:spTree>
    <p:extLst>
      <p:ext uri="{BB962C8B-B14F-4D97-AF65-F5344CB8AC3E}">
        <p14:creationId xmlns:p14="http://schemas.microsoft.com/office/powerpoint/2010/main" val="12729754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D37AF5-AF36-4EB5-B88B-C0AF1180A900}"/>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Pay rises with seniority</a:t>
            </a:r>
            <a:endParaRPr sz="3000"/>
          </a:p>
        </p:txBody>
      </p:sp>
      <p:sp>
        <p:nvSpPr>
          <p:cNvPr id="4" name="Text 1">
            <a:extLst xmlns:a="http://schemas.openxmlformats.org/drawingml/2006/main">
              <a:ext uri="{FF2B5EF4-FFF2-40B4-BE49-F238E27FC236}">
                <a16:creationId xmlns:a16="http://schemas.microsoft.com/office/drawing/2014/main" id="{B2915FC3-69F9-4F1D-B33F-0EC575476479}"/>
              </a:ext>
            </a:extLst>
          </p:cNvPr>
          <p:cNvSpPr>
            <a:spLocks xmlns:a="http://schemas.openxmlformats.org/drawingml/2006/main" noGrp="1"/>
          </p:cNvSpPr>
          <p:nvPr/>
        </p:nvSpPr>
        <p:spPr>
          <a:xfrm xmlns:a="http://schemas.openxmlformats.org/drawingml/2006/main">
            <a:off x="8778240" y="2011680"/>
            <a:ext cx="28346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5B6770"/>
                </a:solidFill>
                <a:latin typeface="Calibri"/>
                <a:ea typeface="Calibri"/>
                <a:cs typeface="Calibri"/>
              </a:rPr>
              <a:t>Median advertised monthly salary, S$</a:t>
            </a:r>
            <a:endParaRPr sz="1600"/>
          </a:p>
        </p:txBody>
      </p:sp>
      <p:sp>
        <p:nvSpPr>
          <p:cNvPr id="5" name="Text 2">
            <a:extLst xmlns:a="http://schemas.openxmlformats.org/drawingml/2006/main">
              <a:ext uri="{FF2B5EF4-FFF2-40B4-BE49-F238E27FC236}">
                <a16:creationId xmlns:a16="http://schemas.microsoft.com/office/drawing/2014/main" id="{E67CFE2D-4150-4A2C-B86D-8B42CA25EFAE}"/>
              </a:ext>
            </a:extLst>
          </p:cNvPr>
          <p:cNvSpPr>
            <a:spLocks xmlns:a="http://schemas.openxmlformats.org/drawingml/2006/main" noGrp="1"/>
          </p:cNvSpPr>
          <p:nvPr/>
        </p:nvSpPr>
        <p:spPr>
          <a:xfrm xmlns:a="http://schemas.openxmlformats.org/drawingml/2006/main">
            <a:off x="8778240" y="3108960"/>
            <a:ext cx="283464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The median (the middle value) is S$3,850 overall. The middle half runs from S$2,950 to S$5,500.</a:t>
            </a:r>
            <a:endParaRPr sz="1600"/>
          </a:p>
        </p:txBody>
      </p:sp>
      <p:sp>
        <p:nvSpPr>
          <p:cNvPr id="6" name="Text 3">
            <a:extLst xmlns:a="http://schemas.openxmlformats.org/drawingml/2006/main">
              <a:ext uri="{FF2B5EF4-FFF2-40B4-BE49-F238E27FC236}">
                <a16:creationId xmlns:a16="http://schemas.microsoft.com/office/drawing/2014/main" id="{458D313D-4645-43AA-A6B9-4C2CD77F3D8E}"/>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8</a:t>
            </a:r>
            <a:endParaRPr sz="1000"/>
          </a:p>
        </p:txBody>
      </p:sp>
      <p:graphicFrame>
        <p:nvGraphicFramePr>
          <p:cNvPr id="7" name="Chart">
            <a:extLst xmlns:a="http://schemas.openxmlformats.org/drawingml/2006/main">
              <a:ext uri="{FF2B5EF4-FFF2-40B4-BE49-F238E27FC236}">
                <a16:creationId xmlns:a16="http://schemas.microsoft.com/office/drawing/2014/main" id="{78A01E44-7535-487B-991B-3DC6F9C71D39}"/>
              </a:ext>
            </a:extLst>
          </p:cNvPr>
          <p:cNvGraphicFramePr/>
          <p:nvPr/>
        </p:nvGraphicFramePr>
        <p:xfrm>
          <a:off xmlns:a="http://schemas.openxmlformats.org/drawingml/2006/main" x="552450" y="1647825"/>
          <a:ext xmlns:a="http://schemas.openxmlformats.org/drawingml/2006/main" cx="7867650" cy="4476750"/>
        </p:xfrm>
        <a:graphic xmlns:a="http://schemas.openxmlformats.org/drawingml/2006/main">
          <a:graphicData uri="http://schemas.openxmlformats.org/drawingml/2006/chart">
            <c:chart xmlns:r="http://schemas.openxmlformats.org/officeDocument/2006/relationships" xmlns:c="http://schemas.openxmlformats.org/drawingml/2006/chart" r:id="Rde739f14cade4ecb"/>
          </a:graphicData>
        </a:graphic>
      </p:graphicFrame>
    </p:spTree>
    <p:extLst>
      <p:ext uri="{BB962C8B-B14F-4D97-AF65-F5344CB8AC3E}">
        <p14:creationId xmlns:p14="http://schemas.microsoft.com/office/powerpoint/2010/main" val="116996510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BB2E0AF-9884-4903-835E-3B99DAD523C4}"/>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The biggest category is not always the best paid</a:t>
            </a:r>
            <a:endParaRPr sz="3000"/>
          </a:p>
        </p:txBody>
      </p:sp>
      <p:sp>
        <p:nvSpPr>
          <p:cNvPr id="3" name="Text 1">
            <a:extLst xmlns:a="http://schemas.openxmlformats.org/drawingml/2006/main">
              <a:ext uri="{FF2B5EF4-FFF2-40B4-BE49-F238E27FC236}">
                <a16:creationId xmlns:a16="http://schemas.microsoft.com/office/drawing/2014/main" id="{00C4FD80-4836-4E8D-90F0-A04A006163D3}"/>
              </a:ext>
            </a:extLst>
          </p:cNvPr>
          <p:cNvSpPr>
            <a:spLocks xmlns:a="http://schemas.openxmlformats.org/drawingml/2006/main" noGrp="1"/>
          </p:cNvSpPr>
          <p:nvPr/>
        </p:nvSpPr>
        <p:spPr>
          <a:xfrm xmlns:a="http://schemas.openxmlformats.org/drawingml/2006/main">
            <a:off x="548640" y="1737360"/>
            <a:ext cx="5394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B2A41"/>
                </a:solidFill>
                <a:latin typeface="Cambria"/>
                <a:ea typeface="Cambria"/>
                <a:cs typeface="Cambria"/>
              </a:rPr>
              <a:t>Information Technology</a:t>
            </a:r>
            <a:endParaRPr sz="2400"/>
          </a:p>
        </p:txBody>
      </p:sp>
      <p:sp>
        <p:nvSpPr>
          <p:cNvPr id="4" name="Shape 2">
            <a:extLst xmlns:a="http://schemas.openxmlformats.org/drawingml/2006/main">
              <a:ext uri="{FF2B5EF4-FFF2-40B4-BE49-F238E27FC236}">
                <a16:creationId xmlns:a16="http://schemas.microsoft.com/office/drawing/2014/main" id="{DB56CCFA-04FF-49C1-84D8-007B7E92D3D9}"/>
              </a:ext>
            </a:extLst>
          </p:cNvPr>
          <p:cNvSpPr>
            <a:spLocks xmlns:a="http://schemas.openxmlformats.org/drawingml/2006/main" noGrp="1"/>
          </p:cNvSpPr>
          <p:nvPr/>
        </p:nvSpPr>
        <p:spPr>
          <a:xfrm xmlns:a="http://schemas.openxmlformats.org/drawingml/2006/main">
            <a:off x="548640" y="2377440"/>
            <a:ext cx="5394960" cy="2926080"/>
          </a:xfrm>
          <a:prstGeom xmlns:a="http://schemas.openxmlformats.org/drawingml/2006/main" prst="roundRect">
            <a:avLst>
              <a:gd name="adj" fmla="val 3750"/>
            </a:avLst>
          </a:prstGeom>
          <a:solidFill xmlns:a="http://schemas.openxmlformats.org/drawingml/2006/main">
            <a:srgbClr val="EEF3F6"/>
          </a:solidFill>
          <a:ln xmlns:a="http://schemas.openxmlformats.org/drawingml/2006/main" w="12700">
            <a:solidFill>
              <a:srgbClr val="EEF3F6"/>
            </a:solidFill>
            <a:prstDash val="solid"/>
          </a:ln>
        </p:spPr>
      </p:sp>
      <p:sp>
        <p:nvSpPr>
          <p:cNvPr id="5" name="Text 3">
            <a:extLst xmlns:a="http://schemas.openxmlformats.org/drawingml/2006/main">
              <a:ext uri="{FF2B5EF4-FFF2-40B4-BE49-F238E27FC236}">
                <a16:creationId xmlns:a16="http://schemas.microsoft.com/office/drawing/2014/main" id="{9662A7A7-C5DC-44D6-B0FD-B4EA645F03FB}"/>
              </a:ext>
            </a:extLst>
          </p:cNvPr>
          <p:cNvSpPr>
            <a:spLocks xmlns:a="http://schemas.openxmlformats.org/drawingml/2006/main" noGrp="1"/>
          </p:cNvSpPr>
          <p:nvPr/>
        </p:nvSpPr>
        <p:spPr>
          <a:xfrm xmlns:a="http://schemas.openxmlformats.org/drawingml/2006/main">
            <a:off x="822960" y="2697480"/>
            <a:ext cx="48463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2A9D8F"/>
                </a:solidFill>
                <a:latin typeface="Cambria"/>
                <a:ea typeface="Cambria"/>
                <a:cs typeface="Cambria"/>
              </a:rPr>
              <a:t>S$6,500</a:t>
            </a:r>
            <a:endParaRPr sz="4400"/>
          </a:p>
        </p:txBody>
      </p:sp>
      <p:sp>
        <p:nvSpPr>
          <p:cNvPr id="6" name="Text 4">
            <a:extLst xmlns:a="http://schemas.openxmlformats.org/drawingml/2006/main">
              <a:ext uri="{FF2B5EF4-FFF2-40B4-BE49-F238E27FC236}">
                <a16:creationId xmlns:a16="http://schemas.microsoft.com/office/drawing/2014/main" id="{39B25798-B8B4-4342-9143-C81B09EBDA3B}"/>
              </a:ext>
            </a:extLst>
          </p:cNvPr>
          <p:cNvSpPr>
            <a:spLocks xmlns:a="http://schemas.openxmlformats.org/drawingml/2006/main" noGrp="1"/>
          </p:cNvSpPr>
          <p:nvPr/>
        </p:nvSpPr>
        <p:spPr>
          <a:xfrm xmlns:a="http://schemas.openxmlformats.org/drawingml/2006/main">
            <a:off x="822960" y="3749040"/>
            <a:ext cx="48463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median advertised salary, from 140,866 postings</a:t>
            </a:r>
            <a:endParaRPr sz="1600"/>
          </a:p>
        </p:txBody>
      </p:sp>
      <p:sp>
        <p:nvSpPr>
          <p:cNvPr id="7" name="Text 5">
            <a:extLst xmlns:a="http://schemas.openxmlformats.org/drawingml/2006/main">
              <a:ext uri="{FF2B5EF4-FFF2-40B4-BE49-F238E27FC236}">
                <a16:creationId xmlns:a16="http://schemas.microsoft.com/office/drawing/2014/main" id="{4C7DD82B-00F8-4F6A-9193-0BDB0F934DA2}"/>
              </a:ext>
            </a:extLst>
          </p:cNvPr>
          <p:cNvSpPr>
            <a:spLocks xmlns:a="http://schemas.openxmlformats.org/drawingml/2006/main" noGrp="1"/>
          </p:cNvSpPr>
          <p:nvPr/>
        </p:nvSpPr>
        <p:spPr>
          <a:xfrm xmlns:a="http://schemas.openxmlformats.org/drawingml/2006/main">
            <a:off x="6217920" y="1737360"/>
            <a:ext cx="5394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1B2A41"/>
                </a:solidFill>
                <a:latin typeface="Cambria"/>
                <a:ea typeface="Cambria"/>
                <a:cs typeface="Cambria"/>
              </a:rPr>
              <a:t>Admin / Secretarial</a:t>
            </a:r>
            <a:endParaRPr sz="2400"/>
          </a:p>
        </p:txBody>
      </p:sp>
      <p:sp>
        <p:nvSpPr>
          <p:cNvPr id="8" name="Shape 6">
            <a:extLst xmlns:a="http://schemas.openxmlformats.org/drawingml/2006/main">
              <a:ext uri="{FF2B5EF4-FFF2-40B4-BE49-F238E27FC236}">
                <a16:creationId xmlns:a16="http://schemas.microsoft.com/office/drawing/2014/main" id="{B05473ED-7093-4B37-9F0F-C9F97280627E}"/>
              </a:ext>
            </a:extLst>
          </p:cNvPr>
          <p:cNvSpPr>
            <a:spLocks xmlns:a="http://schemas.openxmlformats.org/drawingml/2006/main" noGrp="1"/>
          </p:cNvSpPr>
          <p:nvPr/>
        </p:nvSpPr>
        <p:spPr>
          <a:xfrm xmlns:a="http://schemas.openxmlformats.org/drawingml/2006/main">
            <a:off x="6217920" y="2377440"/>
            <a:ext cx="5394960" cy="2926080"/>
          </a:xfrm>
          <a:prstGeom xmlns:a="http://schemas.openxmlformats.org/drawingml/2006/main" prst="roundRect">
            <a:avLst>
              <a:gd name="adj" fmla="val 3750"/>
            </a:avLst>
          </a:prstGeom>
          <a:solidFill xmlns:a="http://schemas.openxmlformats.org/drawingml/2006/main">
            <a:srgbClr val="EEF3F6"/>
          </a:solidFill>
          <a:ln xmlns:a="http://schemas.openxmlformats.org/drawingml/2006/main" w="12700">
            <a:solidFill>
              <a:srgbClr val="EEF3F6"/>
            </a:solidFill>
            <a:prstDash val="solid"/>
          </a:ln>
        </p:spPr>
      </p:sp>
      <p:sp>
        <p:nvSpPr>
          <p:cNvPr id="9" name="Text 7">
            <a:extLst xmlns:a="http://schemas.openxmlformats.org/drawingml/2006/main">
              <a:ext uri="{FF2B5EF4-FFF2-40B4-BE49-F238E27FC236}">
                <a16:creationId xmlns:a16="http://schemas.microsoft.com/office/drawing/2014/main" id="{080390AA-E98A-4534-9FC1-1BFB3A46F0F1}"/>
              </a:ext>
            </a:extLst>
          </p:cNvPr>
          <p:cNvSpPr>
            <a:spLocks xmlns:a="http://schemas.openxmlformats.org/drawingml/2006/main" noGrp="1"/>
          </p:cNvSpPr>
          <p:nvPr/>
        </p:nvSpPr>
        <p:spPr>
          <a:xfrm xmlns:a="http://schemas.openxmlformats.org/drawingml/2006/main">
            <a:off x="6492240" y="2697480"/>
            <a:ext cx="48463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E9A23B"/>
                </a:solidFill>
                <a:latin typeface="Cambria"/>
                <a:ea typeface="Cambria"/>
                <a:cs typeface="Cambria"/>
              </a:rPr>
              <a:t>S$2,900</a:t>
            </a:r>
            <a:endParaRPr sz="4400"/>
          </a:p>
        </p:txBody>
      </p:sp>
      <p:sp>
        <p:nvSpPr>
          <p:cNvPr id="10" name="Text 8">
            <a:extLst xmlns:a="http://schemas.openxmlformats.org/drawingml/2006/main">
              <a:ext uri="{FF2B5EF4-FFF2-40B4-BE49-F238E27FC236}">
                <a16:creationId xmlns:a16="http://schemas.microsoft.com/office/drawing/2014/main" id="{9DEBDEDD-2076-4C0B-B540-C57E09E974AF}"/>
              </a:ext>
            </a:extLst>
          </p:cNvPr>
          <p:cNvSpPr>
            <a:spLocks xmlns:a="http://schemas.openxmlformats.org/drawingml/2006/main" noGrp="1"/>
          </p:cNvSpPr>
          <p:nvPr/>
        </p:nvSpPr>
        <p:spPr>
          <a:xfrm xmlns:a="http://schemas.openxmlformats.org/drawingml/2006/main">
            <a:off x="6492240" y="3749040"/>
            <a:ext cx="48463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median advertised salary, from 117,854 postings</a:t>
            </a:r>
            <a:endParaRPr sz="1600"/>
          </a:p>
        </p:txBody>
      </p:sp>
      <p:sp>
        <p:nvSpPr>
          <p:cNvPr id="11" name="Text 9">
            <a:extLst xmlns:a="http://schemas.openxmlformats.org/drawingml/2006/main">
              <a:ext uri="{FF2B5EF4-FFF2-40B4-BE49-F238E27FC236}">
                <a16:creationId xmlns:a16="http://schemas.microsoft.com/office/drawing/2014/main" id="{2577AFE9-9EA2-468E-A9EA-58714A2133F3}"/>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9</a:t>
            </a:r>
            <a:endParaRPr sz="1000"/>
          </a:p>
        </p:txBody>
      </p:sp>
    </p:spTree>
    <p:extLst>
      <p:ext uri="{BB962C8B-B14F-4D97-AF65-F5344CB8AC3E}">
        <p14:creationId xmlns:p14="http://schemas.microsoft.com/office/powerpoint/2010/main" val="95526066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78145E5-086A-4347-8E94-3B9008261536}"/>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Competition: applications per vacancy vary widely</a:t>
            </a:r>
            <a:endParaRPr sz="3000"/>
          </a:p>
        </p:txBody>
      </p:sp>
      <p:sp>
        <p:nvSpPr>
          <p:cNvPr id="4" name="Text 1">
            <a:extLst xmlns:a="http://schemas.openxmlformats.org/drawingml/2006/main">
              <a:ext uri="{FF2B5EF4-FFF2-40B4-BE49-F238E27FC236}">
                <a16:creationId xmlns:a16="http://schemas.microsoft.com/office/drawing/2014/main" id="{EB16847A-F3B0-4D87-A0B9-E79778A857E4}"/>
              </a:ext>
            </a:extLst>
          </p:cNvPr>
          <p:cNvSpPr>
            <a:spLocks xmlns:a="http://schemas.openxmlformats.org/drawingml/2006/main" noGrp="1"/>
          </p:cNvSpPr>
          <p:nvPr/>
        </p:nvSpPr>
        <p:spPr>
          <a:xfrm xmlns:a="http://schemas.openxmlformats.org/drawingml/2006/main">
            <a:off x="8778240" y="2011680"/>
            <a:ext cx="283464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Applications per vacancy: total applications ÷ total open seats, within each category. A rough guide to competition, based on the counts recorded on each advert.</a:t>
            </a:r>
            <a:endParaRPr sz="1600"/>
          </a:p>
        </p:txBody>
      </p:sp>
      <p:sp>
        <p:nvSpPr>
          <p:cNvPr id="5" name="Text 2">
            <a:extLst xmlns:a="http://schemas.openxmlformats.org/drawingml/2006/main">
              <a:ext uri="{FF2B5EF4-FFF2-40B4-BE49-F238E27FC236}">
                <a16:creationId xmlns:a16="http://schemas.microsoft.com/office/drawing/2014/main" id="{B4598347-F22D-4F26-9786-AC3C25AD97AF}"/>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10</a:t>
            </a:r>
            <a:endParaRPr sz="1000"/>
          </a:p>
        </p:txBody>
      </p:sp>
      <p:graphicFrame>
        <p:nvGraphicFramePr>
          <p:cNvPr id="6" name="Chart">
            <a:extLst xmlns:a="http://schemas.openxmlformats.org/drawingml/2006/main">
              <a:ext uri="{FF2B5EF4-FFF2-40B4-BE49-F238E27FC236}">
                <a16:creationId xmlns:a16="http://schemas.microsoft.com/office/drawing/2014/main" id="{EA99519C-9658-4F1E-91E7-C7A4DB51DD29}"/>
              </a:ext>
            </a:extLst>
          </p:cNvPr>
          <p:cNvGraphicFramePr/>
          <p:nvPr/>
        </p:nvGraphicFramePr>
        <p:xfrm>
          <a:off xmlns:a="http://schemas.openxmlformats.org/drawingml/2006/main" x="552450" y="1647825"/>
          <a:ext xmlns:a="http://schemas.openxmlformats.org/drawingml/2006/main" cx="7867650" cy="4476750"/>
        </p:xfrm>
        <a:graphic xmlns:a="http://schemas.openxmlformats.org/drawingml/2006/main">
          <a:graphicData uri="http://schemas.openxmlformats.org/drawingml/2006/chart">
            <c:chart xmlns:r="http://schemas.openxmlformats.org/officeDocument/2006/relationships" xmlns:c="http://schemas.openxmlformats.org/drawingml/2006/chart" r:id="R1c2d00e1151b4e71"/>
          </a:graphicData>
        </a:graphic>
      </p:graphicFrame>
    </p:spTree>
    <p:extLst>
      <p:ext uri="{BB962C8B-B14F-4D97-AF65-F5344CB8AC3E}">
        <p14:creationId xmlns:p14="http://schemas.microsoft.com/office/powerpoint/2010/main" val="178077879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4A599B9-CA2A-47F3-A8DE-D710BAF808E4}"/>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Live dashboard: seven views</a:t>
            </a:r>
            <a:endParaRPr sz="3000"/>
          </a:p>
        </p:txBody>
      </p:sp>
      <p:sp>
        <p:nvSpPr>
          <p:cNvPr id="3" name="Shape 1">
            <a:extLst xmlns:a="http://schemas.openxmlformats.org/drawingml/2006/main">
              <a:ext uri="{FF2B5EF4-FFF2-40B4-BE49-F238E27FC236}">
                <a16:creationId xmlns:a16="http://schemas.microsoft.com/office/drawing/2014/main" id="{80D20B3A-4D2D-4087-94BD-37FDA6C41B04}"/>
              </a:ext>
            </a:extLst>
          </p:cNvPr>
          <p:cNvSpPr>
            <a:spLocks xmlns:a="http://schemas.openxmlformats.org/drawingml/2006/main" noGrp="1"/>
          </p:cNvSpPr>
          <p:nvPr/>
        </p:nvSpPr>
        <p:spPr>
          <a:xfrm xmlns:a="http://schemas.openxmlformats.org/drawingml/2006/main">
            <a:off x="548640" y="1554480"/>
            <a:ext cx="5349240" cy="1024128"/>
          </a:xfrm>
          <a:prstGeom xmlns:a="http://schemas.openxmlformats.org/drawingml/2006/main" prst="roundRect">
            <a:avLst>
              <a:gd name="adj" fmla="val 10714"/>
            </a:avLst>
          </a:prstGeom>
          <a:solidFill xmlns:a="http://schemas.openxmlformats.org/drawingml/2006/main">
            <a:srgbClr val="EEF3F6"/>
          </a:solidFill>
          <a:ln xmlns:a="http://schemas.openxmlformats.org/drawingml/2006/main" w="12700">
            <a:solidFill>
              <a:srgbClr val="EEF3F6"/>
            </a:solidFill>
            <a:prstDash val="solid"/>
          </a:ln>
        </p:spPr>
      </p:sp>
      <p:sp>
        <p:nvSpPr>
          <p:cNvPr id="4" name="Text 2">
            <a:extLst xmlns:a="http://schemas.openxmlformats.org/drawingml/2006/main">
              <a:ext uri="{FF2B5EF4-FFF2-40B4-BE49-F238E27FC236}">
                <a16:creationId xmlns:a16="http://schemas.microsoft.com/office/drawing/2014/main" id="{6A5E9C91-3E1C-47AC-86F0-5B944A454C61}"/>
              </a:ext>
            </a:extLst>
          </p:cNvPr>
          <p:cNvSpPr>
            <a:spLocks xmlns:a="http://schemas.openxmlformats.org/drawingml/2006/main" noGrp="1"/>
          </p:cNvSpPr>
          <p:nvPr/>
        </p:nvSpPr>
        <p:spPr>
          <a:xfrm xmlns:a="http://schemas.openxmlformats.org/drawingml/2006/main">
            <a:off x="822960" y="1664208"/>
            <a:ext cx="4846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B2A41"/>
                </a:solidFill>
                <a:latin typeface="Cambria"/>
                <a:ea typeface="Cambria"/>
                <a:cs typeface="Cambria"/>
              </a:rPr>
              <a:t>Filters</a:t>
            </a:r>
            <a:endParaRPr sz="1800"/>
          </a:p>
        </p:txBody>
      </p:sp>
      <p:sp>
        <p:nvSpPr>
          <p:cNvPr id="5" name="Text 3">
            <a:extLst xmlns:a="http://schemas.openxmlformats.org/drawingml/2006/main">
              <a:ext uri="{FF2B5EF4-FFF2-40B4-BE49-F238E27FC236}">
                <a16:creationId xmlns:a16="http://schemas.microsoft.com/office/drawing/2014/main" id="{3AECA32C-92A1-4F58-81F5-438BC9B2F673}"/>
              </a:ext>
            </a:extLst>
          </p:cNvPr>
          <p:cNvSpPr>
            <a:spLocks xmlns:a="http://schemas.openxmlformats.org/drawingml/2006/main" noGrp="1"/>
          </p:cNvSpPr>
          <p:nvPr/>
        </p:nvSpPr>
        <p:spPr>
          <a:xfrm xmlns:a="http://schemas.openxmlformats.org/drawingml/2006/main">
            <a:off x="822960" y="210312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F2933"/>
                </a:solidFill>
                <a:latin typeface="Calibri"/>
                <a:ea typeface="Calibri"/>
                <a:cs typeface="Calibri"/>
              </a:rPr>
              <a:t>Industry, career level, employment type</a:t>
            </a:r>
            <a:endParaRPr sz="1400"/>
          </a:p>
        </p:txBody>
      </p:sp>
      <p:sp>
        <p:nvSpPr>
          <p:cNvPr id="6" name="Shape 4">
            <a:extLst xmlns:a="http://schemas.openxmlformats.org/drawingml/2006/main">
              <a:ext uri="{FF2B5EF4-FFF2-40B4-BE49-F238E27FC236}">
                <a16:creationId xmlns:a16="http://schemas.microsoft.com/office/drawing/2014/main" id="{3222C992-99F2-4682-A91A-B72745259004}"/>
              </a:ext>
            </a:extLst>
          </p:cNvPr>
          <p:cNvSpPr>
            <a:spLocks xmlns:a="http://schemas.openxmlformats.org/drawingml/2006/main" noGrp="1"/>
          </p:cNvSpPr>
          <p:nvPr/>
        </p:nvSpPr>
        <p:spPr>
          <a:xfrm xmlns:a="http://schemas.openxmlformats.org/drawingml/2006/main">
            <a:off x="6263640" y="1554480"/>
            <a:ext cx="5349240" cy="1024128"/>
          </a:xfrm>
          <a:prstGeom xmlns:a="http://schemas.openxmlformats.org/drawingml/2006/main" prst="roundRect">
            <a:avLst>
              <a:gd name="adj" fmla="val 10714"/>
            </a:avLst>
          </a:prstGeom>
          <a:solidFill xmlns:a="http://schemas.openxmlformats.org/drawingml/2006/main">
            <a:srgbClr val="EEF3F6"/>
          </a:solidFill>
          <a:ln xmlns:a="http://schemas.openxmlformats.org/drawingml/2006/main" w="12700">
            <a:solidFill>
              <a:srgbClr val="EEF3F6"/>
            </a:solidFill>
            <a:prstDash val="solid"/>
          </a:ln>
        </p:spPr>
      </p:sp>
      <p:sp>
        <p:nvSpPr>
          <p:cNvPr id="7" name="Text 5">
            <a:extLst xmlns:a="http://schemas.openxmlformats.org/drawingml/2006/main">
              <a:ext uri="{FF2B5EF4-FFF2-40B4-BE49-F238E27FC236}">
                <a16:creationId xmlns:a16="http://schemas.microsoft.com/office/drawing/2014/main" id="{BE868173-EAAB-4CA9-B7E5-B6302F08BE0A}"/>
              </a:ext>
            </a:extLst>
          </p:cNvPr>
          <p:cNvSpPr>
            <a:spLocks xmlns:a="http://schemas.openxmlformats.org/drawingml/2006/main" noGrp="1"/>
          </p:cNvSpPr>
          <p:nvPr/>
        </p:nvSpPr>
        <p:spPr>
          <a:xfrm xmlns:a="http://schemas.openxmlformats.org/drawingml/2006/main">
            <a:off x="6537960" y="1664208"/>
            <a:ext cx="4846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B2A41"/>
                </a:solidFill>
                <a:latin typeface="Cambria"/>
                <a:ea typeface="Cambria"/>
                <a:cs typeface="Cambria"/>
              </a:rPr>
              <a:t>Overview</a:t>
            </a:r>
            <a:endParaRPr sz="1800"/>
          </a:p>
        </p:txBody>
      </p:sp>
      <p:sp>
        <p:nvSpPr>
          <p:cNvPr id="8" name="Text 6">
            <a:extLst xmlns:a="http://schemas.openxmlformats.org/drawingml/2006/main">
              <a:ext uri="{FF2B5EF4-FFF2-40B4-BE49-F238E27FC236}">
                <a16:creationId xmlns:a16="http://schemas.microsoft.com/office/drawing/2014/main" id="{7F5705F6-9B87-44FC-93A6-6EDA11EEB29D}"/>
              </a:ext>
            </a:extLst>
          </p:cNvPr>
          <p:cNvSpPr>
            <a:spLocks xmlns:a="http://schemas.openxmlformats.org/drawingml/2006/main" noGrp="1"/>
          </p:cNvSpPr>
          <p:nvPr/>
        </p:nvSpPr>
        <p:spPr>
          <a:xfrm xmlns:a="http://schemas.openxmlformats.org/drawingml/2006/main">
            <a:off x="6537960" y="210312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F2933"/>
                </a:solidFill>
                <a:latin typeface="Calibri"/>
                <a:ea typeface="Calibri"/>
                <a:cs typeface="Calibri"/>
              </a:rPr>
              <a:t>Four summary cards, top titles, postings by category</a:t>
            </a:r>
            <a:endParaRPr sz="1400"/>
          </a:p>
        </p:txBody>
      </p:sp>
      <p:sp>
        <p:nvSpPr>
          <p:cNvPr id="9" name="Shape 7">
            <a:extLst xmlns:a="http://schemas.openxmlformats.org/drawingml/2006/main">
              <a:ext uri="{FF2B5EF4-FFF2-40B4-BE49-F238E27FC236}">
                <a16:creationId xmlns:a16="http://schemas.microsoft.com/office/drawing/2014/main" id="{6AB5B0EE-6C79-43C3-8D0F-DFD81983A5A0}"/>
              </a:ext>
            </a:extLst>
          </p:cNvPr>
          <p:cNvSpPr>
            <a:spLocks xmlns:a="http://schemas.openxmlformats.org/drawingml/2006/main" noGrp="1"/>
          </p:cNvSpPr>
          <p:nvPr/>
        </p:nvSpPr>
        <p:spPr>
          <a:xfrm xmlns:a="http://schemas.openxmlformats.org/drawingml/2006/main">
            <a:off x="548640" y="2724912"/>
            <a:ext cx="5349240" cy="1024128"/>
          </a:xfrm>
          <a:prstGeom xmlns:a="http://schemas.openxmlformats.org/drawingml/2006/main" prst="roundRect">
            <a:avLst>
              <a:gd name="adj" fmla="val 10714"/>
            </a:avLst>
          </a:prstGeom>
          <a:solidFill xmlns:a="http://schemas.openxmlformats.org/drawingml/2006/main">
            <a:srgbClr val="EEF3F6"/>
          </a:solidFill>
          <a:ln xmlns:a="http://schemas.openxmlformats.org/drawingml/2006/main" w="12700">
            <a:solidFill>
              <a:srgbClr val="EEF3F6"/>
            </a:solidFill>
            <a:prstDash val="solid"/>
          </a:ln>
        </p:spPr>
      </p:sp>
      <p:sp>
        <p:nvSpPr>
          <p:cNvPr id="10" name="Text 8">
            <a:extLst xmlns:a="http://schemas.openxmlformats.org/drawingml/2006/main">
              <a:ext uri="{FF2B5EF4-FFF2-40B4-BE49-F238E27FC236}">
                <a16:creationId xmlns:a16="http://schemas.microsoft.com/office/drawing/2014/main" id="{ED6B7EB9-D361-4AFA-854F-103CBD880A31}"/>
              </a:ext>
            </a:extLst>
          </p:cNvPr>
          <p:cNvSpPr>
            <a:spLocks xmlns:a="http://schemas.openxmlformats.org/drawingml/2006/main" noGrp="1"/>
          </p:cNvSpPr>
          <p:nvPr/>
        </p:nvSpPr>
        <p:spPr>
          <a:xfrm xmlns:a="http://schemas.openxmlformats.org/drawingml/2006/main">
            <a:off x="822960" y="2834640"/>
            <a:ext cx="4846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B2A41"/>
                </a:solidFill>
                <a:latin typeface="Cambria"/>
                <a:ea typeface="Cambria"/>
                <a:cs typeface="Cambria"/>
              </a:rPr>
              <a:t>Salary</a:t>
            </a:r>
            <a:endParaRPr sz="1800"/>
          </a:p>
        </p:txBody>
      </p:sp>
      <p:sp>
        <p:nvSpPr>
          <p:cNvPr id="11" name="Text 9">
            <a:extLst xmlns:a="http://schemas.openxmlformats.org/drawingml/2006/main">
              <a:ext uri="{FF2B5EF4-FFF2-40B4-BE49-F238E27FC236}">
                <a16:creationId xmlns:a16="http://schemas.microsoft.com/office/drawing/2014/main" id="{C2A2663B-CEE6-464C-B827-3F9600FC7A50}"/>
              </a:ext>
            </a:extLst>
          </p:cNvPr>
          <p:cNvSpPr>
            <a:spLocks xmlns:a="http://schemas.openxmlformats.org/drawingml/2006/main" noGrp="1"/>
          </p:cNvSpPr>
          <p:nvPr/>
        </p:nvSpPr>
        <p:spPr>
          <a:xfrm xmlns:a="http://schemas.openxmlformats.org/drawingml/2006/main">
            <a:off x="822960" y="327355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F2933"/>
                </a:solidFill>
                <a:latin typeface="Calibri"/>
                <a:ea typeface="Calibri"/>
                <a:cs typeface="Calibri"/>
              </a:rPr>
              <a:t>Median advertised pay by category</a:t>
            </a:r>
            <a:endParaRPr sz="1400"/>
          </a:p>
        </p:txBody>
      </p:sp>
      <p:sp>
        <p:nvSpPr>
          <p:cNvPr id="12" name="Shape 10">
            <a:extLst xmlns:a="http://schemas.openxmlformats.org/drawingml/2006/main">
              <a:ext uri="{FF2B5EF4-FFF2-40B4-BE49-F238E27FC236}">
                <a16:creationId xmlns:a16="http://schemas.microsoft.com/office/drawing/2014/main" id="{6480C5D2-4966-44FD-BB8D-4335F98D30C0}"/>
              </a:ext>
            </a:extLst>
          </p:cNvPr>
          <p:cNvSpPr>
            <a:spLocks xmlns:a="http://schemas.openxmlformats.org/drawingml/2006/main" noGrp="1"/>
          </p:cNvSpPr>
          <p:nvPr/>
        </p:nvSpPr>
        <p:spPr>
          <a:xfrm xmlns:a="http://schemas.openxmlformats.org/drawingml/2006/main">
            <a:off x="6263640" y="2724912"/>
            <a:ext cx="5349240" cy="1024128"/>
          </a:xfrm>
          <a:prstGeom xmlns:a="http://schemas.openxmlformats.org/drawingml/2006/main" prst="roundRect">
            <a:avLst>
              <a:gd name="adj" fmla="val 10714"/>
            </a:avLst>
          </a:prstGeom>
          <a:solidFill xmlns:a="http://schemas.openxmlformats.org/drawingml/2006/main">
            <a:srgbClr val="EEF3F6"/>
          </a:solidFill>
          <a:ln xmlns:a="http://schemas.openxmlformats.org/drawingml/2006/main" w="12700">
            <a:solidFill>
              <a:srgbClr val="EEF3F6"/>
            </a:solidFill>
            <a:prstDash val="solid"/>
          </a:ln>
        </p:spPr>
      </p:sp>
      <p:sp>
        <p:nvSpPr>
          <p:cNvPr id="13" name="Text 11">
            <a:extLst xmlns:a="http://schemas.openxmlformats.org/drawingml/2006/main">
              <a:ext uri="{FF2B5EF4-FFF2-40B4-BE49-F238E27FC236}">
                <a16:creationId xmlns:a16="http://schemas.microsoft.com/office/drawing/2014/main" id="{89F91398-AF5C-4841-A139-3CE2FC2EC9DF}"/>
              </a:ext>
            </a:extLst>
          </p:cNvPr>
          <p:cNvSpPr>
            <a:spLocks xmlns:a="http://schemas.openxmlformats.org/drawingml/2006/main" noGrp="1"/>
          </p:cNvSpPr>
          <p:nvPr/>
        </p:nvSpPr>
        <p:spPr>
          <a:xfrm xmlns:a="http://schemas.openxmlformats.org/drawingml/2006/main">
            <a:off x="6537960" y="2834640"/>
            <a:ext cx="4846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B2A41"/>
                </a:solidFill>
                <a:latin typeface="Cambria"/>
                <a:ea typeface="Cambria"/>
                <a:cs typeface="Cambria"/>
              </a:rPr>
              <a:t>Trends</a:t>
            </a:r>
            <a:endParaRPr sz="1800"/>
          </a:p>
        </p:txBody>
      </p:sp>
      <p:sp>
        <p:nvSpPr>
          <p:cNvPr id="14" name="Text 12">
            <a:extLst xmlns:a="http://schemas.openxmlformats.org/drawingml/2006/main">
              <a:ext uri="{FF2B5EF4-FFF2-40B4-BE49-F238E27FC236}">
                <a16:creationId xmlns:a16="http://schemas.microsoft.com/office/drawing/2014/main" id="{AAD088F4-ED62-42CD-B6ED-D531CD3C717A}"/>
              </a:ext>
            </a:extLst>
          </p:cNvPr>
          <p:cNvSpPr>
            <a:spLocks xmlns:a="http://schemas.openxmlformats.org/drawingml/2006/main" noGrp="1"/>
          </p:cNvSpPr>
          <p:nvPr/>
        </p:nvSpPr>
        <p:spPr>
          <a:xfrm xmlns:a="http://schemas.openxmlformats.org/drawingml/2006/main">
            <a:off x="6537960" y="327355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F2933"/>
                </a:solidFill>
                <a:latin typeface="Calibri"/>
                <a:ea typeface="Calibri"/>
                <a:cs typeface="Calibri"/>
              </a:rPr>
              <a:t>Postings by month, from May 2023 onward</a:t>
            </a:r>
            <a:endParaRPr sz="1400"/>
          </a:p>
        </p:txBody>
      </p:sp>
      <p:sp>
        <p:nvSpPr>
          <p:cNvPr id="15" name="Shape 13">
            <a:extLst xmlns:a="http://schemas.openxmlformats.org/drawingml/2006/main">
              <a:ext uri="{FF2B5EF4-FFF2-40B4-BE49-F238E27FC236}">
                <a16:creationId xmlns:a16="http://schemas.microsoft.com/office/drawing/2014/main" id="{D9FA4400-A4A2-4E66-AFBD-2835C501204D}"/>
              </a:ext>
            </a:extLst>
          </p:cNvPr>
          <p:cNvSpPr>
            <a:spLocks xmlns:a="http://schemas.openxmlformats.org/drawingml/2006/main" noGrp="1"/>
          </p:cNvSpPr>
          <p:nvPr/>
        </p:nvSpPr>
        <p:spPr>
          <a:xfrm xmlns:a="http://schemas.openxmlformats.org/drawingml/2006/main">
            <a:off x="548640" y="3895344"/>
            <a:ext cx="5349240" cy="1024128"/>
          </a:xfrm>
          <a:prstGeom xmlns:a="http://schemas.openxmlformats.org/drawingml/2006/main" prst="roundRect">
            <a:avLst>
              <a:gd name="adj" fmla="val 10714"/>
            </a:avLst>
          </a:prstGeom>
          <a:solidFill xmlns:a="http://schemas.openxmlformats.org/drawingml/2006/main">
            <a:srgbClr val="EEF3F6"/>
          </a:solidFill>
          <a:ln xmlns:a="http://schemas.openxmlformats.org/drawingml/2006/main" w="12700">
            <a:solidFill>
              <a:srgbClr val="EEF3F6"/>
            </a:solidFill>
            <a:prstDash val="solid"/>
          </a:ln>
        </p:spPr>
      </p:sp>
      <p:sp>
        <p:nvSpPr>
          <p:cNvPr id="16" name="Text 14">
            <a:extLst xmlns:a="http://schemas.openxmlformats.org/drawingml/2006/main">
              <a:ext uri="{FF2B5EF4-FFF2-40B4-BE49-F238E27FC236}">
                <a16:creationId xmlns:a16="http://schemas.microsoft.com/office/drawing/2014/main" id="{5B6F7511-F72B-4F0C-9C7D-07C87E61F4B9}"/>
              </a:ext>
            </a:extLst>
          </p:cNvPr>
          <p:cNvSpPr>
            <a:spLocks xmlns:a="http://schemas.openxmlformats.org/drawingml/2006/main" noGrp="1"/>
          </p:cNvSpPr>
          <p:nvPr/>
        </p:nvSpPr>
        <p:spPr>
          <a:xfrm xmlns:a="http://schemas.openxmlformats.org/drawingml/2006/main">
            <a:off x="822960" y="4005072"/>
            <a:ext cx="4846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B2A41"/>
                </a:solidFill>
                <a:latin typeface="Cambria"/>
                <a:ea typeface="Cambria"/>
                <a:cs typeface="Cambria"/>
              </a:rPr>
              <a:t>Demand vs competition</a:t>
            </a:r>
            <a:endParaRPr sz="1800"/>
          </a:p>
        </p:txBody>
      </p:sp>
      <p:sp>
        <p:nvSpPr>
          <p:cNvPr id="17" name="Text 15">
            <a:extLst xmlns:a="http://schemas.openxmlformats.org/drawingml/2006/main">
              <a:ext uri="{FF2B5EF4-FFF2-40B4-BE49-F238E27FC236}">
                <a16:creationId xmlns:a16="http://schemas.microsoft.com/office/drawing/2014/main" id="{D1EFCFB9-E98E-42ED-8EBA-5B40C6F5E9D4}"/>
              </a:ext>
            </a:extLst>
          </p:cNvPr>
          <p:cNvSpPr>
            <a:spLocks xmlns:a="http://schemas.openxmlformats.org/drawingml/2006/main" noGrp="1"/>
          </p:cNvSpPr>
          <p:nvPr/>
        </p:nvSpPr>
        <p:spPr>
          <a:xfrm xmlns:a="http://schemas.openxmlformats.org/drawingml/2006/main">
            <a:off x="822960" y="4443984"/>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F2933"/>
                </a:solidFill>
                <a:latin typeface="Calibri"/>
                <a:ea typeface="Calibri"/>
                <a:cs typeface="Calibri"/>
              </a:rPr>
              <a:t>Postings against applications per vacancy</a:t>
            </a:r>
            <a:endParaRPr sz="1400"/>
          </a:p>
        </p:txBody>
      </p:sp>
      <p:sp>
        <p:nvSpPr>
          <p:cNvPr id="18" name="Shape 16">
            <a:extLst xmlns:a="http://schemas.openxmlformats.org/drawingml/2006/main">
              <a:ext uri="{FF2B5EF4-FFF2-40B4-BE49-F238E27FC236}">
                <a16:creationId xmlns:a16="http://schemas.microsoft.com/office/drawing/2014/main" id="{D2A960C1-5622-4899-952F-E7F81C22E514}"/>
              </a:ext>
            </a:extLst>
          </p:cNvPr>
          <p:cNvSpPr>
            <a:spLocks xmlns:a="http://schemas.openxmlformats.org/drawingml/2006/main" noGrp="1"/>
          </p:cNvSpPr>
          <p:nvPr/>
        </p:nvSpPr>
        <p:spPr>
          <a:xfrm xmlns:a="http://schemas.openxmlformats.org/drawingml/2006/main">
            <a:off x="6263640" y="3895344"/>
            <a:ext cx="5349240" cy="1024128"/>
          </a:xfrm>
          <a:prstGeom xmlns:a="http://schemas.openxmlformats.org/drawingml/2006/main" prst="roundRect">
            <a:avLst>
              <a:gd name="adj" fmla="val 10714"/>
            </a:avLst>
          </a:prstGeom>
          <a:solidFill xmlns:a="http://schemas.openxmlformats.org/drawingml/2006/main">
            <a:srgbClr val="EEF3F6"/>
          </a:solidFill>
          <a:ln xmlns:a="http://schemas.openxmlformats.org/drawingml/2006/main" w="12700">
            <a:solidFill>
              <a:srgbClr val="EEF3F6"/>
            </a:solidFill>
            <a:prstDash val="solid"/>
          </a:ln>
        </p:spPr>
      </p:sp>
      <p:sp>
        <p:nvSpPr>
          <p:cNvPr id="19" name="Text 17">
            <a:extLst xmlns:a="http://schemas.openxmlformats.org/drawingml/2006/main">
              <a:ext uri="{FF2B5EF4-FFF2-40B4-BE49-F238E27FC236}">
                <a16:creationId xmlns:a16="http://schemas.microsoft.com/office/drawing/2014/main" id="{8D3A9B44-8569-4DE9-8D9D-CF0F25805358}"/>
              </a:ext>
            </a:extLst>
          </p:cNvPr>
          <p:cNvSpPr>
            <a:spLocks xmlns:a="http://schemas.openxmlformats.org/drawingml/2006/main" noGrp="1"/>
          </p:cNvSpPr>
          <p:nvPr/>
        </p:nvSpPr>
        <p:spPr>
          <a:xfrm xmlns:a="http://schemas.openxmlformats.org/drawingml/2006/main">
            <a:off x="6537960" y="4005072"/>
            <a:ext cx="4846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B2A41"/>
                </a:solidFill>
                <a:latin typeface="Cambria"/>
                <a:ea typeface="Cambria"/>
                <a:cs typeface="Cambria"/>
              </a:rPr>
              <a:t>Skills</a:t>
            </a:r>
            <a:endParaRPr sz="1800"/>
          </a:p>
        </p:txBody>
      </p:sp>
      <p:sp>
        <p:nvSpPr>
          <p:cNvPr id="20" name="Text 18">
            <a:extLst xmlns:a="http://schemas.openxmlformats.org/drawingml/2006/main">
              <a:ext uri="{FF2B5EF4-FFF2-40B4-BE49-F238E27FC236}">
                <a16:creationId xmlns:a16="http://schemas.microsoft.com/office/drawing/2014/main" id="{03662AD7-ABC9-4192-A4D5-C68D3D5D5AE4}"/>
              </a:ext>
            </a:extLst>
          </p:cNvPr>
          <p:cNvSpPr>
            <a:spLocks xmlns:a="http://schemas.openxmlformats.org/drawingml/2006/main" noGrp="1"/>
          </p:cNvSpPr>
          <p:nvPr/>
        </p:nvSpPr>
        <p:spPr>
          <a:xfrm xmlns:a="http://schemas.openxmlformats.org/drawingml/2006/main">
            <a:off x="6537960" y="4443984"/>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F2933"/>
                </a:solidFill>
                <a:latin typeface="Calibri"/>
                <a:ea typeface="Calibri"/>
                <a:cs typeface="Calibri"/>
              </a:rPr>
              <a:t>Salary premium for title keywords</a:t>
            </a:r>
            <a:endParaRPr sz="1400"/>
          </a:p>
        </p:txBody>
      </p:sp>
      <p:sp>
        <p:nvSpPr>
          <p:cNvPr id="21" name="Shape 19">
            <a:extLst xmlns:a="http://schemas.openxmlformats.org/drawingml/2006/main">
              <a:ext uri="{FF2B5EF4-FFF2-40B4-BE49-F238E27FC236}">
                <a16:creationId xmlns:a16="http://schemas.microsoft.com/office/drawing/2014/main" id="{20927874-E67A-46FA-934C-957E60078E90}"/>
              </a:ext>
            </a:extLst>
          </p:cNvPr>
          <p:cNvSpPr>
            <a:spLocks xmlns:a="http://schemas.openxmlformats.org/drawingml/2006/main" noGrp="1"/>
          </p:cNvSpPr>
          <p:nvPr/>
        </p:nvSpPr>
        <p:spPr>
          <a:xfrm xmlns:a="http://schemas.openxmlformats.org/drawingml/2006/main">
            <a:off x="548640" y="5065776"/>
            <a:ext cx="5349240" cy="1024128"/>
          </a:xfrm>
          <a:prstGeom xmlns:a="http://schemas.openxmlformats.org/drawingml/2006/main" prst="roundRect">
            <a:avLst>
              <a:gd name="adj" fmla="val 10714"/>
            </a:avLst>
          </a:prstGeom>
          <a:solidFill xmlns:a="http://schemas.openxmlformats.org/drawingml/2006/main">
            <a:srgbClr val="EEF3F6"/>
          </a:solidFill>
          <a:ln xmlns:a="http://schemas.openxmlformats.org/drawingml/2006/main" w="12700">
            <a:solidFill>
              <a:srgbClr val="EEF3F6"/>
            </a:solidFill>
            <a:prstDash val="solid"/>
          </a:ln>
        </p:spPr>
      </p:sp>
      <p:sp>
        <p:nvSpPr>
          <p:cNvPr id="22" name="Text 20">
            <a:extLst xmlns:a="http://schemas.openxmlformats.org/drawingml/2006/main">
              <a:ext uri="{FF2B5EF4-FFF2-40B4-BE49-F238E27FC236}">
                <a16:creationId xmlns:a16="http://schemas.microsoft.com/office/drawing/2014/main" id="{F37D0E82-A3DA-401D-9E9B-7834004EA25B}"/>
              </a:ext>
            </a:extLst>
          </p:cNvPr>
          <p:cNvSpPr>
            <a:spLocks xmlns:a="http://schemas.openxmlformats.org/drawingml/2006/main" noGrp="1"/>
          </p:cNvSpPr>
          <p:nvPr/>
        </p:nvSpPr>
        <p:spPr>
          <a:xfrm xmlns:a="http://schemas.openxmlformats.org/drawingml/2006/main">
            <a:off x="822960" y="5175504"/>
            <a:ext cx="4846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B2A41"/>
                </a:solidFill>
                <a:latin typeface="Cambria"/>
                <a:ea typeface="Cambria"/>
                <a:cs typeface="Cambria"/>
              </a:rPr>
              <a:t>Career recommender</a:t>
            </a:r>
            <a:endParaRPr sz="1800"/>
          </a:p>
        </p:txBody>
      </p:sp>
      <p:sp>
        <p:nvSpPr>
          <p:cNvPr id="23" name="Text 21">
            <a:extLst xmlns:a="http://schemas.openxmlformats.org/drawingml/2006/main">
              <a:ext uri="{FF2B5EF4-FFF2-40B4-BE49-F238E27FC236}">
                <a16:creationId xmlns:a16="http://schemas.microsoft.com/office/drawing/2014/main" id="{D3AFF848-D37C-4ACC-BF89-8189FC3940C3}"/>
              </a:ext>
            </a:extLst>
          </p:cNvPr>
          <p:cNvSpPr>
            <a:spLocks xmlns:a="http://schemas.openxmlformats.org/drawingml/2006/main" noGrp="1"/>
          </p:cNvSpPr>
          <p:nvPr/>
        </p:nvSpPr>
        <p:spPr>
          <a:xfrm xmlns:a="http://schemas.openxmlformats.org/drawingml/2006/main">
            <a:off x="822960" y="5614416"/>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F2933"/>
                </a:solidFill>
                <a:latin typeface="Calibri"/>
                <a:ea typeface="Calibri"/>
                <a:cs typeface="Calibri"/>
              </a:rPr>
              <a:t>Rank career tracks by the weights you set</a:t>
            </a:r>
            <a:endParaRPr sz="1400"/>
          </a:p>
        </p:txBody>
      </p:sp>
      <p:sp>
        <p:nvSpPr>
          <p:cNvPr id="24" name="Shape 22">
            <a:extLst xmlns:a="http://schemas.openxmlformats.org/drawingml/2006/main">
              <a:ext uri="{FF2B5EF4-FFF2-40B4-BE49-F238E27FC236}">
                <a16:creationId xmlns:a16="http://schemas.microsoft.com/office/drawing/2014/main" id="{5269607E-E6D3-450D-8095-3D65C7C631A9}"/>
              </a:ext>
            </a:extLst>
          </p:cNvPr>
          <p:cNvSpPr>
            <a:spLocks xmlns:a="http://schemas.openxmlformats.org/drawingml/2006/main" noGrp="1"/>
          </p:cNvSpPr>
          <p:nvPr/>
        </p:nvSpPr>
        <p:spPr>
          <a:xfrm xmlns:a="http://schemas.openxmlformats.org/drawingml/2006/main">
            <a:off x="6263640" y="5065776"/>
            <a:ext cx="5349240" cy="1024128"/>
          </a:xfrm>
          <a:prstGeom xmlns:a="http://schemas.openxmlformats.org/drawingml/2006/main" prst="roundRect">
            <a:avLst>
              <a:gd name="adj" fmla="val 10714"/>
            </a:avLst>
          </a:prstGeom>
          <a:solidFill xmlns:a="http://schemas.openxmlformats.org/drawingml/2006/main">
            <a:srgbClr val="EEF3F6"/>
          </a:solidFill>
          <a:ln xmlns:a="http://schemas.openxmlformats.org/drawingml/2006/main" w="12700">
            <a:solidFill>
              <a:srgbClr val="EEF3F6"/>
            </a:solidFill>
            <a:prstDash val="solid"/>
          </a:ln>
        </p:spPr>
      </p:sp>
      <p:sp>
        <p:nvSpPr>
          <p:cNvPr id="25" name="Text 23">
            <a:extLst xmlns:a="http://schemas.openxmlformats.org/drawingml/2006/main">
              <a:ext uri="{FF2B5EF4-FFF2-40B4-BE49-F238E27FC236}">
                <a16:creationId xmlns:a16="http://schemas.microsoft.com/office/drawing/2014/main" id="{D7DB161D-7102-4CA3-A128-AE8A0920C320}"/>
              </a:ext>
            </a:extLst>
          </p:cNvPr>
          <p:cNvSpPr>
            <a:spLocks xmlns:a="http://schemas.openxmlformats.org/drawingml/2006/main" noGrp="1"/>
          </p:cNvSpPr>
          <p:nvPr/>
        </p:nvSpPr>
        <p:spPr>
          <a:xfrm xmlns:a="http://schemas.openxmlformats.org/drawingml/2006/main">
            <a:off x="6537960" y="5175504"/>
            <a:ext cx="4846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B2A41"/>
                </a:solidFill>
                <a:latin typeface="Cambria"/>
                <a:ea typeface="Cambria"/>
                <a:cs typeface="Cambria"/>
              </a:rPr>
              <a:t>Data quality</a:t>
            </a:r>
            <a:endParaRPr sz="1800"/>
          </a:p>
        </p:txBody>
      </p:sp>
      <p:sp>
        <p:nvSpPr>
          <p:cNvPr id="26" name="Text 24">
            <a:extLst xmlns:a="http://schemas.openxmlformats.org/drawingml/2006/main">
              <a:ext uri="{FF2B5EF4-FFF2-40B4-BE49-F238E27FC236}">
                <a16:creationId xmlns:a16="http://schemas.microsoft.com/office/drawing/2014/main" id="{97876198-1B51-4B08-9D34-88AC8A74E75D}"/>
              </a:ext>
            </a:extLst>
          </p:cNvPr>
          <p:cNvSpPr>
            <a:spLocks xmlns:a="http://schemas.openxmlformats.org/drawingml/2006/main" noGrp="1"/>
          </p:cNvSpPr>
          <p:nvPr/>
        </p:nvSpPr>
        <p:spPr>
          <a:xfrm xmlns:a="http://schemas.openxmlformats.org/drawingml/2006/main">
            <a:off x="6537960" y="5614416"/>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1F2933"/>
                </a:solidFill>
                <a:latin typeface="Calibri"/>
                <a:ea typeface="Calibri"/>
                <a:cs typeface="Calibri"/>
              </a:rPr>
              <a:t>Missing salaries, unreadable dates, duplicates</a:t>
            </a:r>
            <a:endParaRPr sz="1400"/>
          </a:p>
        </p:txBody>
      </p:sp>
      <p:sp>
        <p:nvSpPr>
          <p:cNvPr id="27" name="Text 25">
            <a:extLst xmlns:a="http://schemas.openxmlformats.org/drawingml/2006/main">
              <a:ext uri="{FF2B5EF4-FFF2-40B4-BE49-F238E27FC236}">
                <a16:creationId xmlns:a16="http://schemas.microsoft.com/office/drawing/2014/main" id="{3F1EDB23-2343-4831-9C44-BDA9DEB68ACD}"/>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11</a:t>
            </a:r>
            <a:endParaRPr sz="1000"/>
          </a:p>
        </p:txBody>
      </p:sp>
    </p:spTree>
    <p:extLst>
      <p:ext uri="{BB962C8B-B14F-4D97-AF65-F5344CB8AC3E}">
        <p14:creationId xmlns:p14="http://schemas.microsoft.com/office/powerpoint/2010/main" val="109027997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CA0D51-2CF4-412B-B3AF-320EAFA1CD94}"/>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Trends: steady volume from May 2023, then a sharp drop</a:t>
            </a:r>
            <a:endParaRPr sz="3000"/>
          </a:p>
        </p:txBody>
      </p:sp>
      <p:sp>
        <p:nvSpPr>
          <p:cNvPr id="4" name="Shape 1">
            <a:extLst xmlns:a="http://schemas.openxmlformats.org/drawingml/2006/main">
              <a:ext uri="{FF2B5EF4-FFF2-40B4-BE49-F238E27FC236}">
                <a16:creationId xmlns:a16="http://schemas.microsoft.com/office/drawing/2014/main" id="{C05FE14B-F61F-4816-95EF-F303CF6E1250}"/>
              </a:ext>
            </a:extLst>
          </p:cNvPr>
          <p:cNvSpPr>
            <a:spLocks xmlns:a="http://schemas.openxmlformats.org/drawingml/2006/main" noGrp="1"/>
          </p:cNvSpPr>
          <p:nvPr/>
        </p:nvSpPr>
        <p:spPr>
          <a:xfrm xmlns:a="http://schemas.openxmlformats.org/drawingml/2006/main">
            <a:off x="8595360" y="1737360"/>
            <a:ext cx="3017520" cy="4206240"/>
          </a:xfrm>
          <a:prstGeom xmlns:a="http://schemas.openxmlformats.org/drawingml/2006/main" prst="roundRect">
            <a:avLst>
              <a:gd name="adj" fmla="val 3636"/>
            </a:avLst>
          </a:prstGeom>
          <a:solidFill xmlns:a="http://schemas.openxmlformats.org/drawingml/2006/main">
            <a:srgbClr val="EEF3F6"/>
          </a:solidFill>
          <a:ln xmlns:a="http://schemas.openxmlformats.org/drawingml/2006/main" w="12700">
            <a:solidFill>
              <a:srgbClr val="EEF3F6"/>
            </a:solidFill>
            <a:prstDash val="solid"/>
          </a:ln>
        </p:spPr>
      </p:sp>
      <p:sp>
        <p:nvSpPr>
          <p:cNvPr id="5" name="Text 2">
            <a:extLst xmlns:a="http://schemas.openxmlformats.org/drawingml/2006/main">
              <a:ext uri="{FF2B5EF4-FFF2-40B4-BE49-F238E27FC236}">
                <a16:creationId xmlns:a16="http://schemas.microsoft.com/office/drawing/2014/main" id="{05D09E0C-9CCC-406F-A55A-E13D8DC74604}"/>
              </a:ext>
            </a:extLst>
          </p:cNvPr>
          <p:cNvSpPr>
            <a:spLocks xmlns:a="http://schemas.openxmlformats.org/drawingml/2006/main" noGrp="1"/>
          </p:cNvSpPr>
          <p:nvPr/>
        </p:nvSpPr>
        <p:spPr>
          <a:xfrm xmlns:a="http://schemas.openxmlformats.org/drawingml/2006/main">
            <a:off x="8869680" y="2011680"/>
            <a:ext cx="25603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Between about 58,000 and 79,000 postings a month from May 2023 to May 2024.</a:t>
            </a:r>
            <a:endParaRPr sz="1600"/>
          </a:p>
        </p:txBody>
      </p:sp>
      <p:sp>
        <p:nvSpPr>
          <p:cNvPr id="6" name="Text 3">
            <a:extLst xmlns:a="http://schemas.openxmlformats.org/drawingml/2006/main">
              <a:ext uri="{FF2B5EF4-FFF2-40B4-BE49-F238E27FC236}">
                <a16:creationId xmlns:a16="http://schemas.microsoft.com/office/drawing/2014/main" id="{4E0FD273-1258-40BE-AF79-AD12394AEB46}"/>
              </a:ext>
            </a:extLst>
          </p:cNvPr>
          <p:cNvSpPr>
            <a:spLocks xmlns:a="http://schemas.openxmlformats.org/drawingml/2006/main" noGrp="1"/>
          </p:cNvSpPr>
          <p:nvPr/>
        </p:nvSpPr>
        <p:spPr>
          <a:xfrm xmlns:a="http://schemas.openxmlformats.org/drawingml/2006/main">
            <a:off x="8869680" y="3566160"/>
            <a:ext cx="256032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1F2933"/>
                </a:solidFill>
                <a:latin typeface="Calibri"/>
                <a:ea typeface="Calibri"/>
                <a:cs typeface="Calibri"/>
              </a:rPr>
              <a:t>From June 2024 the count falls to about 10,000 to 17,000 a month. We have not confirmed the cause, so do not read it as a market slowdown.</a:t>
            </a:r>
            <a:endParaRPr sz="1600"/>
          </a:p>
        </p:txBody>
      </p:sp>
      <p:sp>
        <p:nvSpPr>
          <p:cNvPr id="7" name="Text 4">
            <a:extLst xmlns:a="http://schemas.openxmlformats.org/drawingml/2006/main">
              <a:ext uri="{FF2B5EF4-FFF2-40B4-BE49-F238E27FC236}">
                <a16:creationId xmlns:a16="http://schemas.microsoft.com/office/drawing/2014/main" id="{87EE54A8-01C1-4727-A30D-DF815762A1D8}"/>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12</a:t>
            </a:r>
            <a:endParaRPr sz="1000"/>
          </a:p>
        </p:txBody>
      </p:sp>
      <p:graphicFrame>
        <p:nvGraphicFramePr>
          <p:cNvPr id="8" name="Chart">
            <a:extLst xmlns:a="http://schemas.openxmlformats.org/drawingml/2006/main">
              <a:ext uri="{FF2B5EF4-FFF2-40B4-BE49-F238E27FC236}">
                <a16:creationId xmlns:a16="http://schemas.microsoft.com/office/drawing/2014/main" id="{C9CCDE76-DE55-4DCE-AAA7-170F7D7638F9}"/>
              </a:ext>
            </a:extLst>
          </p:cNvPr>
          <p:cNvGraphicFramePr/>
          <p:nvPr/>
        </p:nvGraphicFramePr>
        <p:xfrm>
          <a:off xmlns:a="http://schemas.openxmlformats.org/drawingml/2006/main" x="552450" y="1552575"/>
          <a:ext xmlns:a="http://schemas.openxmlformats.org/drawingml/2006/main" cx="7677150" cy="4572000"/>
        </p:xfrm>
        <a:graphic xmlns:a="http://schemas.openxmlformats.org/drawingml/2006/main">
          <a:graphicData uri="http://schemas.openxmlformats.org/drawingml/2006/chart">
            <c:chart xmlns:r="http://schemas.openxmlformats.org/officeDocument/2006/relationships" xmlns:c="http://schemas.openxmlformats.org/drawingml/2006/chart" r:id="Rbcd713baa6b543aa"/>
          </a:graphicData>
        </a:graphic>
      </p:graphicFrame>
    </p:spTree>
    <p:extLst>
      <p:ext uri="{BB962C8B-B14F-4D97-AF65-F5344CB8AC3E}">
        <p14:creationId xmlns:p14="http://schemas.microsoft.com/office/powerpoint/2010/main" val="26276333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7562CB-4630-4C79-9259-246CD73F59D9}"/>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Demand vs competition: where to look first</a:t>
            </a:r>
            <a:endParaRPr sz="3000"/>
          </a:p>
        </p:txBody>
      </p:sp>
      <p:sp>
        <p:nvSpPr>
          <p:cNvPr id="3" name="Shape 1">
            <a:extLst xmlns:a="http://schemas.openxmlformats.org/drawingml/2006/main">
              <a:ext uri="{FF2B5EF4-FFF2-40B4-BE49-F238E27FC236}">
                <a16:creationId xmlns:a16="http://schemas.microsoft.com/office/drawing/2014/main" id="{554B28DA-7C6A-4981-BBE8-565EA18DD4A4}"/>
              </a:ext>
            </a:extLst>
          </p:cNvPr>
          <p:cNvSpPr>
            <a:spLocks xmlns:a="http://schemas.openxmlformats.org/drawingml/2006/main" noGrp="1"/>
          </p:cNvSpPr>
          <p:nvPr/>
        </p:nvSpPr>
        <p:spPr>
          <a:xfrm xmlns:a="http://schemas.openxmlformats.org/drawingml/2006/main">
            <a:off x="548640" y="1645920"/>
            <a:ext cx="5349240" cy="3749040"/>
          </a:xfrm>
          <a:prstGeom xmlns:a="http://schemas.openxmlformats.org/drawingml/2006/main" prst="roundRect">
            <a:avLst>
              <a:gd name="adj" fmla="val 2927"/>
            </a:avLst>
          </a:prstGeom>
          <a:solidFill xmlns:a="http://schemas.openxmlformats.org/drawingml/2006/main">
            <a:srgbClr val="EEF3F6"/>
          </a:solidFill>
          <a:ln xmlns:a="http://schemas.openxmlformats.org/drawingml/2006/main" w="12700">
            <a:solidFill>
              <a:srgbClr val="EEF3F6"/>
            </a:solidFill>
            <a:prstDash val="solid"/>
          </a:ln>
        </p:spPr>
      </p:sp>
      <p:sp>
        <p:nvSpPr>
          <p:cNvPr id="4" name="Text 2">
            <a:extLst xmlns:a="http://schemas.openxmlformats.org/drawingml/2006/main">
              <a:ext uri="{FF2B5EF4-FFF2-40B4-BE49-F238E27FC236}">
                <a16:creationId xmlns:a16="http://schemas.microsoft.com/office/drawing/2014/main" id="{63640108-3514-48A3-8050-138EC1DE1ACF}"/>
              </a:ext>
            </a:extLst>
          </p:cNvPr>
          <p:cNvSpPr>
            <a:spLocks xmlns:a="http://schemas.openxmlformats.org/drawingml/2006/main" noGrp="1"/>
          </p:cNvSpPr>
          <p:nvPr/>
        </p:nvSpPr>
        <p:spPr>
          <a:xfrm xmlns:a="http://schemas.openxmlformats.org/drawingml/2006/main">
            <a:off x="822960" y="1828800"/>
            <a:ext cx="4846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2A9D8F"/>
                </a:solidFill>
                <a:latin typeface="Cambria"/>
                <a:ea typeface="Cambria"/>
                <a:cs typeface="Cambria"/>
              </a:rPr>
              <a:t>Big and open</a:t>
            </a:r>
            <a:endParaRPr sz="2200"/>
          </a:p>
        </p:txBody>
      </p:sp>
      <p:sp>
        <p:nvSpPr>
          <p:cNvPr id="5" name="Text 3">
            <a:extLst xmlns:a="http://schemas.openxmlformats.org/drawingml/2006/main">
              <a:ext uri="{FF2B5EF4-FFF2-40B4-BE49-F238E27FC236}">
                <a16:creationId xmlns:a16="http://schemas.microsoft.com/office/drawing/2014/main" id="{1DA5CE3E-33AB-417E-8D01-9628B9A266B9}"/>
              </a:ext>
            </a:extLst>
          </p:cNvPr>
          <p:cNvSpPr>
            <a:spLocks xmlns:a="http://schemas.openxmlformats.org/drawingml/2006/main" noGrp="1"/>
          </p:cNvSpPr>
          <p:nvPr/>
        </p:nvSpPr>
        <p:spPr>
          <a:xfrm xmlns:a="http://schemas.openxmlformats.org/drawingml/2006/main">
            <a:off x="822960" y="228600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B6770"/>
                </a:solidFill>
                <a:latin typeface="Calibri"/>
                <a:ea typeface="Calibri"/>
                <a:cs typeface="Calibri"/>
              </a:rPr>
              <a:t>Many postings, few applicants per seat</a:t>
            </a:r>
            <a:endParaRPr sz="1400"/>
          </a:p>
        </p:txBody>
      </p:sp>
      <p:sp>
        <p:nvSpPr>
          <p:cNvPr id="6" name="Text 4">
            <a:extLst xmlns:a="http://schemas.openxmlformats.org/drawingml/2006/main">
              <a:ext uri="{FF2B5EF4-FFF2-40B4-BE49-F238E27FC236}">
                <a16:creationId xmlns:a16="http://schemas.microsoft.com/office/drawing/2014/main" id="{7D73697C-826D-4256-ABE3-5E6589E23AF9}"/>
              </a:ext>
            </a:extLst>
          </p:cNvPr>
          <p:cNvSpPr>
            <a:spLocks xmlns:a="http://schemas.openxmlformats.org/drawingml/2006/main" noGrp="1"/>
          </p:cNvSpPr>
          <p:nvPr/>
        </p:nvSpPr>
        <p:spPr>
          <a:xfrm xmlns:a="http://schemas.openxmlformats.org/drawingml/2006/main">
            <a:off x="822960" y="2834640"/>
            <a:ext cx="484632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rgbClr val="1F2933"/>
                </a:solidFill>
                <a:latin typeface="Calibri"/>
                <a:ea typeface="Calibri"/>
                <a:cs typeface="Calibri"/>
              </a:rPr>
              <a:t>Customer Service: 111,785 postings, 0.48 per seat</a:t>
            </a:r>
            <a:endParaRPr sz="1700"/>
          </a:p>
          <a:p xmlns:a="http://schemas.openxmlformats.org/drawingml/2006/main">
            <a:pPr marL="0" indent="0">
              <a:buNone/>
            </a:pPr>
            <a:r>
              <a:rPr sz="1700">
                <a:solidFill>
                  <a:srgbClr val="1F2933"/>
                </a:solidFill>
                <a:latin typeface="Calibri"/>
                <a:ea typeface="Calibri"/>
                <a:cs typeface="Calibri"/>
              </a:rPr>
              <a:t>Sales / Retail: 105,067 postings, 0.52 per seat</a:t>
            </a:r>
            <a:endParaRPr sz="1700"/>
          </a:p>
          <a:p xmlns:a="http://schemas.openxmlformats.org/drawingml/2006/main">
            <a:pPr marL="0" indent="0">
              <a:buNone/>
            </a:pPr>
            <a:r>
              <a:rPr sz="1700">
                <a:solidFill>
                  <a:srgbClr val="1F2933"/>
                </a:solidFill>
                <a:latin typeface="Calibri"/>
                <a:ea typeface="Calibri"/>
                <a:cs typeface="Calibri"/>
              </a:rPr>
              <a:t>Healthcare / Pharmaceutical: 52,741 postings, 0.39 per seat</a:t>
            </a:r>
            <a:endParaRPr sz="1700"/>
          </a:p>
        </p:txBody>
      </p:sp>
      <p:sp>
        <p:nvSpPr>
          <p:cNvPr id="7" name="Shape 5">
            <a:extLst xmlns:a="http://schemas.openxmlformats.org/drawingml/2006/main">
              <a:ext uri="{FF2B5EF4-FFF2-40B4-BE49-F238E27FC236}">
                <a16:creationId xmlns:a16="http://schemas.microsoft.com/office/drawing/2014/main" id="{4E65E7BD-3D10-473D-BCF1-2E40739840BE}"/>
              </a:ext>
            </a:extLst>
          </p:cNvPr>
          <p:cNvSpPr>
            <a:spLocks xmlns:a="http://schemas.openxmlformats.org/drawingml/2006/main" noGrp="1"/>
          </p:cNvSpPr>
          <p:nvPr/>
        </p:nvSpPr>
        <p:spPr>
          <a:xfrm xmlns:a="http://schemas.openxmlformats.org/drawingml/2006/main">
            <a:off x="6309360" y="1645920"/>
            <a:ext cx="5349240" cy="3749040"/>
          </a:xfrm>
          <a:prstGeom xmlns:a="http://schemas.openxmlformats.org/drawingml/2006/main" prst="roundRect">
            <a:avLst>
              <a:gd name="adj" fmla="val 2927"/>
            </a:avLst>
          </a:prstGeom>
          <a:solidFill xmlns:a="http://schemas.openxmlformats.org/drawingml/2006/main">
            <a:srgbClr val="EEF3F6"/>
          </a:solidFill>
          <a:ln xmlns:a="http://schemas.openxmlformats.org/drawingml/2006/main" w="12700">
            <a:solidFill>
              <a:srgbClr val="EEF3F6"/>
            </a:solidFill>
            <a:prstDash val="solid"/>
          </a:ln>
        </p:spPr>
      </p:sp>
      <p:sp>
        <p:nvSpPr>
          <p:cNvPr id="8" name="Text 6">
            <a:extLst xmlns:a="http://schemas.openxmlformats.org/drawingml/2006/main">
              <a:ext uri="{FF2B5EF4-FFF2-40B4-BE49-F238E27FC236}">
                <a16:creationId xmlns:a16="http://schemas.microsoft.com/office/drawing/2014/main" id="{AC866FD7-511A-4F22-A9EB-5BB555054B9C}"/>
              </a:ext>
            </a:extLst>
          </p:cNvPr>
          <p:cNvSpPr>
            <a:spLocks xmlns:a="http://schemas.openxmlformats.org/drawingml/2006/main" noGrp="1"/>
          </p:cNvSpPr>
          <p:nvPr/>
        </p:nvSpPr>
        <p:spPr>
          <a:xfrm xmlns:a="http://schemas.openxmlformats.org/drawingml/2006/main">
            <a:off x="6583680" y="1828800"/>
            <a:ext cx="4846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E9A23B"/>
                </a:solidFill>
                <a:latin typeface="Cambria"/>
                <a:ea typeface="Cambria"/>
                <a:cs typeface="Cambria"/>
              </a:rPr>
              <a:t>Big and crowded</a:t>
            </a:r>
            <a:endParaRPr sz="2200"/>
          </a:p>
        </p:txBody>
      </p:sp>
      <p:sp>
        <p:nvSpPr>
          <p:cNvPr id="9" name="Text 7">
            <a:extLst xmlns:a="http://schemas.openxmlformats.org/drawingml/2006/main">
              <a:ext uri="{FF2B5EF4-FFF2-40B4-BE49-F238E27FC236}">
                <a16:creationId xmlns:a16="http://schemas.microsoft.com/office/drawing/2014/main" id="{16150E58-8A04-4BD0-98D8-633A1C14AFBE}"/>
              </a:ext>
            </a:extLst>
          </p:cNvPr>
          <p:cNvSpPr>
            <a:spLocks xmlns:a="http://schemas.openxmlformats.org/drawingml/2006/main" noGrp="1"/>
          </p:cNvSpPr>
          <p:nvPr/>
        </p:nvSpPr>
        <p:spPr>
          <a:xfrm xmlns:a="http://schemas.openxmlformats.org/drawingml/2006/main">
            <a:off x="6583680" y="228600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5B6770"/>
                </a:solidFill>
                <a:latin typeface="Calibri"/>
                <a:ea typeface="Calibri"/>
                <a:cs typeface="Calibri"/>
              </a:rPr>
              <a:t>Many postings, many applicants per seat</a:t>
            </a:r>
            <a:endParaRPr sz="1400"/>
          </a:p>
        </p:txBody>
      </p:sp>
      <p:sp>
        <p:nvSpPr>
          <p:cNvPr id="10" name="Text 8">
            <a:extLst xmlns:a="http://schemas.openxmlformats.org/drawingml/2006/main">
              <a:ext uri="{FF2B5EF4-FFF2-40B4-BE49-F238E27FC236}">
                <a16:creationId xmlns:a16="http://schemas.microsoft.com/office/drawing/2014/main" id="{FF698153-87AF-458E-9668-3D7A2628ACC9}"/>
              </a:ext>
            </a:extLst>
          </p:cNvPr>
          <p:cNvSpPr>
            <a:spLocks xmlns:a="http://schemas.openxmlformats.org/drawingml/2006/main" noGrp="1"/>
          </p:cNvSpPr>
          <p:nvPr/>
        </p:nvSpPr>
        <p:spPr>
          <a:xfrm xmlns:a="http://schemas.openxmlformats.org/drawingml/2006/main">
            <a:off x="6583680" y="2834640"/>
            <a:ext cx="484632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rgbClr val="1F2933"/>
                </a:solidFill>
                <a:latin typeface="Calibri"/>
                <a:ea typeface="Calibri"/>
                <a:cs typeface="Calibri"/>
              </a:rPr>
              <a:t>Banking and Finance: 62,000 postings, 1.70 per seat</a:t>
            </a:r>
            <a:endParaRPr sz="1700"/>
          </a:p>
          <a:p xmlns:a="http://schemas.openxmlformats.org/drawingml/2006/main">
            <a:pPr marL="0" indent="0">
              <a:buNone/>
            </a:pPr>
            <a:r>
              <a:rPr sz="1700">
                <a:solidFill>
                  <a:srgbClr val="1F2933"/>
                </a:solidFill>
                <a:latin typeface="Calibri"/>
                <a:ea typeface="Calibri"/>
                <a:cs typeface="Calibri"/>
              </a:rPr>
              <a:t>Marketing / Public Relations: 53,442 postings, 1.48 per seat</a:t>
            </a:r>
            <a:endParaRPr sz="1700"/>
          </a:p>
          <a:p xmlns:a="http://schemas.openxmlformats.org/drawingml/2006/main">
            <a:pPr marL="0" indent="0">
              <a:buNone/>
            </a:pPr>
            <a:r>
              <a:rPr sz="1700">
                <a:solidFill>
                  <a:srgbClr val="1F2933"/>
                </a:solidFill>
                <a:latin typeface="Calibri"/>
                <a:ea typeface="Calibri"/>
                <a:cs typeface="Calibri"/>
              </a:rPr>
              <a:t>Information Technology: 140,866 postings, 1.12 per seat</a:t>
            </a:r>
            <a:endParaRPr sz="1700"/>
          </a:p>
        </p:txBody>
      </p:sp>
      <p:sp>
        <p:nvSpPr>
          <p:cNvPr id="11" name="Text 9">
            <a:extLst xmlns:a="http://schemas.openxmlformats.org/drawingml/2006/main">
              <a:ext uri="{FF2B5EF4-FFF2-40B4-BE49-F238E27FC236}">
                <a16:creationId xmlns:a16="http://schemas.microsoft.com/office/drawing/2014/main" id="{BE244BBA-4C87-4F59-9D05-B33D71C959BC}"/>
              </a:ext>
            </a:extLst>
          </p:cNvPr>
          <p:cNvSpPr>
            <a:spLocks xmlns:a="http://schemas.openxmlformats.org/drawingml/2006/main" noGrp="1"/>
          </p:cNvSpPr>
          <p:nvPr/>
        </p:nvSpPr>
        <p:spPr>
          <a:xfrm xmlns:a="http://schemas.openxmlformats.org/drawingml/2006/main">
            <a:off x="548640" y="5577840"/>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5B6770"/>
                </a:solidFill>
                <a:latin typeface="Calibri"/>
                <a:ea typeface="Calibri"/>
                <a:cs typeface="Calibri"/>
              </a:rPr>
              <a:t>Splits are the medians of categories with at least 2,000 postings: 0.80 applications per vacancy and 20,221 postings. Categories with fewer postings are left out of the chart.</a:t>
            </a:r>
            <a:endParaRPr sz="1300"/>
          </a:p>
        </p:txBody>
      </p:sp>
      <p:sp>
        <p:nvSpPr>
          <p:cNvPr id="12" name="Text 10">
            <a:extLst xmlns:a="http://schemas.openxmlformats.org/drawingml/2006/main">
              <a:ext uri="{FF2B5EF4-FFF2-40B4-BE49-F238E27FC236}">
                <a16:creationId xmlns:a16="http://schemas.microsoft.com/office/drawing/2014/main" id="{5B8EC077-8BD8-431F-94BC-D9CCDF0C1602}"/>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13</a:t>
            </a:r>
            <a:endParaRPr sz="1000"/>
          </a:p>
        </p:txBody>
      </p:sp>
    </p:spTree>
    <p:extLst>
      <p:ext uri="{BB962C8B-B14F-4D97-AF65-F5344CB8AC3E}">
        <p14:creationId xmlns:p14="http://schemas.microsoft.com/office/powerpoint/2010/main" val="9737259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00E760D-C2AB-4F65-82E3-8568BE15FCB5}"/>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Skills: title keywords linked to pay</a:t>
            </a:r>
            <a:endParaRPr sz="3000"/>
          </a:p>
        </p:txBody>
      </p:sp>
      <p:sp>
        <p:nvSpPr>
          <p:cNvPr id="4" name="Shape 1">
            <a:extLst xmlns:a="http://schemas.openxmlformats.org/drawingml/2006/main">
              <a:ext uri="{FF2B5EF4-FFF2-40B4-BE49-F238E27FC236}">
                <a16:creationId xmlns:a16="http://schemas.microsoft.com/office/drawing/2014/main" id="{7E08B77D-DD70-4CBB-A36F-3D2123D47B77}"/>
              </a:ext>
            </a:extLst>
          </p:cNvPr>
          <p:cNvSpPr>
            <a:spLocks xmlns:a="http://schemas.openxmlformats.org/drawingml/2006/main" noGrp="1"/>
          </p:cNvSpPr>
          <p:nvPr/>
        </p:nvSpPr>
        <p:spPr>
          <a:xfrm xmlns:a="http://schemas.openxmlformats.org/drawingml/2006/main">
            <a:off x="7863840" y="1737360"/>
            <a:ext cx="3749040" cy="4206240"/>
          </a:xfrm>
          <a:prstGeom xmlns:a="http://schemas.openxmlformats.org/drawingml/2006/main" prst="roundRect">
            <a:avLst>
              <a:gd name="adj" fmla="val 2927"/>
            </a:avLst>
          </a:prstGeom>
          <a:solidFill xmlns:a="http://schemas.openxmlformats.org/drawingml/2006/main">
            <a:srgbClr val="EEF3F6"/>
          </a:solidFill>
          <a:ln xmlns:a="http://schemas.openxmlformats.org/drawingml/2006/main" w="12700">
            <a:solidFill>
              <a:srgbClr val="EEF3F6"/>
            </a:solidFill>
            <a:prstDash val="solid"/>
          </a:ln>
        </p:spPr>
      </p:sp>
      <p:sp>
        <p:nvSpPr>
          <p:cNvPr id="5" name="Text 2">
            <a:extLst xmlns:a="http://schemas.openxmlformats.org/drawingml/2006/main">
              <a:ext uri="{FF2B5EF4-FFF2-40B4-BE49-F238E27FC236}">
                <a16:creationId xmlns:a16="http://schemas.microsoft.com/office/drawing/2014/main" id="{E9403FBB-4613-4832-87C1-4ACE88F123AE}"/>
              </a:ext>
            </a:extLst>
          </p:cNvPr>
          <p:cNvSpPr>
            <a:spLocks xmlns:a="http://schemas.openxmlformats.org/drawingml/2006/main" noGrp="1"/>
          </p:cNvSpPr>
          <p:nvPr/>
        </p:nvSpPr>
        <p:spPr>
          <a:xfrm xmlns:a="http://schemas.openxmlformats.org/drawingml/2006/main">
            <a:off x="8138160" y="2011680"/>
            <a:ext cx="329184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1F2933"/>
                </a:solidFill>
                <a:latin typeface="Calibri"/>
                <a:ea typeface="Calibri"/>
                <a:cs typeface="Calibri"/>
              </a:rPr>
              <a:t>Postings with 'Machine learning / AI' in the title have a median of S$8,500, about 124% above the all-posting median.</a:t>
            </a:r>
            <a:endParaRPr sz="1500"/>
          </a:p>
        </p:txBody>
      </p:sp>
      <p:sp>
        <p:nvSpPr>
          <p:cNvPr id="6" name="Text 3">
            <a:extLst xmlns:a="http://schemas.openxmlformats.org/drawingml/2006/main">
              <a:ext uri="{FF2B5EF4-FFF2-40B4-BE49-F238E27FC236}">
                <a16:creationId xmlns:a16="http://schemas.microsoft.com/office/drawing/2014/main" id="{139266BE-5B5F-4C24-8664-CAD5C2F76163}"/>
              </a:ext>
            </a:extLst>
          </p:cNvPr>
          <p:cNvSpPr>
            <a:spLocks xmlns:a="http://schemas.openxmlformats.org/drawingml/2006/main" noGrp="1"/>
          </p:cNvSpPr>
          <p:nvPr/>
        </p:nvSpPr>
        <p:spPr>
          <a:xfrm xmlns:a="http://schemas.openxmlformats.org/drawingml/2006/main">
            <a:off x="8138160" y="4023360"/>
            <a:ext cx="329184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B6770"/>
                </a:solidFill>
                <a:latin typeface="Calibri"/>
                <a:ea typeface="Calibri"/>
                <a:cs typeface="Calibri"/>
              </a:rPr>
              <a:t>Skills are read from job titles only, so this is an association, not proof that learning the skill raises pay.</a:t>
            </a:r>
            <a:endParaRPr sz="1500"/>
          </a:p>
        </p:txBody>
      </p:sp>
      <p:sp>
        <p:nvSpPr>
          <p:cNvPr id="7" name="Text 4">
            <a:extLst xmlns:a="http://schemas.openxmlformats.org/drawingml/2006/main">
              <a:ext uri="{FF2B5EF4-FFF2-40B4-BE49-F238E27FC236}">
                <a16:creationId xmlns:a16="http://schemas.microsoft.com/office/drawing/2014/main" id="{AB841685-E991-41B2-8A7B-BFA4FA18B799}"/>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14</a:t>
            </a:r>
            <a:endParaRPr sz="1000"/>
          </a:p>
        </p:txBody>
      </p:sp>
      <p:graphicFrame>
        <p:nvGraphicFramePr>
          <p:cNvPr id="8" name="Chart">
            <a:extLst xmlns:a="http://schemas.openxmlformats.org/drawingml/2006/main">
              <a:ext uri="{FF2B5EF4-FFF2-40B4-BE49-F238E27FC236}">
                <a16:creationId xmlns:a16="http://schemas.microsoft.com/office/drawing/2014/main" id="{DF023F8A-79F1-42F8-B32F-D227BEB47764}"/>
              </a:ext>
            </a:extLst>
          </p:cNvPr>
          <p:cNvGraphicFramePr/>
          <p:nvPr/>
        </p:nvGraphicFramePr>
        <p:xfrm>
          <a:off xmlns:a="http://schemas.openxmlformats.org/drawingml/2006/main" x="552450" y="1647825"/>
          <a:ext xmlns:a="http://schemas.openxmlformats.org/drawingml/2006/main" cx="6953250" cy="4476750"/>
        </p:xfrm>
        <a:graphic xmlns:a="http://schemas.openxmlformats.org/drawingml/2006/main">
          <a:graphicData uri="http://schemas.openxmlformats.org/drawingml/2006/chart">
            <c:chart xmlns:r="http://schemas.openxmlformats.org/officeDocument/2006/relationships" xmlns:c="http://schemas.openxmlformats.org/drawingml/2006/chart" r:id="R57ae103e16fc4169"/>
          </a:graphicData>
        </a:graphic>
      </p:graphicFrame>
    </p:spTree>
    <p:extLst>
      <p:ext uri="{BB962C8B-B14F-4D97-AF65-F5344CB8AC3E}">
        <p14:creationId xmlns:p14="http://schemas.microsoft.com/office/powerpoint/2010/main" val="160062664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067F56-D866-437B-B6B1-71B11A7FFD31}"/>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Career recommender: example tracks at default weights</a:t>
            </a:r>
            <a:endParaRPr sz="3000"/>
          </a:p>
        </p:txBody>
      </p:sp>
      <p:sp>
        <p:nvSpPr>
          <p:cNvPr id="3" name="Shape 1">
            <a:extLst xmlns:a="http://schemas.openxmlformats.org/drawingml/2006/main">
              <a:ext uri="{FF2B5EF4-FFF2-40B4-BE49-F238E27FC236}">
                <a16:creationId xmlns:a16="http://schemas.microsoft.com/office/drawing/2014/main" id="{BE0080E1-EF2B-446B-B50C-491E9736B265}"/>
              </a:ext>
            </a:extLst>
          </p:cNvPr>
          <p:cNvSpPr>
            <a:spLocks xmlns:a="http://schemas.openxmlformats.org/drawingml/2006/main" noGrp="1"/>
          </p:cNvSpPr>
          <p:nvPr/>
        </p:nvSpPr>
        <p:spPr>
          <a:xfrm xmlns:a="http://schemas.openxmlformats.org/drawingml/2006/main">
            <a:off x="548640" y="1737360"/>
            <a:ext cx="11064240" cy="1143000"/>
          </a:xfrm>
          <a:prstGeom xmlns:a="http://schemas.openxmlformats.org/drawingml/2006/main" prst="roundRect">
            <a:avLst>
              <a:gd name="adj" fmla="val 9600"/>
            </a:avLst>
          </a:prstGeom>
          <a:solidFill xmlns:a="http://schemas.openxmlformats.org/drawingml/2006/main">
            <a:srgbClr val="EEF3F6"/>
          </a:solidFill>
          <a:ln xmlns:a="http://schemas.openxmlformats.org/drawingml/2006/main" w="12700">
            <a:solidFill>
              <a:srgbClr val="EEF3F6"/>
            </a:solidFill>
            <a:prstDash val="solid"/>
          </a:ln>
        </p:spPr>
      </p:sp>
      <p:sp>
        <p:nvSpPr>
          <p:cNvPr id="4" name="Text 2">
            <a:extLst xmlns:a="http://schemas.openxmlformats.org/drawingml/2006/main">
              <a:ext uri="{FF2B5EF4-FFF2-40B4-BE49-F238E27FC236}">
                <a16:creationId xmlns:a16="http://schemas.microsoft.com/office/drawing/2014/main" id="{9990F542-A765-4A32-972C-007B1C052F63}"/>
              </a:ext>
            </a:extLst>
          </p:cNvPr>
          <p:cNvSpPr>
            <a:spLocks xmlns:a="http://schemas.openxmlformats.org/drawingml/2006/main" noGrp="1"/>
          </p:cNvSpPr>
          <p:nvPr/>
        </p:nvSpPr>
        <p:spPr>
          <a:xfrm xmlns:a="http://schemas.openxmlformats.org/drawingml/2006/main">
            <a:off x="822960" y="1874520"/>
            <a:ext cx="7863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B2A41"/>
                </a:solidFill>
                <a:latin typeface="Cambria"/>
                <a:ea typeface="Cambria"/>
                <a:cs typeface="Cambria"/>
              </a:rPr>
              <a:t>Information Technology · Mid</a:t>
            </a:r>
            <a:endParaRPr sz="2200"/>
          </a:p>
        </p:txBody>
      </p:sp>
      <p:sp>
        <p:nvSpPr>
          <p:cNvPr id="5" name="Text 3">
            <a:extLst xmlns:a="http://schemas.openxmlformats.org/drawingml/2006/main">
              <a:ext uri="{FF2B5EF4-FFF2-40B4-BE49-F238E27FC236}">
                <a16:creationId xmlns:a16="http://schemas.microsoft.com/office/drawing/2014/main" id="{4D6CB31E-D612-4B12-9BC9-8C354786812D}"/>
              </a:ext>
            </a:extLst>
          </p:cNvPr>
          <p:cNvSpPr>
            <a:spLocks xmlns:a="http://schemas.openxmlformats.org/drawingml/2006/main" noGrp="1"/>
          </p:cNvSpPr>
          <p:nvPr/>
        </p:nvSpPr>
        <p:spPr>
          <a:xfrm xmlns:a="http://schemas.openxmlformats.org/drawingml/2006/main">
            <a:off x="822960" y="2395728"/>
            <a:ext cx="8229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B6770"/>
                </a:solidFill>
                <a:latin typeface="Calibri"/>
                <a:ea typeface="Calibri"/>
                <a:cs typeface="Calibri"/>
              </a:rPr>
              <a:t>72,757 postings · median S$6,500 · 0.91 applications per seat</a:t>
            </a:r>
            <a:endParaRPr sz="1500"/>
          </a:p>
        </p:txBody>
      </p:sp>
      <p:sp>
        <p:nvSpPr>
          <p:cNvPr id="6" name="Text 4">
            <a:extLst xmlns:a="http://schemas.openxmlformats.org/drawingml/2006/main">
              <a:ext uri="{FF2B5EF4-FFF2-40B4-BE49-F238E27FC236}">
                <a16:creationId xmlns:a16="http://schemas.microsoft.com/office/drawing/2014/main" id="{082B7940-7548-40C5-88A9-0D6F8DF25A03}"/>
              </a:ext>
            </a:extLst>
          </p:cNvPr>
          <p:cNvSpPr>
            <a:spLocks xmlns:a="http://schemas.openxmlformats.org/drawingml/2006/main" noGrp="1"/>
          </p:cNvSpPr>
          <p:nvPr/>
        </p:nvSpPr>
        <p:spPr>
          <a:xfrm xmlns:a="http://schemas.openxmlformats.org/drawingml/2006/main">
            <a:off x="9052560" y="1920240"/>
            <a:ext cx="2286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3000" b="1">
                <a:solidFill>
                  <a:srgbClr val="2A9D8F"/>
                </a:solidFill>
                <a:latin typeface="Cambria"/>
                <a:ea typeface="Cambria"/>
                <a:cs typeface="Cambria"/>
              </a:rPr>
              <a:t>Fit 73</a:t>
            </a:r>
            <a:endParaRPr sz="3000"/>
          </a:p>
        </p:txBody>
      </p:sp>
      <p:sp>
        <p:nvSpPr>
          <p:cNvPr id="7" name="Shape 5">
            <a:extLst xmlns:a="http://schemas.openxmlformats.org/drawingml/2006/main">
              <a:ext uri="{FF2B5EF4-FFF2-40B4-BE49-F238E27FC236}">
                <a16:creationId xmlns:a16="http://schemas.microsoft.com/office/drawing/2014/main" id="{0EFE2285-C65F-4105-AAB8-9F559C8477AE}"/>
              </a:ext>
            </a:extLst>
          </p:cNvPr>
          <p:cNvSpPr>
            <a:spLocks xmlns:a="http://schemas.openxmlformats.org/drawingml/2006/main" noGrp="1"/>
          </p:cNvSpPr>
          <p:nvPr/>
        </p:nvSpPr>
        <p:spPr>
          <a:xfrm xmlns:a="http://schemas.openxmlformats.org/drawingml/2006/main">
            <a:off x="548640" y="3108960"/>
            <a:ext cx="11064240" cy="1143000"/>
          </a:xfrm>
          <a:prstGeom xmlns:a="http://schemas.openxmlformats.org/drawingml/2006/main" prst="roundRect">
            <a:avLst>
              <a:gd name="adj" fmla="val 9600"/>
            </a:avLst>
          </a:prstGeom>
          <a:solidFill xmlns:a="http://schemas.openxmlformats.org/drawingml/2006/main">
            <a:srgbClr val="EEF3F6"/>
          </a:solidFill>
          <a:ln xmlns:a="http://schemas.openxmlformats.org/drawingml/2006/main" w="12700">
            <a:solidFill>
              <a:srgbClr val="EEF3F6"/>
            </a:solidFill>
            <a:prstDash val="solid"/>
          </a:ln>
        </p:spPr>
      </p:sp>
      <p:sp>
        <p:nvSpPr>
          <p:cNvPr id="8" name="Text 6">
            <a:extLst xmlns:a="http://schemas.openxmlformats.org/drawingml/2006/main">
              <a:ext uri="{FF2B5EF4-FFF2-40B4-BE49-F238E27FC236}">
                <a16:creationId xmlns:a16="http://schemas.microsoft.com/office/drawing/2014/main" id="{628CFB88-ADF5-4646-8771-FDC1265D742D}"/>
              </a:ext>
            </a:extLst>
          </p:cNvPr>
          <p:cNvSpPr>
            <a:spLocks xmlns:a="http://schemas.openxmlformats.org/drawingml/2006/main" noGrp="1"/>
          </p:cNvSpPr>
          <p:nvPr/>
        </p:nvSpPr>
        <p:spPr>
          <a:xfrm xmlns:a="http://schemas.openxmlformats.org/drawingml/2006/main">
            <a:off x="822960" y="3246120"/>
            <a:ext cx="7863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B2A41"/>
                </a:solidFill>
                <a:latin typeface="Cambria"/>
                <a:ea typeface="Cambria"/>
                <a:cs typeface="Cambria"/>
              </a:rPr>
              <a:t>Sales / Retail · Junior</a:t>
            </a:r>
            <a:endParaRPr sz="2200"/>
          </a:p>
        </p:txBody>
      </p:sp>
      <p:sp>
        <p:nvSpPr>
          <p:cNvPr id="9" name="Text 7">
            <a:extLst xmlns:a="http://schemas.openxmlformats.org/drawingml/2006/main">
              <a:ext uri="{FF2B5EF4-FFF2-40B4-BE49-F238E27FC236}">
                <a16:creationId xmlns:a16="http://schemas.microsoft.com/office/drawing/2014/main" id="{002FCAC5-95C9-4BB7-B5F7-E7D9ED1BF4FC}"/>
              </a:ext>
            </a:extLst>
          </p:cNvPr>
          <p:cNvSpPr>
            <a:spLocks xmlns:a="http://schemas.openxmlformats.org/drawingml/2006/main" noGrp="1"/>
          </p:cNvSpPr>
          <p:nvPr/>
        </p:nvSpPr>
        <p:spPr>
          <a:xfrm xmlns:a="http://schemas.openxmlformats.org/drawingml/2006/main">
            <a:off x="822960" y="3767328"/>
            <a:ext cx="8229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B6770"/>
                </a:solidFill>
                <a:latin typeface="Calibri"/>
                <a:ea typeface="Calibri"/>
                <a:cs typeface="Calibri"/>
              </a:rPr>
              <a:t>18,967 postings · median S$3,250 · 98% ask for 3 years or less</a:t>
            </a:r>
            <a:endParaRPr sz="1500"/>
          </a:p>
        </p:txBody>
      </p:sp>
      <p:sp>
        <p:nvSpPr>
          <p:cNvPr id="10" name="Text 8">
            <a:extLst xmlns:a="http://schemas.openxmlformats.org/drawingml/2006/main">
              <a:ext uri="{FF2B5EF4-FFF2-40B4-BE49-F238E27FC236}">
                <a16:creationId xmlns:a16="http://schemas.microsoft.com/office/drawing/2014/main" id="{3DF40D79-3005-4292-A641-C329A49FE221}"/>
              </a:ext>
            </a:extLst>
          </p:cNvPr>
          <p:cNvSpPr>
            <a:spLocks xmlns:a="http://schemas.openxmlformats.org/drawingml/2006/main" noGrp="1"/>
          </p:cNvSpPr>
          <p:nvPr/>
        </p:nvSpPr>
        <p:spPr>
          <a:xfrm xmlns:a="http://schemas.openxmlformats.org/drawingml/2006/main">
            <a:off x="9052560" y="3291840"/>
            <a:ext cx="2286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3000" b="1">
                <a:solidFill>
                  <a:srgbClr val="2A9D8F"/>
                </a:solidFill>
                <a:latin typeface="Cambria"/>
                <a:ea typeface="Cambria"/>
                <a:cs typeface="Cambria"/>
              </a:rPr>
              <a:t>Fit 72</a:t>
            </a:r>
            <a:endParaRPr sz="3000"/>
          </a:p>
        </p:txBody>
      </p:sp>
      <p:sp>
        <p:nvSpPr>
          <p:cNvPr id="11" name="Shape 9">
            <a:extLst xmlns:a="http://schemas.openxmlformats.org/drawingml/2006/main">
              <a:ext uri="{FF2B5EF4-FFF2-40B4-BE49-F238E27FC236}">
                <a16:creationId xmlns:a16="http://schemas.microsoft.com/office/drawing/2014/main" id="{889F3BD8-8116-473A-B034-BFBDB36C6FE3}"/>
              </a:ext>
            </a:extLst>
          </p:cNvPr>
          <p:cNvSpPr>
            <a:spLocks xmlns:a="http://schemas.openxmlformats.org/drawingml/2006/main" noGrp="1"/>
          </p:cNvSpPr>
          <p:nvPr/>
        </p:nvSpPr>
        <p:spPr>
          <a:xfrm xmlns:a="http://schemas.openxmlformats.org/drawingml/2006/main">
            <a:off x="548640" y="4480560"/>
            <a:ext cx="11064240" cy="1143000"/>
          </a:xfrm>
          <a:prstGeom xmlns:a="http://schemas.openxmlformats.org/drawingml/2006/main" prst="roundRect">
            <a:avLst>
              <a:gd name="adj" fmla="val 9600"/>
            </a:avLst>
          </a:prstGeom>
          <a:solidFill xmlns:a="http://schemas.openxmlformats.org/drawingml/2006/main">
            <a:srgbClr val="EEF3F6"/>
          </a:solidFill>
          <a:ln xmlns:a="http://schemas.openxmlformats.org/drawingml/2006/main" w="12700">
            <a:solidFill>
              <a:srgbClr val="EEF3F6"/>
            </a:solidFill>
            <a:prstDash val="solid"/>
          </a:ln>
        </p:spPr>
      </p:sp>
      <p:sp>
        <p:nvSpPr>
          <p:cNvPr id="12" name="Text 10">
            <a:extLst xmlns:a="http://schemas.openxmlformats.org/drawingml/2006/main">
              <a:ext uri="{FF2B5EF4-FFF2-40B4-BE49-F238E27FC236}">
                <a16:creationId xmlns:a16="http://schemas.microsoft.com/office/drawing/2014/main" id="{4DBE7894-044D-43B5-BD52-9D3AD45B8ACA}"/>
              </a:ext>
            </a:extLst>
          </p:cNvPr>
          <p:cNvSpPr>
            <a:spLocks xmlns:a="http://schemas.openxmlformats.org/drawingml/2006/main" noGrp="1"/>
          </p:cNvSpPr>
          <p:nvPr/>
        </p:nvSpPr>
        <p:spPr>
          <a:xfrm xmlns:a="http://schemas.openxmlformats.org/drawingml/2006/main">
            <a:off x="822960" y="4617720"/>
            <a:ext cx="7863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B2A41"/>
                </a:solidFill>
                <a:latin typeface="Cambria"/>
                <a:ea typeface="Cambria"/>
                <a:cs typeface="Cambria"/>
              </a:rPr>
              <a:t>Healthcare / Pharmaceutical · Mid</a:t>
            </a:r>
            <a:endParaRPr sz="2200"/>
          </a:p>
        </p:txBody>
      </p:sp>
      <p:sp>
        <p:nvSpPr>
          <p:cNvPr id="13" name="Text 11">
            <a:extLst xmlns:a="http://schemas.openxmlformats.org/drawingml/2006/main">
              <a:ext uri="{FF2B5EF4-FFF2-40B4-BE49-F238E27FC236}">
                <a16:creationId xmlns:a16="http://schemas.microsoft.com/office/drawing/2014/main" id="{9D29D124-4D6F-430F-8438-F889A87C4D78}"/>
              </a:ext>
            </a:extLst>
          </p:cNvPr>
          <p:cNvSpPr>
            <a:spLocks xmlns:a="http://schemas.openxmlformats.org/drawingml/2006/main" noGrp="1"/>
          </p:cNvSpPr>
          <p:nvPr/>
        </p:nvSpPr>
        <p:spPr>
          <a:xfrm xmlns:a="http://schemas.openxmlformats.org/drawingml/2006/main">
            <a:off x="822960" y="5138928"/>
            <a:ext cx="8229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B6770"/>
                </a:solidFill>
                <a:latin typeface="Calibri"/>
                <a:ea typeface="Calibri"/>
                <a:cs typeface="Calibri"/>
              </a:rPr>
              <a:t>17,715 postings · median S$4,000 · 87% ask for 3 years or less</a:t>
            </a:r>
            <a:endParaRPr sz="1500"/>
          </a:p>
        </p:txBody>
      </p:sp>
      <p:sp>
        <p:nvSpPr>
          <p:cNvPr id="14" name="Text 12">
            <a:extLst xmlns:a="http://schemas.openxmlformats.org/drawingml/2006/main">
              <a:ext uri="{FF2B5EF4-FFF2-40B4-BE49-F238E27FC236}">
                <a16:creationId xmlns:a16="http://schemas.microsoft.com/office/drawing/2014/main" id="{F9242E19-5EDE-4249-A931-9F45DC3470C4}"/>
              </a:ext>
            </a:extLst>
          </p:cNvPr>
          <p:cNvSpPr>
            <a:spLocks xmlns:a="http://schemas.openxmlformats.org/drawingml/2006/main" noGrp="1"/>
          </p:cNvSpPr>
          <p:nvPr/>
        </p:nvSpPr>
        <p:spPr>
          <a:xfrm xmlns:a="http://schemas.openxmlformats.org/drawingml/2006/main">
            <a:off x="9052560" y="4663440"/>
            <a:ext cx="2286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3000" b="1">
                <a:solidFill>
                  <a:srgbClr val="2A9D8F"/>
                </a:solidFill>
                <a:latin typeface="Cambria"/>
                <a:ea typeface="Cambria"/>
                <a:cs typeface="Cambria"/>
              </a:rPr>
              <a:t>Fit 70</a:t>
            </a:r>
            <a:endParaRPr sz="3000"/>
          </a:p>
        </p:txBody>
      </p:sp>
      <p:sp>
        <p:nvSpPr>
          <p:cNvPr id="15" name="Text 13">
            <a:extLst xmlns:a="http://schemas.openxmlformats.org/drawingml/2006/main">
              <a:ext uri="{FF2B5EF4-FFF2-40B4-BE49-F238E27FC236}">
                <a16:creationId xmlns:a16="http://schemas.microsoft.com/office/drawing/2014/main" id="{0C37ED9C-77DE-425F-A8EC-C3732315B728}"/>
              </a:ext>
            </a:extLst>
          </p:cNvPr>
          <p:cNvSpPr>
            <a:spLocks xmlns:a="http://schemas.openxmlformats.org/drawingml/2006/main" noGrp="1"/>
          </p:cNvSpPr>
          <p:nvPr/>
        </p:nvSpPr>
        <p:spPr>
          <a:xfrm xmlns:a="http://schemas.openxmlformats.org/drawingml/2006/main">
            <a:off x="548640" y="5852160"/>
            <a:ext cx="11064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5B6770"/>
                </a:solidFill>
                <a:latin typeface="Calibri"/>
                <a:ea typeface="Calibri"/>
                <a:cs typeface="Calibri"/>
              </a:rPr>
              <a:t>Each track is one category and one seniority band. Factors: demand, pay, low competition, and ease of entry (share asking for 3 years or less). The user sets the weights. This is a guide, not a prediction of hiring.</a:t>
            </a:r>
            <a:endParaRPr sz="1300"/>
          </a:p>
        </p:txBody>
      </p:sp>
      <p:sp>
        <p:nvSpPr>
          <p:cNvPr id="16" name="Text 14">
            <a:extLst xmlns:a="http://schemas.openxmlformats.org/drawingml/2006/main">
              <a:ext uri="{FF2B5EF4-FFF2-40B4-BE49-F238E27FC236}">
                <a16:creationId xmlns:a16="http://schemas.microsoft.com/office/drawing/2014/main" id="{151D0118-C23F-45ED-9697-E5E7E80596CB}"/>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15</a:t>
            </a:r>
            <a:endParaRPr sz="1000"/>
          </a:p>
        </p:txBody>
      </p:sp>
    </p:spTree>
    <p:extLst>
      <p:ext uri="{BB962C8B-B14F-4D97-AF65-F5344CB8AC3E}">
        <p14:creationId xmlns:p14="http://schemas.microsoft.com/office/powerpoint/2010/main" val="184469940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C39E81D-9DE2-4445-8EE7-BDC3A88FC64A}"/>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What the data cannot tell us</a:t>
            </a:r>
            <a:endParaRPr sz="3000"/>
          </a:p>
        </p:txBody>
      </p:sp>
      <p:sp>
        <p:nvSpPr>
          <p:cNvPr id="3" name="Shape 1">
            <a:extLst xmlns:a="http://schemas.openxmlformats.org/drawingml/2006/main">
              <a:ext uri="{FF2B5EF4-FFF2-40B4-BE49-F238E27FC236}">
                <a16:creationId xmlns:a16="http://schemas.microsoft.com/office/drawing/2014/main" id="{9069869A-A45C-4FA5-87B5-38E8A7354CA6}"/>
              </a:ext>
            </a:extLst>
          </p:cNvPr>
          <p:cNvSpPr>
            <a:spLocks xmlns:a="http://schemas.openxmlformats.org/drawingml/2006/main" noGrp="1"/>
          </p:cNvSpPr>
          <p:nvPr/>
        </p:nvSpPr>
        <p:spPr>
          <a:xfrm xmlns:a="http://schemas.openxmlformats.org/drawingml/2006/main">
            <a:off x="548640" y="1737360"/>
            <a:ext cx="11064240" cy="1234440"/>
          </a:xfrm>
          <a:prstGeom xmlns:a="http://schemas.openxmlformats.org/drawingml/2006/main" prst="rect">
            <a:avLst/>
          </a:prstGeom>
          <a:solidFill xmlns:a="http://schemas.openxmlformats.org/drawingml/2006/main">
            <a:srgbClr val="EEF3F6"/>
          </a:solidFill>
          <a:ln xmlns:a="http://schemas.openxmlformats.org/drawingml/2006/main" w="12700">
            <a:solidFill>
              <a:srgbClr val="EEF3F6"/>
            </a:solidFill>
            <a:prstDash val="solid"/>
          </a:ln>
        </p:spPr>
      </p:sp>
      <p:sp>
        <p:nvSpPr>
          <p:cNvPr id="4" name="Text 2">
            <a:extLst xmlns:a="http://schemas.openxmlformats.org/drawingml/2006/main">
              <a:ext uri="{FF2B5EF4-FFF2-40B4-BE49-F238E27FC236}">
                <a16:creationId xmlns:a16="http://schemas.microsoft.com/office/drawing/2014/main" id="{2C064927-2F1B-4075-871F-544C2C911026}"/>
              </a:ext>
            </a:extLst>
          </p:cNvPr>
          <p:cNvSpPr>
            <a:spLocks xmlns:a="http://schemas.openxmlformats.org/drawingml/2006/main" noGrp="1"/>
          </p:cNvSpPr>
          <p:nvPr/>
        </p:nvSpPr>
        <p:spPr>
          <a:xfrm xmlns:a="http://schemas.openxmlformats.org/drawingml/2006/main">
            <a:off x="822960" y="1901952"/>
            <a:ext cx="10515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B2A41"/>
                </a:solidFill>
                <a:latin typeface="Cambria"/>
                <a:ea typeface="Cambria"/>
                <a:cs typeface="Cambria"/>
              </a:rPr>
              <a:t>Adverts are not hires</a:t>
            </a:r>
            <a:endParaRPr sz="2200"/>
          </a:p>
        </p:txBody>
      </p:sp>
      <p:sp>
        <p:nvSpPr>
          <p:cNvPr id="5" name="Text 3">
            <a:extLst xmlns:a="http://schemas.openxmlformats.org/drawingml/2006/main">
              <a:ext uri="{FF2B5EF4-FFF2-40B4-BE49-F238E27FC236}">
                <a16:creationId xmlns:a16="http://schemas.microsoft.com/office/drawing/2014/main" id="{2C1DE1C3-54C9-4175-A102-CF8E1D3BE2F8}"/>
              </a:ext>
            </a:extLst>
          </p:cNvPr>
          <p:cNvSpPr>
            <a:spLocks xmlns:a="http://schemas.openxmlformats.org/drawingml/2006/main" noGrp="1"/>
          </p:cNvSpPr>
          <p:nvPr/>
        </p:nvSpPr>
        <p:spPr>
          <a:xfrm xmlns:a="http://schemas.openxmlformats.org/drawingml/2006/main">
            <a:off x="822960" y="2377440"/>
            <a:ext cx="10515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rgbClr val="1F2933"/>
                </a:solidFill>
                <a:latin typeface="Calibri"/>
                <a:ea typeface="Calibri"/>
                <a:cs typeface="Calibri"/>
              </a:rPr>
              <a:t>The dashboard shows what employers advertised, not who was hired.</a:t>
            </a:r>
            <a:endParaRPr sz="1700"/>
          </a:p>
        </p:txBody>
      </p:sp>
      <p:sp>
        <p:nvSpPr>
          <p:cNvPr id="6" name="Shape 4">
            <a:extLst xmlns:a="http://schemas.openxmlformats.org/drawingml/2006/main">
              <a:ext uri="{FF2B5EF4-FFF2-40B4-BE49-F238E27FC236}">
                <a16:creationId xmlns:a16="http://schemas.microsoft.com/office/drawing/2014/main" id="{740E8822-8916-48EA-8634-1E51077B4AF3}"/>
              </a:ext>
            </a:extLst>
          </p:cNvPr>
          <p:cNvSpPr>
            <a:spLocks xmlns:a="http://schemas.openxmlformats.org/drawingml/2006/main" noGrp="1"/>
          </p:cNvSpPr>
          <p:nvPr/>
        </p:nvSpPr>
        <p:spPr>
          <a:xfrm xmlns:a="http://schemas.openxmlformats.org/drawingml/2006/main">
            <a:off x="548640" y="3200400"/>
            <a:ext cx="11064240" cy="1234440"/>
          </a:xfrm>
          <a:prstGeom xmlns:a="http://schemas.openxmlformats.org/drawingml/2006/main" prst="rect">
            <a:avLst/>
          </a:prstGeom>
          <a:solidFill xmlns:a="http://schemas.openxmlformats.org/drawingml/2006/main">
            <a:srgbClr val="EEF3F6"/>
          </a:solidFill>
          <a:ln xmlns:a="http://schemas.openxmlformats.org/drawingml/2006/main" w="12700">
            <a:solidFill>
              <a:srgbClr val="EEF3F6"/>
            </a:solidFill>
            <a:prstDash val="solid"/>
          </a:ln>
        </p:spPr>
      </p:sp>
      <p:sp>
        <p:nvSpPr>
          <p:cNvPr id="7" name="Text 5">
            <a:extLst xmlns:a="http://schemas.openxmlformats.org/drawingml/2006/main">
              <a:ext uri="{FF2B5EF4-FFF2-40B4-BE49-F238E27FC236}">
                <a16:creationId xmlns:a16="http://schemas.microsoft.com/office/drawing/2014/main" id="{B3F4EBDE-8BAD-4E95-A229-F9610C954F76}"/>
              </a:ext>
            </a:extLst>
          </p:cNvPr>
          <p:cNvSpPr>
            <a:spLocks xmlns:a="http://schemas.openxmlformats.org/drawingml/2006/main" noGrp="1"/>
          </p:cNvSpPr>
          <p:nvPr/>
        </p:nvSpPr>
        <p:spPr>
          <a:xfrm xmlns:a="http://schemas.openxmlformats.org/drawingml/2006/main">
            <a:off x="822960" y="3364992"/>
            <a:ext cx="10515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B2A41"/>
                </a:solidFill>
                <a:latin typeface="Cambria"/>
                <a:ea typeface="Cambria"/>
                <a:cs typeface="Cambria"/>
              </a:rPr>
              <a:t>Some data was not clean</a:t>
            </a:r>
            <a:endParaRPr sz="2200"/>
          </a:p>
        </p:txBody>
      </p:sp>
      <p:sp>
        <p:nvSpPr>
          <p:cNvPr id="8" name="Text 6">
            <a:extLst xmlns:a="http://schemas.openxmlformats.org/drawingml/2006/main">
              <a:ext uri="{FF2B5EF4-FFF2-40B4-BE49-F238E27FC236}">
                <a16:creationId xmlns:a16="http://schemas.microsoft.com/office/drawing/2014/main" id="{14FCAA93-B443-4220-82DA-7CEA49332C4E}"/>
              </a:ext>
            </a:extLst>
          </p:cNvPr>
          <p:cNvSpPr>
            <a:spLocks xmlns:a="http://schemas.openxmlformats.org/drawingml/2006/main" noGrp="1"/>
          </p:cNvSpPr>
          <p:nvPr/>
        </p:nvSpPr>
        <p:spPr>
          <a:xfrm xmlns:a="http://schemas.openxmlformats.org/drawingml/2006/main">
            <a:off x="822960" y="3840480"/>
            <a:ext cx="10515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rgbClr val="1F2933"/>
                </a:solidFill>
                <a:latin typeface="Calibri"/>
                <a:ea typeface="Calibri"/>
                <a:cs typeface="Calibri"/>
              </a:rPr>
              <a:t>Empty rows were removed, and many pay figures were zero or wrongly entered.</a:t>
            </a:r>
            <a:endParaRPr sz="1700"/>
          </a:p>
        </p:txBody>
      </p:sp>
      <p:sp>
        <p:nvSpPr>
          <p:cNvPr id="9" name="Shape 7">
            <a:extLst xmlns:a="http://schemas.openxmlformats.org/drawingml/2006/main">
              <a:ext uri="{FF2B5EF4-FFF2-40B4-BE49-F238E27FC236}">
                <a16:creationId xmlns:a16="http://schemas.microsoft.com/office/drawing/2014/main" id="{B46E1F7F-02A2-4AC1-AD62-4DEB43865E64}"/>
              </a:ext>
            </a:extLst>
          </p:cNvPr>
          <p:cNvSpPr>
            <a:spLocks xmlns:a="http://schemas.openxmlformats.org/drawingml/2006/main" noGrp="1"/>
          </p:cNvSpPr>
          <p:nvPr/>
        </p:nvSpPr>
        <p:spPr>
          <a:xfrm xmlns:a="http://schemas.openxmlformats.org/drawingml/2006/main">
            <a:off x="548640" y="4663440"/>
            <a:ext cx="11064240" cy="1234440"/>
          </a:xfrm>
          <a:prstGeom xmlns:a="http://schemas.openxmlformats.org/drawingml/2006/main" prst="rect">
            <a:avLst/>
          </a:prstGeom>
          <a:solidFill xmlns:a="http://schemas.openxmlformats.org/drawingml/2006/main">
            <a:srgbClr val="EEF3F6"/>
          </a:solidFill>
          <a:ln xmlns:a="http://schemas.openxmlformats.org/drawingml/2006/main" w="12700">
            <a:solidFill>
              <a:srgbClr val="EEF3F6"/>
            </a:solidFill>
            <a:prstDash val="solid"/>
          </a:ln>
        </p:spPr>
      </p:sp>
      <p:sp>
        <p:nvSpPr>
          <p:cNvPr id="10" name="Text 8">
            <a:extLst xmlns:a="http://schemas.openxmlformats.org/drawingml/2006/main">
              <a:ext uri="{FF2B5EF4-FFF2-40B4-BE49-F238E27FC236}">
                <a16:creationId xmlns:a16="http://schemas.microsoft.com/office/drawing/2014/main" id="{BE3D851B-ACF7-44F3-B218-6BDCD9F81A33}"/>
              </a:ext>
            </a:extLst>
          </p:cNvPr>
          <p:cNvSpPr>
            <a:spLocks xmlns:a="http://schemas.openxmlformats.org/drawingml/2006/main" noGrp="1"/>
          </p:cNvSpPr>
          <p:nvPr/>
        </p:nvSpPr>
        <p:spPr>
          <a:xfrm xmlns:a="http://schemas.openxmlformats.org/drawingml/2006/main">
            <a:off x="822960" y="4828032"/>
            <a:ext cx="10515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B2A41"/>
                </a:solidFill>
                <a:latin typeface="Cambria"/>
                <a:ea typeface="Cambria"/>
                <a:cs typeface="Cambria"/>
              </a:rPr>
              <a:t>Trends start in May 2023</a:t>
            </a:r>
            <a:endParaRPr sz="2200"/>
          </a:p>
        </p:txBody>
      </p:sp>
      <p:sp>
        <p:nvSpPr>
          <p:cNvPr id="11" name="Text 9">
            <a:extLst xmlns:a="http://schemas.openxmlformats.org/drawingml/2006/main">
              <a:ext uri="{FF2B5EF4-FFF2-40B4-BE49-F238E27FC236}">
                <a16:creationId xmlns:a16="http://schemas.microsoft.com/office/drawing/2014/main" id="{643C06F1-A1F6-40E4-8852-6388C8FEC901}"/>
              </a:ext>
            </a:extLst>
          </p:cNvPr>
          <p:cNvSpPr>
            <a:spLocks xmlns:a="http://schemas.openxmlformats.org/drawingml/2006/main" noGrp="1"/>
          </p:cNvSpPr>
          <p:nvPr/>
        </p:nvSpPr>
        <p:spPr>
          <a:xfrm xmlns:a="http://schemas.openxmlformats.org/drawingml/2006/main">
            <a:off x="822960" y="5303520"/>
            <a:ext cx="10515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rgbClr val="1F2933"/>
                </a:solidFill>
                <a:latin typeface="Calibri"/>
                <a:ea typeface="Calibri"/>
                <a:cs typeface="Calibri"/>
              </a:rPr>
              <a:t>Earlier view and application counts were recorded differently, and counts fall sharply after May 2024.</a:t>
            </a:r>
            <a:endParaRPr sz="1700"/>
          </a:p>
        </p:txBody>
      </p:sp>
      <p:sp>
        <p:nvSpPr>
          <p:cNvPr id="12" name="Text 10">
            <a:extLst xmlns:a="http://schemas.openxmlformats.org/drawingml/2006/main">
              <a:ext uri="{FF2B5EF4-FFF2-40B4-BE49-F238E27FC236}">
                <a16:creationId xmlns:a16="http://schemas.microsoft.com/office/drawing/2014/main" id="{96EDD182-3877-43EB-9C96-CC1D2251D879}"/>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16</a:t>
            </a:r>
            <a:endParaRPr sz="1000"/>
          </a:p>
        </p:txBody>
      </p:sp>
    </p:spTree>
    <p:extLst>
      <p:ext uri="{BB962C8B-B14F-4D97-AF65-F5344CB8AC3E}">
        <p14:creationId xmlns:p14="http://schemas.microsoft.com/office/powerpoint/2010/main" val="115361508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70A3AE-5DEF-4351-B4EB-29B6DA6E02D9}"/>
              </a:ext>
            </a:extLst>
          </p:cNvPr>
          <p:cNvSpPr>
            <a:spLocks xmlns:a="http://schemas.openxmlformats.org/drawingml/2006/main" noGrp="1"/>
          </p:cNvSpPr>
          <p:nvPr/>
        </p:nvSpPr>
        <p:spPr>
          <a:xfrm xmlns:a="http://schemas.openxmlformats.org/drawingml/2006/main">
            <a:off x="548640" y="411480"/>
            <a:ext cx="110642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B2A41"/>
                </a:solidFill>
                <a:latin typeface="Cambria"/>
                <a:ea typeface="Cambria"/>
                <a:cs typeface="Cambria"/>
              </a:rPr>
              <a:t>What we would do next</a:t>
            </a:r>
            <a:endParaRPr sz="3000"/>
          </a:p>
        </p:txBody>
      </p:sp>
      <p:sp>
        <p:nvSpPr>
          <p:cNvPr id="3" name="Shape 1">
            <a:extLst xmlns:a="http://schemas.openxmlformats.org/drawingml/2006/main">
              <a:ext uri="{FF2B5EF4-FFF2-40B4-BE49-F238E27FC236}">
                <a16:creationId xmlns:a16="http://schemas.microsoft.com/office/drawing/2014/main" id="{55E8F791-F65F-4A3C-B90E-FCE223D04567}"/>
              </a:ext>
            </a:extLst>
          </p:cNvPr>
          <p:cNvSpPr>
            <a:spLocks xmlns:a="http://schemas.openxmlformats.org/drawingml/2006/main" noGrp="1"/>
          </p:cNvSpPr>
          <p:nvPr/>
        </p:nvSpPr>
        <p:spPr>
          <a:xfrm xmlns:a="http://schemas.openxmlformats.org/drawingml/2006/main">
            <a:off x="548640" y="1828800"/>
            <a:ext cx="731520" cy="731520"/>
          </a:xfrm>
          <a:prstGeom xmlns:a="http://schemas.openxmlformats.org/drawingml/2006/main" prst="ellipse">
            <a:avLst/>
          </a:prstGeom>
          <a:solidFill xmlns:a="http://schemas.openxmlformats.org/drawingml/2006/main">
            <a:srgbClr val="2A9D8F"/>
          </a:solidFill>
          <a:ln xmlns:a="http://schemas.openxmlformats.org/drawingml/2006/main" w="12700">
            <a:solidFill>
              <a:srgbClr val="2A9D8F"/>
            </a:solidFill>
            <a:prstDash val="solid"/>
          </a:ln>
        </p:spPr>
      </p:sp>
      <p:sp>
        <p:nvSpPr>
          <p:cNvPr id="4" name="Text 2">
            <a:extLst xmlns:a="http://schemas.openxmlformats.org/drawingml/2006/main">
              <a:ext uri="{FF2B5EF4-FFF2-40B4-BE49-F238E27FC236}">
                <a16:creationId xmlns:a16="http://schemas.microsoft.com/office/drawing/2014/main" id="{780D3D53-5F9B-46D0-9023-1EFDDA850F75}"/>
              </a:ext>
            </a:extLst>
          </p:cNvPr>
          <p:cNvSpPr>
            <a:spLocks xmlns:a="http://schemas.openxmlformats.org/drawingml/2006/main" noGrp="1"/>
          </p:cNvSpPr>
          <p:nvPr/>
        </p:nvSpPr>
        <p:spPr>
          <a:xfrm xmlns:a="http://schemas.openxmlformats.org/drawingml/2006/main">
            <a:off x="548640" y="182880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1</a:t>
            </a:r>
            <a:endParaRPr sz="2200"/>
          </a:p>
        </p:txBody>
      </p:sp>
      <p:sp>
        <p:nvSpPr>
          <p:cNvPr id="5" name="Text 3">
            <a:extLst xmlns:a="http://schemas.openxmlformats.org/drawingml/2006/main">
              <a:ext uri="{FF2B5EF4-FFF2-40B4-BE49-F238E27FC236}">
                <a16:creationId xmlns:a16="http://schemas.microsoft.com/office/drawing/2014/main" id="{ECBC5630-7446-4B58-962E-591E88A6B89C}"/>
              </a:ext>
            </a:extLst>
          </p:cNvPr>
          <p:cNvSpPr>
            <a:spLocks xmlns:a="http://schemas.openxmlformats.org/drawingml/2006/main" noGrp="1"/>
          </p:cNvSpPr>
          <p:nvPr/>
        </p:nvSpPr>
        <p:spPr>
          <a:xfrm xmlns:a="http://schemas.openxmlformats.org/drawingml/2006/main">
            <a:off x="1645920" y="1920240"/>
            <a:ext cx="99669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1F2933"/>
                </a:solidFill>
                <a:latin typeface="Calibri"/>
                <a:ea typeface="Calibri"/>
                <a:cs typeface="Calibri"/>
              </a:rPr>
              <a:t>Confirm why posting counts fall after May 2024</a:t>
            </a:r>
            <a:endParaRPr sz="2200"/>
          </a:p>
        </p:txBody>
      </p:sp>
      <p:sp>
        <p:nvSpPr>
          <p:cNvPr id="6" name="Shape 4">
            <a:extLst xmlns:a="http://schemas.openxmlformats.org/drawingml/2006/main">
              <a:ext uri="{FF2B5EF4-FFF2-40B4-BE49-F238E27FC236}">
                <a16:creationId xmlns:a16="http://schemas.microsoft.com/office/drawing/2014/main" id="{27E32953-5B17-4A0F-A746-BD7E858EBD82}"/>
              </a:ext>
            </a:extLst>
          </p:cNvPr>
          <p:cNvSpPr>
            <a:spLocks xmlns:a="http://schemas.openxmlformats.org/drawingml/2006/main" noGrp="1"/>
          </p:cNvSpPr>
          <p:nvPr/>
        </p:nvSpPr>
        <p:spPr>
          <a:xfrm xmlns:a="http://schemas.openxmlformats.org/drawingml/2006/main">
            <a:off x="548640" y="3154680"/>
            <a:ext cx="731520" cy="731520"/>
          </a:xfrm>
          <a:prstGeom xmlns:a="http://schemas.openxmlformats.org/drawingml/2006/main" prst="ellipse">
            <a:avLst/>
          </a:prstGeom>
          <a:solidFill xmlns:a="http://schemas.openxmlformats.org/drawingml/2006/main">
            <a:srgbClr val="2A9D8F"/>
          </a:solidFill>
          <a:ln xmlns:a="http://schemas.openxmlformats.org/drawingml/2006/main" w="12700">
            <a:solidFill>
              <a:srgbClr val="2A9D8F"/>
            </a:solidFill>
            <a:prstDash val="solid"/>
          </a:ln>
        </p:spPr>
      </p:sp>
      <p:sp>
        <p:nvSpPr>
          <p:cNvPr id="7" name="Text 5">
            <a:extLst xmlns:a="http://schemas.openxmlformats.org/drawingml/2006/main">
              <a:ext uri="{FF2B5EF4-FFF2-40B4-BE49-F238E27FC236}">
                <a16:creationId xmlns:a16="http://schemas.microsoft.com/office/drawing/2014/main" id="{E3ECE55E-A3A5-4276-9C3A-A645E5419278}"/>
              </a:ext>
            </a:extLst>
          </p:cNvPr>
          <p:cNvSpPr>
            <a:spLocks xmlns:a="http://schemas.openxmlformats.org/drawingml/2006/main" noGrp="1"/>
          </p:cNvSpPr>
          <p:nvPr/>
        </p:nvSpPr>
        <p:spPr>
          <a:xfrm xmlns:a="http://schemas.openxmlformats.org/drawingml/2006/main">
            <a:off x="548640" y="315468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2</a:t>
            </a:r>
            <a:endParaRPr sz="2200"/>
          </a:p>
        </p:txBody>
      </p:sp>
      <p:sp>
        <p:nvSpPr>
          <p:cNvPr id="8" name="Text 6">
            <a:extLst xmlns:a="http://schemas.openxmlformats.org/drawingml/2006/main">
              <a:ext uri="{FF2B5EF4-FFF2-40B4-BE49-F238E27FC236}">
                <a16:creationId xmlns:a16="http://schemas.microsoft.com/office/drawing/2014/main" id="{3876E976-ED8E-4B0B-A26E-9FC442272357}"/>
              </a:ext>
            </a:extLst>
          </p:cNvPr>
          <p:cNvSpPr>
            <a:spLocks xmlns:a="http://schemas.openxmlformats.org/drawingml/2006/main" noGrp="1"/>
          </p:cNvSpPr>
          <p:nvPr/>
        </p:nvSpPr>
        <p:spPr>
          <a:xfrm xmlns:a="http://schemas.openxmlformats.org/drawingml/2006/main">
            <a:off x="1645920" y="3246120"/>
            <a:ext cx="99669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1F2933"/>
                </a:solidFill>
                <a:latin typeface="Calibri"/>
                <a:ea typeface="Calibri"/>
                <a:cs typeface="Calibri"/>
              </a:rPr>
              <a:t>Review the very high salaries one by one</a:t>
            </a:r>
            <a:endParaRPr sz="2200"/>
          </a:p>
        </p:txBody>
      </p:sp>
      <p:sp>
        <p:nvSpPr>
          <p:cNvPr id="9" name="Shape 7">
            <a:extLst xmlns:a="http://schemas.openxmlformats.org/drawingml/2006/main">
              <a:ext uri="{FF2B5EF4-FFF2-40B4-BE49-F238E27FC236}">
                <a16:creationId xmlns:a16="http://schemas.microsoft.com/office/drawing/2014/main" id="{583C5BB2-7A6B-4491-A7C5-412E092CEC75}"/>
              </a:ext>
            </a:extLst>
          </p:cNvPr>
          <p:cNvSpPr>
            <a:spLocks xmlns:a="http://schemas.openxmlformats.org/drawingml/2006/main" noGrp="1"/>
          </p:cNvSpPr>
          <p:nvPr/>
        </p:nvSpPr>
        <p:spPr>
          <a:xfrm xmlns:a="http://schemas.openxmlformats.org/drawingml/2006/main">
            <a:off x="548640" y="4480560"/>
            <a:ext cx="731520" cy="731520"/>
          </a:xfrm>
          <a:prstGeom xmlns:a="http://schemas.openxmlformats.org/drawingml/2006/main" prst="ellipse">
            <a:avLst/>
          </a:prstGeom>
          <a:solidFill xmlns:a="http://schemas.openxmlformats.org/drawingml/2006/main">
            <a:srgbClr val="2A9D8F"/>
          </a:solidFill>
          <a:ln xmlns:a="http://schemas.openxmlformats.org/drawingml/2006/main" w="12700">
            <a:solidFill>
              <a:srgbClr val="2A9D8F"/>
            </a:solidFill>
            <a:prstDash val="solid"/>
          </a:ln>
        </p:spPr>
      </p:sp>
      <p:sp>
        <p:nvSpPr>
          <p:cNvPr id="10" name="Text 8">
            <a:extLst xmlns:a="http://schemas.openxmlformats.org/drawingml/2006/main">
              <a:ext uri="{FF2B5EF4-FFF2-40B4-BE49-F238E27FC236}">
                <a16:creationId xmlns:a16="http://schemas.microsoft.com/office/drawing/2014/main" id="{EF284056-0215-4C8F-BB66-E9F631AAA57C}"/>
              </a:ext>
            </a:extLst>
          </p:cNvPr>
          <p:cNvSpPr>
            <a:spLocks xmlns:a="http://schemas.openxmlformats.org/drawingml/2006/main" noGrp="1"/>
          </p:cNvSpPr>
          <p:nvPr/>
        </p:nvSpPr>
        <p:spPr>
          <a:xfrm xmlns:a="http://schemas.openxmlformats.org/drawingml/2006/main">
            <a:off x="548640" y="448056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3</a:t>
            </a:r>
            <a:endParaRPr sz="2200"/>
          </a:p>
        </p:txBody>
      </p:sp>
      <p:sp>
        <p:nvSpPr>
          <p:cNvPr id="11" name="Text 9">
            <a:extLst xmlns:a="http://schemas.openxmlformats.org/drawingml/2006/main">
              <a:ext uri="{FF2B5EF4-FFF2-40B4-BE49-F238E27FC236}">
                <a16:creationId xmlns:a16="http://schemas.microsoft.com/office/drawing/2014/main" id="{9F909D84-1D85-4AFF-955A-63EB8066D921}"/>
              </a:ext>
            </a:extLst>
          </p:cNvPr>
          <p:cNvSpPr>
            <a:spLocks xmlns:a="http://schemas.openxmlformats.org/drawingml/2006/main" noGrp="1"/>
          </p:cNvSpPr>
          <p:nvPr/>
        </p:nvSpPr>
        <p:spPr>
          <a:xfrm xmlns:a="http://schemas.openxmlformats.org/drawingml/2006/main">
            <a:off x="1645920" y="4572000"/>
            <a:ext cx="99669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1F2933"/>
                </a:solidFill>
                <a:latin typeface="Calibri"/>
                <a:ea typeface="Calibri"/>
                <a:cs typeface="Calibri"/>
              </a:rPr>
              <a:t>Test the app on the full file and ask career coaches and job seekers to try it</a:t>
            </a:r>
            <a:endParaRPr sz="2200"/>
          </a:p>
        </p:txBody>
      </p:sp>
      <p:sp>
        <p:nvSpPr>
          <p:cNvPr id="12" name="Text 10">
            <a:extLst xmlns:a="http://schemas.openxmlformats.org/drawingml/2006/main">
              <a:ext uri="{FF2B5EF4-FFF2-40B4-BE49-F238E27FC236}">
                <a16:creationId xmlns:a16="http://schemas.microsoft.com/office/drawing/2014/main" id="{87996E07-D8CE-4A35-ABA7-838A2E67A485}"/>
              </a:ext>
            </a:extLst>
          </p:cNvPr>
          <p:cNvSpPr>
            <a:spLocks xmlns:a="http://schemas.openxmlformats.org/drawingml/2006/main" noGrp="1"/>
          </p:cNvSpPr>
          <p:nvPr/>
        </p:nvSpPr>
        <p:spPr>
          <a:xfrm xmlns:a="http://schemas.openxmlformats.org/drawingml/2006/main">
            <a:off x="548640" y="635508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B6770"/>
                </a:solidFill>
                <a:latin typeface="Calibri"/>
                <a:ea typeface="Calibri"/>
                <a:cs typeface="Calibri"/>
              </a:rPr>
              <a:t>Singapore Jobs Explorer  ·  17</a:t>
            </a:r>
            <a:endParaRPr sz="1000"/>
          </a:p>
        </p:txBody>
      </p:sp>
    </p:spTree>
    <p:extLst>
      <p:ext uri="{BB962C8B-B14F-4D97-AF65-F5344CB8AC3E}">
        <p14:creationId xmlns:p14="http://schemas.microsoft.com/office/powerpoint/2010/main" val="569654033"/>
      </p:ext>
    </p:extLst>
  </p:cSld>
</p:sld>
</file>

<file path=ppt/slides/slide18.xml><?xml version="1.0" encoding="utf-8"?>
<p:sld xmlns:p="http://schemas.openxmlformats.org/presentationml/2006/main">
  <p:cSld>
    <p:bg>
      <p:bgPr>
        <a:solidFill xmlns:a="http://schemas.openxmlformats.org/drawingml/2006/main">
          <a:srgbClr val="1B2A4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5C00A6-84C2-4BA9-B045-3D41E866682C}"/>
              </a:ext>
            </a:extLst>
          </p:cNvPr>
          <p:cNvSpPr>
            <a:spLocks xmlns:a="http://schemas.openxmlformats.org/drawingml/2006/main" noGrp="1"/>
          </p:cNvSpPr>
          <p:nvPr/>
        </p:nvSpPr>
        <p:spPr>
          <a:xfrm xmlns:a="http://schemas.openxmlformats.org/drawingml/2006/main">
            <a:off x="731520" y="2103120"/>
            <a:ext cx="106984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FFFFF"/>
                </a:solidFill>
                <a:latin typeface="Cambria"/>
                <a:ea typeface="Cambria"/>
                <a:cs typeface="Cambria"/>
              </a:rPr>
              <a:t>Thank you</a:t>
            </a:r>
            <a:endParaRPr sz="4800"/>
          </a:p>
        </p:txBody>
      </p:sp>
      <p:sp>
        <p:nvSpPr>
          <p:cNvPr id="3" name="Text 1">
            <a:extLst xmlns:a="http://schemas.openxmlformats.org/drawingml/2006/main">
              <a:ext uri="{FF2B5EF4-FFF2-40B4-BE49-F238E27FC236}">
                <a16:creationId xmlns:a16="http://schemas.microsoft.com/office/drawing/2014/main" id="{052B7D49-4312-4F82-B8F5-09F4EDE7CD4F}"/>
              </a:ext>
            </a:extLst>
          </p:cNvPr>
          <p:cNvSpPr>
            <a:spLocks xmlns:a="http://schemas.openxmlformats.org/drawingml/2006/main" noGrp="1"/>
          </p:cNvSpPr>
          <p:nvPr/>
        </p:nvSpPr>
        <p:spPr>
          <a:xfrm xmlns:a="http://schemas.openxmlformats.org/drawingml/2006/main">
            <a:off x="731520" y="3200400"/>
            <a:ext cx="10698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a:solidFill>
                  <a:srgbClr val="CADCFC"/>
                </a:solidFill>
                <a:latin typeface="Calibri"/>
                <a:ea typeface="Calibri"/>
                <a:cs typeface="Calibri"/>
              </a:rPr>
              <a:t>A starting point for a better career conversation, not a replacement for one.</a:t>
            </a:r>
            <a:endParaRPr sz="2200"/>
          </a:p>
        </p:txBody>
      </p:sp>
      <p:sp>
        <p:nvSpPr>
          <p:cNvPr id="4" name="Text 2">
            <a:extLst xmlns:a="http://schemas.openxmlformats.org/drawingml/2006/main">
              <a:ext uri="{FF2B5EF4-FFF2-40B4-BE49-F238E27FC236}">
                <a16:creationId xmlns:a16="http://schemas.microsoft.com/office/drawing/2014/main" id="{DC90162D-41EF-435D-94A6-07C67AFA7086}"/>
              </a:ext>
            </a:extLst>
          </p:cNvPr>
          <p:cNvSpPr>
            <a:spLocks xmlns:a="http://schemas.openxmlformats.org/drawingml/2006/main" noGrp="1"/>
          </p:cNvSpPr>
          <p:nvPr/>
        </p:nvSpPr>
        <p:spPr>
          <a:xfrm xmlns:a="http://schemas.openxmlformats.org/drawingml/2006/main">
            <a:off x="731520" y="4754880"/>
            <a:ext cx="10698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FFFFFF"/>
                </a:solidFill>
                <a:latin typeface="Calibri"/>
                <a:ea typeface="Calibri"/>
                <a:cs typeface="Calibri"/>
              </a:rPr>
              <a:t>Questions?</a:t>
            </a:r>
            <a:endParaRPr sz="2000"/>
          </a:p>
        </p:txBody>
      </p:sp>
    </p:spTree>
    <p:extLst>
      <p:ext uri="{BB962C8B-B14F-4D97-AF65-F5344CB8AC3E}">
        <p14:creationId xmlns:p14="http://schemas.microsoft.com/office/powerpoint/2010/main" val="7191246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ppendix-title-19">
            <a:extLst xmlns:a="http://schemas.openxmlformats.org/drawingml/2006/main">
              <a:ext uri="{FF2B5EF4-FFF2-40B4-BE49-F238E27FC236}">
                <a16:creationId xmlns:a16="http://schemas.microsoft.com/office/drawing/2014/main" id="{7D549B43-9813-484A-A9D9-6ECAA969B6CC}"/>
              </a:ext>
            </a:extLst>
          </p:cNvPr>
          <p:cNvSpPr>
            <a:spLocks xmlns:a="http://schemas.openxmlformats.org/drawingml/2006/main" noGrp="1"/>
          </p:cNvSpPr>
          <p:nvPr/>
        </p:nvSpPr>
        <p:spPr>
          <a:xfrm xmlns:a="http://schemas.openxmlformats.org/drawingml/2006/main">
            <a:off x="552450" y="400050"/>
            <a:ext cx="11068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925" b="1">
                <a:solidFill>
                  <a:srgbClr val="1B2A41"/>
                </a:solidFill>
                <a:latin typeface="Cambria"/>
                <a:ea typeface="Cambria"/>
                <a:cs typeface="Cambria"/>
              </a:defRPr>
            </a:defPPr>
            <a:lvl1pPr algn="l">
              <a:defRPr sz="2925" b="1">
                <a:solidFill>
                  <a:srgbClr val="1B2A41"/>
                </a:solidFill>
                <a:latin typeface="Cambria"/>
                <a:ea typeface="Cambria"/>
                <a:cs typeface="Cambria"/>
              </a:defRPr>
            </a:lvl1pPr>
            <a:lvl2pPr algn="l">
              <a:defRPr sz="2925" b="1">
                <a:solidFill>
                  <a:srgbClr val="1B2A41"/>
                </a:solidFill>
                <a:latin typeface="Cambria"/>
                <a:ea typeface="Cambria"/>
                <a:cs typeface="Cambria"/>
              </a:defRPr>
            </a:lvl2pPr>
            <a:lvl3pPr algn="l">
              <a:defRPr sz="2925" b="1">
                <a:solidFill>
                  <a:srgbClr val="1B2A41"/>
                </a:solidFill>
                <a:latin typeface="Cambria"/>
                <a:ea typeface="Cambria"/>
                <a:cs typeface="Cambria"/>
              </a:defRPr>
            </a:lvl3pPr>
            <a:lvl4pPr algn="l">
              <a:defRPr sz="2925" b="1">
                <a:solidFill>
                  <a:srgbClr val="1B2A41"/>
                </a:solidFill>
                <a:latin typeface="Cambria"/>
                <a:ea typeface="Cambria"/>
                <a:cs typeface="Cambria"/>
              </a:defRPr>
            </a:lvl4pPr>
            <a:lvl5pPr algn="l">
              <a:defRPr sz="2925" b="1">
                <a:solidFill>
                  <a:srgbClr val="1B2A41"/>
                </a:solidFill>
                <a:latin typeface="Cambria"/>
                <a:ea typeface="Cambria"/>
                <a:cs typeface="Cambria"/>
              </a:defRPr>
            </a:lvl5pPr>
            <a:lvl6pPr algn="l">
              <a:defRPr sz="2925" b="1">
                <a:solidFill>
                  <a:srgbClr val="1B2A41"/>
                </a:solidFill>
                <a:latin typeface="Cambria"/>
                <a:ea typeface="Cambria"/>
                <a:cs typeface="Cambria"/>
              </a:defRPr>
            </a:lvl6pPr>
            <a:lvl7pPr algn="l">
              <a:defRPr sz="2925" b="1">
                <a:solidFill>
                  <a:srgbClr val="1B2A41"/>
                </a:solidFill>
                <a:latin typeface="Cambria"/>
                <a:ea typeface="Cambria"/>
                <a:cs typeface="Cambria"/>
              </a:defRPr>
            </a:lvl7pPr>
            <a:lvl8pPr algn="l">
              <a:defRPr sz="2925" b="1">
                <a:solidFill>
                  <a:srgbClr val="1B2A41"/>
                </a:solidFill>
                <a:latin typeface="Cambria"/>
                <a:ea typeface="Cambria"/>
                <a:cs typeface="Cambria"/>
              </a:defRPr>
            </a:lvl8pPr>
            <a:lvl9pPr algn="l">
              <a:defRPr sz="2925" b="1">
                <a:solidFill>
                  <a:srgbClr val="1B2A41"/>
                </a:solidFill>
                <a:latin typeface="Cambria"/>
                <a:ea typeface="Cambria"/>
                <a:cs typeface="Cambria"/>
              </a:defRPr>
            </a:lvl9pPr>
          </a:lstStyle>
          <a:p xmlns:a="http://schemas.openxmlformats.org/drawingml/2006/main">
            <a:pPr algn="l">
              <a:defRPr sz="2925" b="1">
                <a:solidFill>
                  <a:srgbClr val="1B2A41"/>
                </a:solidFill>
                <a:latin typeface="Cambria"/>
                <a:ea typeface="Cambria"/>
                <a:cs typeface="Cambria"/>
              </a:defRPr>
            </a:pPr>
            <a:r>
              <a:rPr sz="2925" b="1">
                <a:solidFill>
                  <a:srgbClr val="1B2A41"/>
                </a:solidFill>
                <a:latin typeface="Cambria"/>
                <a:ea typeface="Cambria"/>
                <a:cs typeface="Cambria"/>
              </a:rPr>
              <a:t>Appendix | Data preparation decisions</a:t>
            </a:r>
          </a:p>
        </p:txBody>
      </p:sp>
      <p:sp>
        <p:nvSpPr>
          <p:cNvPr id="2" name="appendix-label-19">
            <a:extLst xmlns:a="http://schemas.openxmlformats.org/drawingml/2006/main">
              <a:ext uri="{FF2B5EF4-FFF2-40B4-BE49-F238E27FC236}">
                <a16:creationId xmlns:a16="http://schemas.microsoft.com/office/drawing/2014/main" id="{F4C5600A-E248-4138-BEF9-DBD79C99FF0D}"/>
              </a:ext>
            </a:extLst>
          </p:cNvPr>
          <p:cNvSpPr>
            <a:spLocks xmlns:a="http://schemas.openxmlformats.org/drawingml/2006/main" noGrp="1"/>
          </p:cNvSpPr>
          <p:nvPr/>
        </p:nvSpPr>
        <p:spPr>
          <a:xfrm xmlns:a="http://schemas.openxmlformats.org/drawingml/2006/main">
            <a:off x="552450" y="11811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A9D8F"/>
                </a:solidFill>
                <a:latin typeface="Calibri"/>
                <a:ea typeface="Calibri"/>
                <a:cs typeface="Calibri"/>
              </a:defRPr>
            </a:defPPr>
            <a:lvl1pPr algn="l">
              <a:defRPr sz="1125" b="1">
                <a:solidFill>
                  <a:srgbClr val="2A9D8F"/>
                </a:solidFill>
                <a:latin typeface="Calibri"/>
                <a:ea typeface="Calibri"/>
                <a:cs typeface="Calibri"/>
              </a:defRPr>
            </a:lvl1pPr>
            <a:lvl2pPr algn="l">
              <a:defRPr sz="1125" b="1">
                <a:solidFill>
                  <a:srgbClr val="2A9D8F"/>
                </a:solidFill>
                <a:latin typeface="Calibri"/>
                <a:ea typeface="Calibri"/>
                <a:cs typeface="Calibri"/>
              </a:defRPr>
            </a:lvl2pPr>
            <a:lvl3pPr algn="l">
              <a:defRPr sz="1125" b="1">
                <a:solidFill>
                  <a:srgbClr val="2A9D8F"/>
                </a:solidFill>
                <a:latin typeface="Calibri"/>
                <a:ea typeface="Calibri"/>
                <a:cs typeface="Calibri"/>
              </a:defRPr>
            </a:lvl3pPr>
            <a:lvl4pPr algn="l">
              <a:defRPr sz="1125" b="1">
                <a:solidFill>
                  <a:srgbClr val="2A9D8F"/>
                </a:solidFill>
                <a:latin typeface="Calibri"/>
                <a:ea typeface="Calibri"/>
                <a:cs typeface="Calibri"/>
              </a:defRPr>
            </a:lvl4pPr>
            <a:lvl5pPr algn="l">
              <a:defRPr sz="1125" b="1">
                <a:solidFill>
                  <a:srgbClr val="2A9D8F"/>
                </a:solidFill>
                <a:latin typeface="Calibri"/>
                <a:ea typeface="Calibri"/>
                <a:cs typeface="Calibri"/>
              </a:defRPr>
            </a:lvl5pPr>
            <a:lvl6pPr algn="l">
              <a:defRPr sz="1125" b="1">
                <a:solidFill>
                  <a:srgbClr val="2A9D8F"/>
                </a:solidFill>
                <a:latin typeface="Calibri"/>
                <a:ea typeface="Calibri"/>
                <a:cs typeface="Calibri"/>
              </a:defRPr>
            </a:lvl6pPr>
            <a:lvl7pPr algn="l">
              <a:defRPr sz="1125" b="1">
                <a:solidFill>
                  <a:srgbClr val="2A9D8F"/>
                </a:solidFill>
                <a:latin typeface="Calibri"/>
                <a:ea typeface="Calibri"/>
                <a:cs typeface="Calibri"/>
              </a:defRPr>
            </a:lvl7pPr>
            <a:lvl8pPr algn="l">
              <a:defRPr sz="1125" b="1">
                <a:solidFill>
                  <a:srgbClr val="2A9D8F"/>
                </a:solidFill>
                <a:latin typeface="Calibri"/>
                <a:ea typeface="Calibri"/>
                <a:cs typeface="Calibri"/>
              </a:defRPr>
            </a:lvl8pPr>
            <a:lvl9pPr algn="l">
              <a:defRPr sz="1125" b="1">
                <a:solidFill>
                  <a:srgbClr val="2A9D8F"/>
                </a:solidFill>
                <a:latin typeface="Calibri"/>
                <a:ea typeface="Calibri"/>
                <a:cs typeface="Calibri"/>
              </a:defRPr>
            </a:lvl9pPr>
          </a:lstStyle>
          <a:p xmlns:a="http://schemas.openxmlformats.org/drawingml/2006/main">
            <a:pPr algn="l">
              <a:defRPr sz="1125" b="1">
                <a:solidFill>
                  <a:srgbClr val="2A9D8F"/>
                </a:solidFill>
                <a:latin typeface="Calibri"/>
                <a:ea typeface="Calibri"/>
                <a:cs typeface="Calibri"/>
              </a:defRPr>
            </a:pPr>
            <a:r>
              <a:rPr sz="1125" b="1">
                <a:solidFill>
                  <a:srgbClr val="2A9D8F"/>
                </a:solidFill>
                <a:latin typeface="Calibri"/>
                <a:ea typeface="Calibri"/>
                <a:cs typeface="Calibri"/>
              </a:rPr>
              <a:t>OPTIONAL Q&amp;A DETAIL</a:t>
            </a:r>
          </a:p>
        </p:txBody>
      </p:sp>
      <p:sp>
        <p:nvSpPr>
          <p:cNvPr id="3" name="appendix-footer-19">
            <a:extLst xmlns:a="http://schemas.openxmlformats.org/drawingml/2006/main">
              <a:ext uri="{FF2B5EF4-FFF2-40B4-BE49-F238E27FC236}">
                <a16:creationId xmlns:a16="http://schemas.microsoft.com/office/drawing/2014/main" id="{06597097-1C58-4EC8-8F56-64E0EF935FEA}"/>
              </a:ext>
            </a:extLst>
          </p:cNvPr>
          <p:cNvSpPr>
            <a:spLocks xmlns:a="http://schemas.openxmlformats.org/drawingml/2006/main" noGrp="1"/>
          </p:cNvSpPr>
          <p:nvPr/>
        </p:nvSpPr>
        <p:spPr>
          <a:xfrm xmlns:a="http://schemas.openxmlformats.org/drawingml/2006/main">
            <a:off x="552450" y="6343650"/>
            <a:ext cx="731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B6770"/>
                </a:solidFill>
                <a:latin typeface="Calibri"/>
                <a:ea typeface="Calibri"/>
                <a:cs typeface="Calibri"/>
              </a:defRPr>
            </a:defPPr>
            <a:lvl1pPr algn="l">
              <a:defRPr sz="975" b="0">
                <a:solidFill>
                  <a:srgbClr val="5B6770"/>
                </a:solidFill>
                <a:latin typeface="Calibri"/>
                <a:ea typeface="Calibri"/>
                <a:cs typeface="Calibri"/>
              </a:defRPr>
            </a:lvl1pPr>
            <a:lvl2pPr algn="l">
              <a:defRPr sz="975" b="0">
                <a:solidFill>
                  <a:srgbClr val="5B6770"/>
                </a:solidFill>
                <a:latin typeface="Calibri"/>
                <a:ea typeface="Calibri"/>
                <a:cs typeface="Calibri"/>
              </a:defRPr>
            </a:lvl2pPr>
            <a:lvl3pPr algn="l">
              <a:defRPr sz="975" b="0">
                <a:solidFill>
                  <a:srgbClr val="5B6770"/>
                </a:solidFill>
                <a:latin typeface="Calibri"/>
                <a:ea typeface="Calibri"/>
                <a:cs typeface="Calibri"/>
              </a:defRPr>
            </a:lvl3pPr>
            <a:lvl4pPr algn="l">
              <a:defRPr sz="975" b="0">
                <a:solidFill>
                  <a:srgbClr val="5B6770"/>
                </a:solidFill>
                <a:latin typeface="Calibri"/>
                <a:ea typeface="Calibri"/>
                <a:cs typeface="Calibri"/>
              </a:defRPr>
            </a:lvl4pPr>
            <a:lvl5pPr algn="l">
              <a:defRPr sz="975" b="0">
                <a:solidFill>
                  <a:srgbClr val="5B6770"/>
                </a:solidFill>
                <a:latin typeface="Calibri"/>
                <a:ea typeface="Calibri"/>
                <a:cs typeface="Calibri"/>
              </a:defRPr>
            </a:lvl5pPr>
            <a:lvl6pPr algn="l">
              <a:defRPr sz="975" b="0">
                <a:solidFill>
                  <a:srgbClr val="5B6770"/>
                </a:solidFill>
                <a:latin typeface="Calibri"/>
                <a:ea typeface="Calibri"/>
                <a:cs typeface="Calibri"/>
              </a:defRPr>
            </a:lvl6pPr>
            <a:lvl7pPr algn="l">
              <a:defRPr sz="975" b="0">
                <a:solidFill>
                  <a:srgbClr val="5B6770"/>
                </a:solidFill>
                <a:latin typeface="Calibri"/>
                <a:ea typeface="Calibri"/>
                <a:cs typeface="Calibri"/>
              </a:defRPr>
            </a:lvl7pPr>
            <a:lvl8pPr algn="l">
              <a:defRPr sz="975" b="0">
                <a:solidFill>
                  <a:srgbClr val="5B6770"/>
                </a:solidFill>
                <a:latin typeface="Calibri"/>
                <a:ea typeface="Calibri"/>
                <a:cs typeface="Calibri"/>
              </a:defRPr>
            </a:lvl8pPr>
            <a:lvl9pPr algn="l">
              <a:defRPr sz="975" b="0">
                <a:solidFill>
                  <a:srgbClr val="5B6770"/>
                </a:solidFill>
                <a:latin typeface="Calibri"/>
                <a:ea typeface="Calibri"/>
                <a:cs typeface="Calibri"/>
              </a:defRPr>
            </a:lvl9pPr>
          </a:lstStyle>
          <a:p xmlns:a="http://schemas.openxmlformats.org/drawingml/2006/main">
            <a:pPr algn="l">
              <a:defRPr sz="975" b="0">
                <a:solidFill>
                  <a:srgbClr val="5B6770"/>
                </a:solidFill>
                <a:latin typeface="Calibri"/>
                <a:ea typeface="Calibri"/>
                <a:cs typeface="Calibri"/>
              </a:defRPr>
            </a:pPr>
            <a:r>
              <a:rPr sz="975" b="0">
                <a:solidFill>
                  <a:srgbClr val="5B6770"/>
                </a:solidFill>
                <a:latin typeface="Calibri"/>
                <a:ea typeface="Calibri"/>
                <a:cs typeface="Calibri"/>
              </a:rPr>
              <a:t>Singapore Jobs Explorer  ·  19</a:t>
            </a:r>
          </a:p>
        </p:txBody>
      </p:sp>
      <p:sp>
        <p:nvSpPr>
          <p:cNvPr id="4" name="cleaning-intro">
            <a:extLst xmlns:a="http://schemas.openxmlformats.org/drawingml/2006/main">
              <a:ext uri="{FF2B5EF4-FFF2-40B4-BE49-F238E27FC236}">
                <a16:creationId xmlns:a16="http://schemas.microsoft.com/office/drawing/2014/main" id="{6EEFA9AE-D2CD-4601-B8F0-80644281DBD8}"/>
              </a:ext>
            </a:extLst>
          </p:cNvPr>
          <p:cNvSpPr>
            <a:spLocks xmlns:a="http://schemas.openxmlformats.org/drawingml/2006/main" noGrp="1"/>
          </p:cNvSpPr>
          <p:nvPr/>
        </p:nvSpPr>
        <p:spPr>
          <a:xfrm xmlns:a="http://schemas.openxmlformats.org/drawingml/2006/main">
            <a:off x="552450" y="14954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5B6770"/>
                </a:solidFill>
                <a:latin typeface="Calibri"/>
                <a:ea typeface="Calibri"/>
                <a:cs typeface="Calibri"/>
              </a:defRPr>
            </a:defPPr>
            <a:lvl1pPr algn="l">
              <a:defRPr sz="1650" b="0">
                <a:solidFill>
                  <a:srgbClr val="5B6770"/>
                </a:solidFill>
                <a:latin typeface="Calibri"/>
                <a:ea typeface="Calibri"/>
                <a:cs typeface="Calibri"/>
              </a:defRPr>
            </a:lvl1pPr>
            <a:lvl2pPr algn="l">
              <a:defRPr sz="1650" b="0">
                <a:solidFill>
                  <a:srgbClr val="5B6770"/>
                </a:solidFill>
                <a:latin typeface="Calibri"/>
                <a:ea typeface="Calibri"/>
                <a:cs typeface="Calibri"/>
              </a:defRPr>
            </a:lvl2pPr>
            <a:lvl3pPr algn="l">
              <a:defRPr sz="1650" b="0">
                <a:solidFill>
                  <a:srgbClr val="5B6770"/>
                </a:solidFill>
                <a:latin typeface="Calibri"/>
                <a:ea typeface="Calibri"/>
                <a:cs typeface="Calibri"/>
              </a:defRPr>
            </a:lvl3pPr>
            <a:lvl4pPr algn="l">
              <a:defRPr sz="1650" b="0">
                <a:solidFill>
                  <a:srgbClr val="5B6770"/>
                </a:solidFill>
                <a:latin typeface="Calibri"/>
                <a:ea typeface="Calibri"/>
                <a:cs typeface="Calibri"/>
              </a:defRPr>
            </a:lvl4pPr>
            <a:lvl5pPr algn="l">
              <a:defRPr sz="1650" b="0">
                <a:solidFill>
                  <a:srgbClr val="5B6770"/>
                </a:solidFill>
                <a:latin typeface="Calibri"/>
                <a:ea typeface="Calibri"/>
                <a:cs typeface="Calibri"/>
              </a:defRPr>
            </a:lvl5pPr>
            <a:lvl6pPr algn="l">
              <a:defRPr sz="1650" b="0">
                <a:solidFill>
                  <a:srgbClr val="5B6770"/>
                </a:solidFill>
                <a:latin typeface="Calibri"/>
                <a:ea typeface="Calibri"/>
                <a:cs typeface="Calibri"/>
              </a:defRPr>
            </a:lvl6pPr>
            <a:lvl7pPr algn="l">
              <a:defRPr sz="1650" b="0">
                <a:solidFill>
                  <a:srgbClr val="5B6770"/>
                </a:solidFill>
                <a:latin typeface="Calibri"/>
                <a:ea typeface="Calibri"/>
                <a:cs typeface="Calibri"/>
              </a:defRPr>
            </a:lvl7pPr>
            <a:lvl8pPr algn="l">
              <a:defRPr sz="1650" b="0">
                <a:solidFill>
                  <a:srgbClr val="5B6770"/>
                </a:solidFill>
                <a:latin typeface="Calibri"/>
                <a:ea typeface="Calibri"/>
                <a:cs typeface="Calibri"/>
              </a:defRPr>
            </a:lvl8pPr>
            <a:lvl9pPr algn="l">
              <a:defRPr sz="1650" b="0">
                <a:solidFill>
                  <a:srgbClr val="5B6770"/>
                </a:solidFill>
                <a:latin typeface="Calibri"/>
                <a:ea typeface="Calibri"/>
                <a:cs typeface="Calibri"/>
              </a:defRPr>
            </a:lvl9pPr>
          </a:lstStyle>
          <a:p xmlns:a="http://schemas.openxmlformats.org/drawingml/2006/main">
            <a:pPr algn="l">
              <a:defRPr sz="1650" b="0">
                <a:solidFill>
                  <a:srgbClr val="5B6770"/>
                </a:solidFill>
                <a:latin typeface="Calibri"/>
                <a:ea typeface="Calibri"/>
                <a:cs typeface="Calibri"/>
              </a:defRPr>
            </a:pPr>
            <a:r>
              <a:rPr sz="1650" b="0">
                <a:solidFill>
                  <a:srgbClr val="5B6770"/>
                </a:solidFill>
                <a:latin typeface="Calibri"/>
                <a:ea typeface="Calibri"/>
                <a:cs typeface="Calibri"/>
              </a:rPr>
              <a:t>The team kept valid adverts and corrected or excluded only values that could not be trusted.</a:t>
            </a:r>
          </a:p>
        </p:txBody>
      </p:sp>
      <p:graphicFrame>
        <p:nvGraphicFramePr>
          <p:cNvPr id="5" name="">
            <a:extLst xmlns:a="http://schemas.openxmlformats.org/drawingml/2006/main">
              <a:ext uri="{FF2B5EF4-FFF2-40B4-BE49-F238E27FC236}">
                <a16:creationId xmlns:a16="http://schemas.microsoft.com/office/drawing/2014/main" id="{40ED48D4-399B-441A-9C71-F6F9C62B6477}"/>
              </a:ext>
            </a:extLst>
          </p:cNvPr>
          <p:cNvGraphicFramePr/>
          <p:nvPr/>
        </p:nvGraphicFramePr>
        <p:xfrm>
          <a:off xmlns:a="http://schemas.openxmlformats.org/drawingml/2006/main" x="552450" y="2047875"/>
          <a:ext xmlns:a="http://schemas.openxmlformats.org/drawingml/2006/main" cx="11087100" cy="3771900"/>
        </p:xfrm>
        <a:graphic xmlns:a="http://schemas.openxmlformats.org/drawingml/2006/main">
          <a:graphicData uri="http://schemas.openxmlformats.org/drawingml/2006/table">
            <a:tbl>
              <a:tblPr firstRow="0" bandRow="0"/>
              <a:tblGrid>
                <a:gridCol w="1952625"/>
                <a:gridCol w="6048375"/>
                <a:gridCol w="3086100"/>
              </a:tblGrid>
              <a:tr h="628650">
                <a:tc>
                  <a:txBody>
                    <a:bodyPr lIns="114300" tIns="57150" rIns="114300" bIns="57150">
                      <a:normAutofit/>
                    </a:bodyPr>
                    <a:lstStyle/>
                    <a:p>
                      <a:pPr algn="l"/>
                      <a:r>
                        <a:rPr sz="1425" b="1">
                          <a:solidFill>
                            <a:srgbClr val="FFFFFF"/>
                          </a:solidFill>
                          <a:latin typeface="Calibri"/>
                          <a:ea typeface="Calibri"/>
                          <a:cs typeface="Calibri"/>
                        </a:rPr>
                        <a:t>Check</a:t>
                      </a:r>
                    </a:p>
                  </a:txBody>
                  <a:tcPr marL="91440" marR="91440" marT="45720" marB="45720" anchor="ctr">
                    <a:lnL w="9525">
                      <a:solidFill>
                        <a:srgbClr val="D7E0E7"/>
                      </a:solidFill>
                      <a:prstDash val="solid"/>
                    </a:lnL>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c>
                  <a:txBody>
                    <a:bodyPr lIns="114300" tIns="57150" rIns="114300" bIns="57150">
                      <a:normAutofit/>
                    </a:bodyPr>
                    <a:lstStyle/>
                    <a:p>
                      <a:pPr algn="ctr"/>
                      <a:r>
                        <a:rPr sz="1425" b="1">
                          <a:solidFill>
                            <a:srgbClr val="FFFFFF"/>
                          </a:solidFill>
                          <a:latin typeface="Calibri"/>
                          <a:ea typeface="Calibri"/>
                          <a:cs typeface="Calibri"/>
                        </a:rPr>
                        <a:t>Decision</a:t>
                      </a:r>
                    </a:p>
                  </a:txBody>
                  <a:tcPr marL="91440" marR="91440" marT="45720" marB="45720" anchor="ctr">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c>
                  <a:txBody>
                    <a:bodyPr lIns="114300" tIns="57150" rIns="114300" bIns="57150">
                      <a:normAutofit/>
                    </a:bodyPr>
                    <a:lstStyle/>
                    <a:p>
                      <a:pPr algn="ctr"/>
                      <a:r>
                        <a:rPr sz="1425" b="1">
                          <a:solidFill>
                            <a:srgbClr val="FFFFFF"/>
                          </a:solidFill>
                          <a:latin typeface="Calibri"/>
                          <a:ea typeface="Calibri"/>
                          <a:cs typeface="Calibri"/>
                        </a:rPr>
                        <a:t>Effect on analysis</a:t>
                      </a:r>
                    </a:p>
                  </a:txBody>
                  <a:tcPr marL="91440" marR="91440" marT="45720" marB="45720" anchor="ctr">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r>
              <a:tr h="628650">
                <a:tc>
                  <a:txBody>
                    <a:bodyPr lIns="114300" tIns="57150" rIns="114300" bIns="57150">
                      <a:normAutofit/>
                    </a:bodyPr>
                    <a:lstStyle/>
                    <a:p>
                      <a:pPr algn="l"/>
                      <a:r>
                        <a:rPr sz="1350" b="0">
                          <a:solidFill>
                            <a:srgbClr val="1F2933"/>
                          </a:solidFill>
                          <a:latin typeface="Calibri"/>
                          <a:ea typeface="Calibri"/>
                          <a:cs typeface="Calibri"/>
                        </a:rPr>
                        <a:t>Incomplete rows</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350" b="0">
                          <a:solidFill>
                            <a:srgbClr val="1F2933"/>
                          </a:solidFill>
                          <a:latin typeface="Calibri"/>
                          <a:ea typeface="Calibri"/>
                          <a:cs typeface="Calibri"/>
                        </a:rPr>
                        <a:t>Removed rows with no job ID, title, or posting date</a:t>
                      </a:r>
                    </a:p>
                  </a:txBody>
                  <a:tcPr marL="91440" marR="91440" marT="45720" marB="45720" anchor="ctr">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350" b="0">
                          <a:solidFill>
                            <a:srgbClr val="1F2933"/>
                          </a:solidFill>
                          <a:latin typeface="Calibri"/>
                          <a:ea typeface="Calibri"/>
                          <a:cs typeface="Calibri"/>
                        </a:rPr>
                        <a:t>3,988 rows removed</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r h="628650">
                <a:tc>
                  <a:txBody>
                    <a:bodyPr lIns="114300" tIns="57150" rIns="114300" bIns="57150">
                      <a:normAutofit/>
                    </a:bodyPr>
                    <a:lstStyle/>
                    <a:p>
                      <a:pPr algn="l"/>
                      <a:r>
                        <a:rPr sz="1350" b="0">
                          <a:solidFill>
                            <a:srgbClr val="1F2933"/>
                          </a:solidFill>
                          <a:latin typeface="Calibri"/>
                          <a:ea typeface="Calibri"/>
                          <a:cs typeface="Calibri"/>
                        </a:rPr>
                        <a:t>Zero salary</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350" b="0">
                          <a:solidFill>
                            <a:srgbClr val="1F2933"/>
                          </a:solidFill>
                          <a:latin typeface="Calibri"/>
                          <a:ea typeface="Calibri"/>
                          <a:cs typeface="Calibri"/>
                        </a:rPr>
                        <a:t>Treated as missing, not as S$0 pay</a:t>
                      </a:r>
                    </a:p>
                  </a:txBody>
                  <a:tcPr marL="91440" marR="91440" marT="45720" marB="45720" anchor="ctr">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350" b="0">
                          <a:solidFill>
                            <a:srgbClr val="1F2933"/>
                          </a:solidFill>
                          <a:latin typeface="Calibri"/>
                          <a:ea typeface="Calibri"/>
                          <a:cs typeface="Calibri"/>
                        </a:rPr>
                        <a:t>Posting kept; salary excluded</a:t>
                      </a:r>
                    </a:p>
                  </a:txBody>
                  <a:tcPr marL="91440" marR="91440" marT="45720" marB="45720" anchor="ctr">
                    <a:lnR w="9525">
                      <a:solidFill>
                        <a:srgbClr val="D7E0E7"/>
                      </a:solidFill>
                      <a:prstDash val="solid"/>
                    </a:lnR>
                    <a:lnB w="9525">
                      <a:solidFill>
                        <a:srgbClr val="D7E0E7"/>
                      </a:solidFill>
                      <a:prstDash val="solid"/>
                    </a:lnB>
                    <a:solidFill>
                      <a:srgbClr val="EEF3F6"/>
                    </a:solidFill>
                  </a:tcPr>
                </a:tc>
              </a:tr>
              <a:tr h="628650">
                <a:tc>
                  <a:txBody>
                    <a:bodyPr lIns="114300" tIns="57150" rIns="114300" bIns="57150">
                      <a:normAutofit/>
                    </a:bodyPr>
                    <a:lstStyle/>
                    <a:p>
                      <a:pPr algn="l"/>
                      <a:r>
                        <a:rPr sz="1350" b="0">
                          <a:solidFill>
                            <a:srgbClr val="1F2933"/>
                          </a:solidFill>
                          <a:latin typeface="Calibri"/>
                          <a:ea typeface="Calibri"/>
                          <a:cs typeface="Calibri"/>
                        </a:rPr>
                        <a:t>Salary errors</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350" b="0">
                          <a:solidFill>
                            <a:srgbClr val="1F2933"/>
                          </a:solidFill>
                          <a:latin typeface="Calibri"/>
                          <a:ea typeface="Calibri"/>
                          <a:cs typeface="Calibri"/>
                        </a:rPr>
                        <a:t>Blanked 10,000 impossible values; capped 19,647 extremes at the 1st and 99th percentiles</a:t>
                      </a:r>
                    </a:p>
                  </a:txBody>
                  <a:tcPr marL="91440" marR="91440" marT="45720" marB="45720" anchor="ctr">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350" b="0">
                          <a:solidFill>
                            <a:srgbClr val="1F2933"/>
                          </a:solidFill>
                          <a:latin typeface="Calibri"/>
                          <a:ea typeface="Calibri"/>
                          <a:cs typeface="Calibri"/>
                        </a:rPr>
                        <a:t>Limits distortion from invalid pay</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r h="628650">
                <a:tc>
                  <a:txBody>
                    <a:bodyPr lIns="114300" tIns="57150" rIns="114300" bIns="57150">
                      <a:normAutofit/>
                    </a:bodyPr>
                    <a:lstStyle/>
                    <a:p>
                      <a:pPr algn="l"/>
                      <a:r>
                        <a:rPr sz="1350" b="0">
                          <a:solidFill>
                            <a:srgbClr val="1F2933"/>
                          </a:solidFill>
                          <a:latin typeface="Calibri"/>
                          <a:ea typeface="Calibri"/>
                          <a:cs typeface="Calibri"/>
                        </a:rPr>
                        <a:t>Repeated IDs</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350" b="0">
                          <a:solidFill>
                            <a:srgbClr val="1F2933"/>
                          </a:solidFill>
                          <a:latin typeface="Calibri"/>
                          <a:ea typeface="Calibri"/>
                          <a:cs typeface="Calibri"/>
                        </a:rPr>
                        <a:t>Checked job-post IDs before analysis</a:t>
                      </a:r>
                    </a:p>
                  </a:txBody>
                  <a:tcPr marL="91440" marR="91440" marT="45720" marB="45720" anchor="ctr">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350" b="0">
                          <a:solidFill>
                            <a:srgbClr val="1F2933"/>
                          </a:solidFill>
                          <a:latin typeface="Calibri"/>
                          <a:ea typeface="Calibri"/>
                          <a:cs typeface="Calibri"/>
                        </a:rPr>
                        <a:t>No repeated IDs found</a:t>
                      </a:r>
                    </a:p>
                  </a:txBody>
                  <a:tcPr marL="91440" marR="91440" marT="45720" marB="45720" anchor="ctr">
                    <a:lnR w="9525">
                      <a:solidFill>
                        <a:srgbClr val="D7E0E7"/>
                      </a:solidFill>
                      <a:prstDash val="solid"/>
                    </a:lnR>
                    <a:lnB w="9525">
                      <a:solidFill>
                        <a:srgbClr val="D7E0E7"/>
                      </a:solidFill>
                      <a:prstDash val="solid"/>
                    </a:lnB>
                    <a:solidFill>
                      <a:srgbClr val="EEF3F6"/>
                    </a:solidFill>
                  </a:tcPr>
                </a:tc>
              </a:tr>
              <a:tr h="628650">
                <a:tc>
                  <a:txBody>
                    <a:bodyPr lIns="114300" tIns="57150" rIns="114300" bIns="57150">
                      <a:normAutofit/>
                    </a:bodyPr>
                    <a:lstStyle/>
                    <a:p>
                      <a:pPr algn="l"/>
                      <a:r>
                        <a:rPr sz="1350" b="0">
                          <a:solidFill>
                            <a:srgbClr val="1F2933"/>
                          </a:solidFill>
                          <a:latin typeface="Calibri"/>
                          <a:ea typeface="Calibri"/>
                          <a:cs typeface="Calibri"/>
                        </a:rPr>
                        <a:t>Multiple categories</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350" b="0">
                          <a:solidFill>
                            <a:srgbClr val="1F2933"/>
                          </a:solidFill>
                          <a:latin typeface="Calibri"/>
                          <a:ea typeface="Calibri"/>
                          <a:cs typeface="Calibri"/>
                        </a:rPr>
                        <a:t>Count each posting once in every category it lists</a:t>
                      </a:r>
                    </a:p>
                  </a:txBody>
                  <a:tcPr marL="91440" marR="91440" marT="45720" marB="45720" anchor="ctr">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350" b="0">
                          <a:solidFill>
                            <a:srgbClr val="1F2933"/>
                          </a:solidFill>
                          <a:latin typeface="Calibri"/>
                          <a:ea typeface="Calibri"/>
                          <a:cs typeface="Calibri"/>
                        </a:rPr>
                        <a:t>Category totals overlap</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bl>
          </a:graphicData>
        </a:graphic>
      </p:graphicFrame>
    </p:spTree>
    <p:extLst>
      <p:ext uri="{BB962C8B-B14F-4D97-AF65-F5344CB8AC3E}">
        <p14:creationId xmlns:p14="http://schemas.microsoft.com/office/powerpoint/2010/main" val="137519173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ppendix-title-20">
            <a:extLst xmlns:a="http://schemas.openxmlformats.org/drawingml/2006/main">
              <a:ext uri="{FF2B5EF4-FFF2-40B4-BE49-F238E27FC236}">
                <a16:creationId xmlns:a16="http://schemas.microsoft.com/office/drawing/2014/main" id="{7316BFA7-762D-4CBE-9F8D-0CF81F53891E}"/>
              </a:ext>
            </a:extLst>
          </p:cNvPr>
          <p:cNvSpPr>
            <a:spLocks xmlns:a="http://schemas.openxmlformats.org/drawingml/2006/main" noGrp="1"/>
          </p:cNvSpPr>
          <p:nvPr/>
        </p:nvSpPr>
        <p:spPr>
          <a:xfrm xmlns:a="http://schemas.openxmlformats.org/drawingml/2006/main">
            <a:off x="552450" y="400050"/>
            <a:ext cx="11068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925" b="1">
                <a:solidFill>
                  <a:srgbClr val="1B2A41"/>
                </a:solidFill>
                <a:latin typeface="Cambria"/>
                <a:ea typeface="Cambria"/>
                <a:cs typeface="Cambria"/>
              </a:defRPr>
            </a:defPPr>
            <a:lvl1pPr algn="l">
              <a:defRPr sz="2925" b="1">
                <a:solidFill>
                  <a:srgbClr val="1B2A41"/>
                </a:solidFill>
                <a:latin typeface="Cambria"/>
                <a:ea typeface="Cambria"/>
                <a:cs typeface="Cambria"/>
              </a:defRPr>
            </a:lvl1pPr>
            <a:lvl2pPr algn="l">
              <a:defRPr sz="2925" b="1">
                <a:solidFill>
                  <a:srgbClr val="1B2A41"/>
                </a:solidFill>
                <a:latin typeface="Cambria"/>
                <a:ea typeface="Cambria"/>
                <a:cs typeface="Cambria"/>
              </a:defRPr>
            </a:lvl2pPr>
            <a:lvl3pPr algn="l">
              <a:defRPr sz="2925" b="1">
                <a:solidFill>
                  <a:srgbClr val="1B2A41"/>
                </a:solidFill>
                <a:latin typeface="Cambria"/>
                <a:ea typeface="Cambria"/>
                <a:cs typeface="Cambria"/>
              </a:defRPr>
            </a:lvl3pPr>
            <a:lvl4pPr algn="l">
              <a:defRPr sz="2925" b="1">
                <a:solidFill>
                  <a:srgbClr val="1B2A41"/>
                </a:solidFill>
                <a:latin typeface="Cambria"/>
                <a:ea typeface="Cambria"/>
                <a:cs typeface="Cambria"/>
              </a:defRPr>
            </a:lvl4pPr>
            <a:lvl5pPr algn="l">
              <a:defRPr sz="2925" b="1">
                <a:solidFill>
                  <a:srgbClr val="1B2A41"/>
                </a:solidFill>
                <a:latin typeface="Cambria"/>
                <a:ea typeface="Cambria"/>
                <a:cs typeface="Cambria"/>
              </a:defRPr>
            </a:lvl5pPr>
            <a:lvl6pPr algn="l">
              <a:defRPr sz="2925" b="1">
                <a:solidFill>
                  <a:srgbClr val="1B2A41"/>
                </a:solidFill>
                <a:latin typeface="Cambria"/>
                <a:ea typeface="Cambria"/>
                <a:cs typeface="Cambria"/>
              </a:defRPr>
            </a:lvl6pPr>
            <a:lvl7pPr algn="l">
              <a:defRPr sz="2925" b="1">
                <a:solidFill>
                  <a:srgbClr val="1B2A41"/>
                </a:solidFill>
                <a:latin typeface="Cambria"/>
                <a:ea typeface="Cambria"/>
                <a:cs typeface="Cambria"/>
              </a:defRPr>
            </a:lvl7pPr>
            <a:lvl8pPr algn="l">
              <a:defRPr sz="2925" b="1">
                <a:solidFill>
                  <a:srgbClr val="1B2A41"/>
                </a:solidFill>
                <a:latin typeface="Cambria"/>
                <a:ea typeface="Cambria"/>
                <a:cs typeface="Cambria"/>
              </a:defRPr>
            </a:lvl8pPr>
            <a:lvl9pPr algn="l">
              <a:defRPr sz="2925" b="1">
                <a:solidFill>
                  <a:srgbClr val="1B2A41"/>
                </a:solidFill>
                <a:latin typeface="Cambria"/>
                <a:ea typeface="Cambria"/>
                <a:cs typeface="Cambria"/>
              </a:defRPr>
            </a:lvl9pPr>
          </a:lstStyle>
          <a:p xmlns:a="http://schemas.openxmlformats.org/drawingml/2006/main">
            <a:pPr algn="l">
              <a:defRPr sz="2925" b="1">
                <a:solidFill>
                  <a:srgbClr val="1B2A41"/>
                </a:solidFill>
                <a:latin typeface="Cambria"/>
                <a:ea typeface="Cambria"/>
                <a:cs typeface="Cambria"/>
              </a:defRPr>
            </a:pPr>
            <a:r>
              <a:rPr sz="2925" b="1">
                <a:solidFill>
                  <a:srgbClr val="1B2A41"/>
                </a:solidFill>
                <a:latin typeface="Cambria"/>
                <a:ea typeface="Cambria"/>
                <a:cs typeface="Cambria"/>
              </a:rPr>
              <a:t>Appendix | Salary by seniority</a:t>
            </a:r>
          </a:p>
        </p:txBody>
      </p:sp>
      <p:sp>
        <p:nvSpPr>
          <p:cNvPr id="2" name="appendix-label-20">
            <a:extLst xmlns:a="http://schemas.openxmlformats.org/drawingml/2006/main">
              <a:ext uri="{FF2B5EF4-FFF2-40B4-BE49-F238E27FC236}">
                <a16:creationId xmlns:a16="http://schemas.microsoft.com/office/drawing/2014/main" id="{F3BC5013-DB8E-4C87-B180-0A4F49E7FBB3}"/>
              </a:ext>
            </a:extLst>
          </p:cNvPr>
          <p:cNvSpPr>
            <a:spLocks xmlns:a="http://schemas.openxmlformats.org/drawingml/2006/main" noGrp="1"/>
          </p:cNvSpPr>
          <p:nvPr/>
        </p:nvSpPr>
        <p:spPr>
          <a:xfrm xmlns:a="http://schemas.openxmlformats.org/drawingml/2006/main">
            <a:off x="552450" y="11811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A9D8F"/>
                </a:solidFill>
                <a:latin typeface="Calibri"/>
                <a:ea typeface="Calibri"/>
                <a:cs typeface="Calibri"/>
              </a:defRPr>
            </a:defPPr>
            <a:lvl1pPr algn="l">
              <a:defRPr sz="1125" b="1">
                <a:solidFill>
                  <a:srgbClr val="2A9D8F"/>
                </a:solidFill>
                <a:latin typeface="Calibri"/>
                <a:ea typeface="Calibri"/>
                <a:cs typeface="Calibri"/>
              </a:defRPr>
            </a:lvl1pPr>
            <a:lvl2pPr algn="l">
              <a:defRPr sz="1125" b="1">
                <a:solidFill>
                  <a:srgbClr val="2A9D8F"/>
                </a:solidFill>
                <a:latin typeface="Calibri"/>
                <a:ea typeface="Calibri"/>
                <a:cs typeface="Calibri"/>
              </a:defRPr>
            </a:lvl2pPr>
            <a:lvl3pPr algn="l">
              <a:defRPr sz="1125" b="1">
                <a:solidFill>
                  <a:srgbClr val="2A9D8F"/>
                </a:solidFill>
                <a:latin typeface="Calibri"/>
                <a:ea typeface="Calibri"/>
                <a:cs typeface="Calibri"/>
              </a:defRPr>
            </a:lvl3pPr>
            <a:lvl4pPr algn="l">
              <a:defRPr sz="1125" b="1">
                <a:solidFill>
                  <a:srgbClr val="2A9D8F"/>
                </a:solidFill>
                <a:latin typeface="Calibri"/>
                <a:ea typeface="Calibri"/>
                <a:cs typeface="Calibri"/>
              </a:defRPr>
            </a:lvl4pPr>
            <a:lvl5pPr algn="l">
              <a:defRPr sz="1125" b="1">
                <a:solidFill>
                  <a:srgbClr val="2A9D8F"/>
                </a:solidFill>
                <a:latin typeface="Calibri"/>
                <a:ea typeface="Calibri"/>
                <a:cs typeface="Calibri"/>
              </a:defRPr>
            </a:lvl5pPr>
            <a:lvl6pPr algn="l">
              <a:defRPr sz="1125" b="1">
                <a:solidFill>
                  <a:srgbClr val="2A9D8F"/>
                </a:solidFill>
                <a:latin typeface="Calibri"/>
                <a:ea typeface="Calibri"/>
                <a:cs typeface="Calibri"/>
              </a:defRPr>
            </a:lvl6pPr>
            <a:lvl7pPr algn="l">
              <a:defRPr sz="1125" b="1">
                <a:solidFill>
                  <a:srgbClr val="2A9D8F"/>
                </a:solidFill>
                <a:latin typeface="Calibri"/>
                <a:ea typeface="Calibri"/>
                <a:cs typeface="Calibri"/>
              </a:defRPr>
            </a:lvl7pPr>
            <a:lvl8pPr algn="l">
              <a:defRPr sz="1125" b="1">
                <a:solidFill>
                  <a:srgbClr val="2A9D8F"/>
                </a:solidFill>
                <a:latin typeface="Calibri"/>
                <a:ea typeface="Calibri"/>
                <a:cs typeface="Calibri"/>
              </a:defRPr>
            </a:lvl8pPr>
            <a:lvl9pPr algn="l">
              <a:defRPr sz="1125" b="1">
                <a:solidFill>
                  <a:srgbClr val="2A9D8F"/>
                </a:solidFill>
                <a:latin typeface="Calibri"/>
                <a:ea typeface="Calibri"/>
                <a:cs typeface="Calibri"/>
              </a:defRPr>
            </a:lvl9pPr>
          </a:lstStyle>
          <a:p xmlns:a="http://schemas.openxmlformats.org/drawingml/2006/main">
            <a:pPr algn="l">
              <a:defRPr sz="1125" b="1">
                <a:solidFill>
                  <a:srgbClr val="2A9D8F"/>
                </a:solidFill>
                <a:latin typeface="Calibri"/>
                <a:ea typeface="Calibri"/>
                <a:cs typeface="Calibri"/>
              </a:defRPr>
            </a:pPr>
            <a:r>
              <a:rPr sz="1125" b="1">
                <a:solidFill>
                  <a:srgbClr val="2A9D8F"/>
                </a:solidFill>
                <a:latin typeface="Calibri"/>
                <a:ea typeface="Calibri"/>
                <a:cs typeface="Calibri"/>
              </a:rPr>
              <a:t>OPTIONAL Q&amp;A DETAIL</a:t>
            </a:r>
          </a:p>
        </p:txBody>
      </p:sp>
      <p:sp>
        <p:nvSpPr>
          <p:cNvPr id="3" name="appendix-footer-20">
            <a:extLst xmlns:a="http://schemas.openxmlformats.org/drawingml/2006/main">
              <a:ext uri="{FF2B5EF4-FFF2-40B4-BE49-F238E27FC236}">
                <a16:creationId xmlns:a16="http://schemas.microsoft.com/office/drawing/2014/main" id="{35453726-6C22-4DD4-9118-A3DAC07B7620}"/>
              </a:ext>
            </a:extLst>
          </p:cNvPr>
          <p:cNvSpPr>
            <a:spLocks xmlns:a="http://schemas.openxmlformats.org/drawingml/2006/main" noGrp="1"/>
          </p:cNvSpPr>
          <p:nvPr/>
        </p:nvSpPr>
        <p:spPr>
          <a:xfrm xmlns:a="http://schemas.openxmlformats.org/drawingml/2006/main">
            <a:off x="552450" y="6343650"/>
            <a:ext cx="731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B6770"/>
                </a:solidFill>
                <a:latin typeface="Calibri"/>
                <a:ea typeface="Calibri"/>
                <a:cs typeface="Calibri"/>
              </a:defRPr>
            </a:defPPr>
            <a:lvl1pPr algn="l">
              <a:defRPr sz="975" b="0">
                <a:solidFill>
                  <a:srgbClr val="5B6770"/>
                </a:solidFill>
                <a:latin typeface="Calibri"/>
                <a:ea typeface="Calibri"/>
                <a:cs typeface="Calibri"/>
              </a:defRPr>
            </a:lvl1pPr>
            <a:lvl2pPr algn="l">
              <a:defRPr sz="975" b="0">
                <a:solidFill>
                  <a:srgbClr val="5B6770"/>
                </a:solidFill>
                <a:latin typeface="Calibri"/>
                <a:ea typeface="Calibri"/>
                <a:cs typeface="Calibri"/>
              </a:defRPr>
            </a:lvl2pPr>
            <a:lvl3pPr algn="l">
              <a:defRPr sz="975" b="0">
                <a:solidFill>
                  <a:srgbClr val="5B6770"/>
                </a:solidFill>
                <a:latin typeface="Calibri"/>
                <a:ea typeface="Calibri"/>
                <a:cs typeface="Calibri"/>
              </a:defRPr>
            </a:lvl3pPr>
            <a:lvl4pPr algn="l">
              <a:defRPr sz="975" b="0">
                <a:solidFill>
                  <a:srgbClr val="5B6770"/>
                </a:solidFill>
                <a:latin typeface="Calibri"/>
                <a:ea typeface="Calibri"/>
                <a:cs typeface="Calibri"/>
              </a:defRPr>
            </a:lvl4pPr>
            <a:lvl5pPr algn="l">
              <a:defRPr sz="975" b="0">
                <a:solidFill>
                  <a:srgbClr val="5B6770"/>
                </a:solidFill>
                <a:latin typeface="Calibri"/>
                <a:ea typeface="Calibri"/>
                <a:cs typeface="Calibri"/>
              </a:defRPr>
            </a:lvl5pPr>
            <a:lvl6pPr algn="l">
              <a:defRPr sz="975" b="0">
                <a:solidFill>
                  <a:srgbClr val="5B6770"/>
                </a:solidFill>
                <a:latin typeface="Calibri"/>
                <a:ea typeface="Calibri"/>
                <a:cs typeface="Calibri"/>
              </a:defRPr>
            </a:lvl6pPr>
            <a:lvl7pPr algn="l">
              <a:defRPr sz="975" b="0">
                <a:solidFill>
                  <a:srgbClr val="5B6770"/>
                </a:solidFill>
                <a:latin typeface="Calibri"/>
                <a:ea typeface="Calibri"/>
                <a:cs typeface="Calibri"/>
              </a:defRPr>
            </a:lvl7pPr>
            <a:lvl8pPr algn="l">
              <a:defRPr sz="975" b="0">
                <a:solidFill>
                  <a:srgbClr val="5B6770"/>
                </a:solidFill>
                <a:latin typeface="Calibri"/>
                <a:ea typeface="Calibri"/>
                <a:cs typeface="Calibri"/>
              </a:defRPr>
            </a:lvl8pPr>
            <a:lvl9pPr algn="l">
              <a:defRPr sz="975" b="0">
                <a:solidFill>
                  <a:srgbClr val="5B6770"/>
                </a:solidFill>
                <a:latin typeface="Calibri"/>
                <a:ea typeface="Calibri"/>
                <a:cs typeface="Calibri"/>
              </a:defRPr>
            </a:lvl9pPr>
          </a:lstStyle>
          <a:p xmlns:a="http://schemas.openxmlformats.org/drawingml/2006/main">
            <a:pPr algn="l">
              <a:defRPr sz="975" b="0">
                <a:solidFill>
                  <a:srgbClr val="5B6770"/>
                </a:solidFill>
                <a:latin typeface="Calibri"/>
                <a:ea typeface="Calibri"/>
                <a:cs typeface="Calibri"/>
              </a:defRPr>
            </a:pPr>
            <a:r>
              <a:rPr sz="975" b="0">
                <a:solidFill>
                  <a:srgbClr val="5B6770"/>
                </a:solidFill>
                <a:latin typeface="Calibri"/>
                <a:ea typeface="Calibri"/>
                <a:cs typeface="Calibri"/>
              </a:rPr>
              <a:t>Singapore Jobs Explorer  ·  20</a:t>
            </a:r>
          </a:p>
        </p:txBody>
      </p:sp>
      <p:sp>
        <p:nvSpPr>
          <p:cNvPr id="4" name="salary-method">
            <a:extLst xmlns:a="http://schemas.openxmlformats.org/drawingml/2006/main">
              <a:ext uri="{FF2B5EF4-FFF2-40B4-BE49-F238E27FC236}">
                <a16:creationId xmlns:a16="http://schemas.microsoft.com/office/drawing/2014/main" id="{022AEFF8-2667-49F9-8C30-2BAD373F1529}"/>
              </a:ext>
            </a:extLst>
          </p:cNvPr>
          <p:cNvSpPr>
            <a:spLocks xmlns:a="http://schemas.openxmlformats.org/drawingml/2006/main" noGrp="1"/>
          </p:cNvSpPr>
          <p:nvPr/>
        </p:nvSpPr>
        <p:spPr>
          <a:xfrm xmlns:a="http://schemas.openxmlformats.org/drawingml/2006/main">
            <a:off x="552450" y="149542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5B6770"/>
                </a:solidFill>
                <a:latin typeface="Calibri"/>
                <a:ea typeface="Calibri"/>
                <a:cs typeface="Calibri"/>
              </a:defRPr>
            </a:defPPr>
            <a:lvl1pPr algn="l">
              <a:defRPr sz="1650" b="0">
                <a:solidFill>
                  <a:srgbClr val="5B6770"/>
                </a:solidFill>
                <a:latin typeface="Calibri"/>
                <a:ea typeface="Calibri"/>
                <a:cs typeface="Calibri"/>
              </a:defRPr>
            </a:lvl1pPr>
            <a:lvl2pPr algn="l">
              <a:defRPr sz="1650" b="0">
                <a:solidFill>
                  <a:srgbClr val="5B6770"/>
                </a:solidFill>
                <a:latin typeface="Calibri"/>
                <a:ea typeface="Calibri"/>
                <a:cs typeface="Calibri"/>
              </a:defRPr>
            </a:lvl2pPr>
            <a:lvl3pPr algn="l">
              <a:defRPr sz="1650" b="0">
                <a:solidFill>
                  <a:srgbClr val="5B6770"/>
                </a:solidFill>
                <a:latin typeface="Calibri"/>
                <a:ea typeface="Calibri"/>
                <a:cs typeface="Calibri"/>
              </a:defRPr>
            </a:lvl3pPr>
            <a:lvl4pPr algn="l">
              <a:defRPr sz="1650" b="0">
                <a:solidFill>
                  <a:srgbClr val="5B6770"/>
                </a:solidFill>
                <a:latin typeface="Calibri"/>
                <a:ea typeface="Calibri"/>
                <a:cs typeface="Calibri"/>
              </a:defRPr>
            </a:lvl4pPr>
            <a:lvl5pPr algn="l">
              <a:defRPr sz="1650" b="0">
                <a:solidFill>
                  <a:srgbClr val="5B6770"/>
                </a:solidFill>
                <a:latin typeface="Calibri"/>
                <a:ea typeface="Calibri"/>
                <a:cs typeface="Calibri"/>
              </a:defRPr>
            </a:lvl5pPr>
            <a:lvl6pPr algn="l">
              <a:defRPr sz="1650" b="0">
                <a:solidFill>
                  <a:srgbClr val="5B6770"/>
                </a:solidFill>
                <a:latin typeface="Calibri"/>
                <a:ea typeface="Calibri"/>
                <a:cs typeface="Calibri"/>
              </a:defRPr>
            </a:lvl6pPr>
            <a:lvl7pPr algn="l">
              <a:defRPr sz="1650" b="0">
                <a:solidFill>
                  <a:srgbClr val="5B6770"/>
                </a:solidFill>
                <a:latin typeface="Calibri"/>
                <a:ea typeface="Calibri"/>
                <a:cs typeface="Calibri"/>
              </a:defRPr>
            </a:lvl7pPr>
            <a:lvl8pPr algn="l">
              <a:defRPr sz="1650" b="0">
                <a:solidFill>
                  <a:srgbClr val="5B6770"/>
                </a:solidFill>
                <a:latin typeface="Calibri"/>
                <a:ea typeface="Calibri"/>
                <a:cs typeface="Calibri"/>
              </a:defRPr>
            </a:lvl8pPr>
            <a:lvl9pPr algn="l">
              <a:defRPr sz="1650" b="0">
                <a:solidFill>
                  <a:srgbClr val="5B6770"/>
                </a:solidFill>
                <a:latin typeface="Calibri"/>
                <a:ea typeface="Calibri"/>
                <a:cs typeface="Calibri"/>
              </a:defRPr>
            </a:lvl9pPr>
          </a:lstStyle>
          <a:p xmlns:a="http://schemas.openxmlformats.org/drawingml/2006/main">
            <a:pPr algn="l">
              <a:defRPr sz="1650" b="0">
                <a:solidFill>
                  <a:srgbClr val="5B6770"/>
                </a:solidFill>
                <a:latin typeface="Calibri"/>
                <a:ea typeface="Calibri"/>
                <a:cs typeface="Calibri"/>
              </a:defRPr>
            </a:pPr>
            <a:r>
              <a:rPr sz="1650" b="0">
                <a:solidFill>
                  <a:srgbClr val="5B6770"/>
                </a:solidFill>
                <a:latin typeface="Calibri"/>
                <a:ea typeface="Calibri"/>
                <a:cs typeface="Calibri"/>
              </a:rPr>
              <a:t>Monthly salary among cleaned postings with a valid salary figure</a:t>
            </a:r>
          </a:p>
        </p:txBody>
      </p:sp>
      <p:graphicFrame>
        <p:nvGraphicFramePr>
          <p:cNvPr id="5" name="">
            <a:extLst xmlns:a="http://schemas.openxmlformats.org/drawingml/2006/main">
              <a:ext uri="{FF2B5EF4-FFF2-40B4-BE49-F238E27FC236}">
                <a16:creationId xmlns:a16="http://schemas.microsoft.com/office/drawing/2014/main" id="{924562FD-98B3-4F55-A719-76AAF636145D}"/>
              </a:ext>
            </a:extLst>
          </p:cNvPr>
          <p:cNvGraphicFramePr/>
          <p:nvPr/>
        </p:nvGraphicFramePr>
        <p:xfrm>
          <a:off xmlns:a="http://schemas.openxmlformats.org/drawingml/2006/main" x="552450" y="2028825"/>
          <a:ext xmlns:a="http://schemas.openxmlformats.org/drawingml/2006/main" cx="11087100" cy="3371850"/>
        </p:xfrm>
        <a:graphic xmlns:a="http://schemas.openxmlformats.org/drawingml/2006/main">
          <a:graphicData uri="http://schemas.openxmlformats.org/drawingml/2006/table">
            <a:tbl>
              <a:tblPr firstRow="0" bandRow="0"/>
              <a:tblGrid>
                <a:gridCol w="3714750"/>
                <a:gridCol w="3143250"/>
                <a:gridCol w="4229100"/>
              </a:tblGrid>
              <a:tr h="561975">
                <a:tc>
                  <a:txBody>
                    <a:bodyPr lIns="114300" tIns="57150" rIns="114300" bIns="57150">
                      <a:normAutofit/>
                    </a:bodyPr>
                    <a:lstStyle/>
                    <a:p>
                      <a:pPr algn="l"/>
                      <a:r>
                        <a:rPr sz="1575" b="1">
                          <a:solidFill>
                            <a:srgbClr val="FFFFFF"/>
                          </a:solidFill>
                          <a:latin typeface="Calibri"/>
                          <a:ea typeface="Calibri"/>
                          <a:cs typeface="Calibri"/>
                        </a:rPr>
                        <a:t>Seniority band</a:t>
                      </a:r>
                    </a:p>
                  </a:txBody>
                  <a:tcPr marL="91440" marR="91440" marT="45720" marB="45720" anchor="ctr">
                    <a:lnL w="9525">
                      <a:solidFill>
                        <a:srgbClr val="D7E0E7"/>
                      </a:solidFill>
                      <a:prstDash val="solid"/>
                    </a:lnL>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c>
                  <a:txBody>
                    <a:bodyPr lIns="114300" tIns="57150" rIns="114300" bIns="57150">
                      <a:normAutofit/>
                    </a:bodyPr>
                    <a:lstStyle/>
                    <a:p>
                      <a:pPr algn="ctr"/>
                      <a:r>
                        <a:rPr sz="1575" b="1">
                          <a:solidFill>
                            <a:srgbClr val="FFFFFF"/>
                          </a:solidFill>
                          <a:latin typeface="Calibri"/>
                          <a:ea typeface="Calibri"/>
                          <a:cs typeface="Calibri"/>
                        </a:rPr>
                        <a:t>Postings</a:t>
                      </a:r>
                    </a:p>
                  </a:txBody>
                  <a:tcPr marL="91440" marR="91440" marT="45720" marB="45720" anchor="ctr">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c>
                  <a:txBody>
                    <a:bodyPr lIns="114300" tIns="57150" rIns="114300" bIns="57150">
                      <a:normAutofit/>
                    </a:bodyPr>
                    <a:lstStyle/>
                    <a:p>
                      <a:pPr algn="ctr"/>
                      <a:r>
                        <a:rPr sz="1575" b="1">
                          <a:solidFill>
                            <a:srgbClr val="FFFFFF"/>
                          </a:solidFill>
                          <a:latin typeface="Calibri"/>
                          <a:ea typeface="Calibri"/>
                          <a:cs typeface="Calibri"/>
                        </a:rPr>
                        <a:t>Median monthly salary</a:t>
                      </a:r>
                    </a:p>
                  </a:txBody>
                  <a:tcPr marL="91440" marR="91440" marT="45720" marB="45720" anchor="ctr">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r>
              <a:tr h="561975">
                <a:tc>
                  <a:txBody>
                    <a:bodyPr lIns="114300" tIns="57150" rIns="114300" bIns="57150">
                      <a:normAutofit/>
                    </a:bodyPr>
                    <a:lstStyle/>
                    <a:p>
                      <a:pPr algn="l"/>
                      <a:r>
                        <a:rPr sz="1500" b="0">
                          <a:solidFill>
                            <a:srgbClr val="1F2933"/>
                          </a:solidFill>
                          <a:latin typeface="Calibri"/>
                          <a:ea typeface="Calibri"/>
                          <a:cs typeface="Calibri"/>
                        </a:rPr>
                        <a:t>Entry</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500" b="0">
                          <a:solidFill>
                            <a:srgbClr val="1F2933"/>
                          </a:solidFill>
                          <a:latin typeface="Calibri"/>
                          <a:ea typeface="Calibri"/>
                          <a:cs typeface="Calibri"/>
                        </a:rPr>
                        <a:t>250,269</a:t>
                      </a:r>
                    </a:p>
                  </a:txBody>
                  <a:tcPr marL="91440" marR="91440" marT="45720" marB="45720" anchor="ctr">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500" b="0">
                          <a:solidFill>
                            <a:srgbClr val="1F2933"/>
                          </a:solidFill>
                          <a:latin typeface="Calibri"/>
                          <a:ea typeface="Calibri"/>
                          <a:cs typeface="Calibri"/>
                        </a:rPr>
                        <a:t>S$2,675</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r h="561975">
                <a:tc>
                  <a:txBody>
                    <a:bodyPr lIns="114300" tIns="57150" rIns="114300" bIns="57150">
                      <a:normAutofit/>
                    </a:bodyPr>
                    <a:lstStyle/>
                    <a:p>
                      <a:pPr algn="l"/>
                      <a:r>
                        <a:rPr sz="1500" b="0">
                          <a:solidFill>
                            <a:srgbClr val="1F2933"/>
                          </a:solidFill>
                          <a:latin typeface="Calibri"/>
                          <a:ea typeface="Calibri"/>
                          <a:cs typeface="Calibri"/>
                        </a:rPr>
                        <a:t>Junior</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500" b="0">
                          <a:solidFill>
                            <a:srgbClr val="1F2933"/>
                          </a:solidFill>
                          <a:latin typeface="Calibri"/>
                          <a:ea typeface="Calibri"/>
                          <a:cs typeface="Calibri"/>
                        </a:rPr>
                        <a:t>167,656</a:t>
                      </a:r>
                    </a:p>
                  </a:txBody>
                  <a:tcPr marL="91440" marR="91440" marT="45720" marB="45720" anchor="ctr">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500" b="0">
                          <a:solidFill>
                            <a:srgbClr val="1F2933"/>
                          </a:solidFill>
                          <a:latin typeface="Calibri"/>
                          <a:ea typeface="Calibri"/>
                          <a:cs typeface="Calibri"/>
                        </a:rPr>
                        <a:t>S$3,150</a:t>
                      </a:r>
                    </a:p>
                  </a:txBody>
                  <a:tcPr marL="91440" marR="91440" marT="45720" marB="45720" anchor="ctr">
                    <a:lnR w="9525">
                      <a:solidFill>
                        <a:srgbClr val="D7E0E7"/>
                      </a:solidFill>
                      <a:prstDash val="solid"/>
                    </a:lnR>
                    <a:lnB w="9525">
                      <a:solidFill>
                        <a:srgbClr val="D7E0E7"/>
                      </a:solidFill>
                      <a:prstDash val="solid"/>
                    </a:lnB>
                    <a:solidFill>
                      <a:srgbClr val="EEF3F6"/>
                    </a:solidFill>
                  </a:tcPr>
                </a:tc>
              </a:tr>
              <a:tr h="561975">
                <a:tc>
                  <a:txBody>
                    <a:bodyPr lIns="114300" tIns="57150" rIns="114300" bIns="57150">
                      <a:normAutofit/>
                    </a:bodyPr>
                    <a:lstStyle/>
                    <a:p>
                      <a:pPr algn="l"/>
                      <a:r>
                        <a:rPr sz="1500" b="0">
                          <a:solidFill>
                            <a:srgbClr val="1F2933"/>
                          </a:solidFill>
                          <a:latin typeface="Calibri"/>
                          <a:ea typeface="Calibri"/>
                          <a:cs typeface="Calibri"/>
                        </a:rPr>
                        <a:t>Mid</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500" b="0">
                          <a:solidFill>
                            <a:srgbClr val="1F2933"/>
                          </a:solidFill>
                          <a:latin typeface="Calibri"/>
                          <a:ea typeface="Calibri"/>
                          <a:cs typeface="Calibri"/>
                        </a:rPr>
                        <a:t>365,909</a:t>
                      </a:r>
                    </a:p>
                  </a:txBody>
                  <a:tcPr marL="91440" marR="91440" marT="45720" marB="45720" anchor="ctr">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500" b="0">
                          <a:solidFill>
                            <a:srgbClr val="1F2933"/>
                          </a:solidFill>
                          <a:latin typeface="Calibri"/>
                          <a:ea typeface="Calibri"/>
                          <a:cs typeface="Calibri"/>
                        </a:rPr>
                        <a:t>S$4,000</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r h="561975">
                <a:tc>
                  <a:txBody>
                    <a:bodyPr lIns="114300" tIns="57150" rIns="114300" bIns="57150">
                      <a:normAutofit/>
                    </a:bodyPr>
                    <a:lstStyle/>
                    <a:p>
                      <a:pPr algn="l"/>
                      <a:r>
                        <a:rPr sz="1500" b="0">
                          <a:solidFill>
                            <a:srgbClr val="1F2933"/>
                          </a:solidFill>
                          <a:latin typeface="Calibri"/>
                          <a:ea typeface="Calibri"/>
                          <a:cs typeface="Calibri"/>
                        </a:rPr>
                        <a:t>Senior</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500" b="0">
                          <a:solidFill>
                            <a:srgbClr val="1F2933"/>
                          </a:solidFill>
                          <a:latin typeface="Calibri"/>
                          <a:ea typeface="Calibri"/>
                          <a:cs typeface="Calibri"/>
                        </a:rPr>
                        <a:t>100,459</a:t>
                      </a:r>
                    </a:p>
                  </a:txBody>
                  <a:tcPr marL="91440" marR="91440" marT="45720" marB="45720" anchor="ctr">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500" b="0">
                          <a:solidFill>
                            <a:srgbClr val="1F2933"/>
                          </a:solidFill>
                          <a:latin typeface="Calibri"/>
                          <a:ea typeface="Calibri"/>
                          <a:cs typeface="Calibri"/>
                        </a:rPr>
                        <a:t>S$5,000</a:t>
                      </a:r>
                    </a:p>
                  </a:txBody>
                  <a:tcPr marL="91440" marR="91440" marT="45720" marB="45720" anchor="ctr">
                    <a:lnR w="9525">
                      <a:solidFill>
                        <a:srgbClr val="D7E0E7"/>
                      </a:solidFill>
                      <a:prstDash val="solid"/>
                    </a:lnR>
                    <a:lnB w="9525">
                      <a:solidFill>
                        <a:srgbClr val="D7E0E7"/>
                      </a:solidFill>
                      <a:prstDash val="solid"/>
                    </a:lnB>
                    <a:solidFill>
                      <a:srgbClr val="EEF3F6"/>
                    </a:solidFill>
                  </a:tcPr>
                </a:tc>
              </a:tr>
              <a:tr h="561975">
                <a:tc>
                  <a:txBody>
                    <a:bodyPr lIns="114300" tIns="57150" rIns="114300" bIns="57150">
                      <a:normAutofit/>
                    </a:bodyPr>
                    <a:lstStyle/>
                    <a:p>
                      <a:pPr algn="l"/>
                      <a:r>
                        <a:rPr sz="1500" b="0">
                          <a:solidFill>
                            <a:srgbClr val="1F2933"/>
                          </a:solidFill>
                          <a:latin typeface="Calibri"/>
                          <a:ea typeface="Calibri"/>
                          <a:cs typeface="Calibri"/>
                        </a:rPr>
                        <a:t>Management</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500" b="0">
                          <a:solidFill>
                            <a:srgbClr val="1F2933"/>
                          </a:solidFill>
                          <a:latin typeface="Calibri"/>
                          <a:ea typeface="Calibri"/>
                          <a:cs typeface="Calibri"/>
                        </a:rPr>
                        <a:t>160,304</a:t>
                      </a:r>
                    </a:p>
                  </a:txBody>
                  <a:tcPr marL="91440" marR="91440" marT="45720" marB="45720" anchor="ctr">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500" b="0">
                          <a:solidFill>
                            <a:srgbClr val="1F2933"/>
                          </a:solidFill>
                          <a:latin typeface="Calibri"/>
                          <a:ea typeface="Calibri"/>
                          <a:cs typeface="Calibri"/>
                        </a:rPr>
                        <a:t>S$6,500</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bl>
          </a:graphicData>
        </a:graphic>
      </p:graphicFrame>
      <p:sp>
        <p:nvSpPr>
          <p:cNvPr id="6" name="salary-distribution-note">
            <a:extLst xmlns:a="http://schemas.openxmlformats.org/drawingml/2006/main">
              <a:ext uri="{FF2B5EF4-FFF2-40B4-BE49-F238E27FC236}">
                <a16:creationId xmlns:a16="http://schemas.microsoft.com/office/drawing/2014/main" id="{D7A39C6F-37F7-4976-8385-628C3723DD81}"/>
              </a:ext>
            </a:extLst>
          </p:cNvPr>
          <p:cNvSpPr>
            <a:spLocks xmlns:a="http://schemas.openxmlformats.org/drawingml/2006/main" noGrp="1"/>
          </p:cNvSpPr>
          <p:nvPr/>
        </p:nvSpPr>
        <p:spPr>
          <a:xfrm xmlns:a="http://schemas.openxmlformats.org/drawingml/2006/main">
            <a:off x="552450" y="560070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1F2933"/>
                </a:solidFill>
                <a:latin typeface="Calibri"/>
                <a:ea typeface="Calibri"/>
                <a:cs typeface="Calibri"/>
              </a:defRPr>
            </a:defPPr>
            <a:lvl1pPr algn="l">
              <a:defRPr sz="1500" b="0">
                <a:solidFill>
                  <a:srgbClr val="1F2933"/>
                </a:solidFill>
                <a:latin typeface="Calibri"/>
                <a:ea typeface="Calibri"/>
                <a:cs typeface="Calibri"/>
              </a:defRPr>
            </a:lvl1pPr>
            <a:lvl2pPr algn="l">
              <a:defRPr sz="1500" b="0">
                <a:solidFill>
                  <a:srgbClr val="1F2933"/>
                </a:solidFill>
                <a:latin typeface="Calibri"/>
                <a:ea typeface="Calibri"/>
                <a:cs typeface="Calibri"/>
              </a:defRPr>
            </a:lvl2pPr>
            <a:lvl3pPr algn="l">
              <a:defRPr sz="1500" b="0">
                <a:solidFill>
                  <a:srgbClr val="1F2933"/>
                </a:solidFill>
                <a:latin typeface="Calibri"/>
                <a:ea typeface="Calibri"/>
                <a:cs typeface="Calibri"/>
              </a:defRPr>
            </a:lvl3pPr>
            <a:lvl4pPr algn="l">
              <a:defRPr sz="1500" b="0">
                <a:solidFill>
                  <a:srgbClr val="1F2933"/>
                </a:solidFill>
                <a:latin typeface="Calibri"/>
                <a:ea typeface="Calibri"/>
                <a:cs typeface="Calibri"/>
              </a:defRPr>
            </a:lvl4pPr>
            <a:lvl5pPr algn="l">
              <a:defRPr sz="1500" b="0">
                <a:solidFill>
                  <a:srgbClr val="1F2933"/>
                </a:solidFill>
                <a:latin typeface="Calibri"/>
                <a:ea typeface="Calibri"/>
                <a:cs typeface="Calibri"/>
              </a:defRPr>
            </a:lvl5pPr>
            <a:lvl6pPr algn="l">
              <a:defRPr sz="1500" b="0">
                <a:solidFill>
                  <a:srgbClr val="1F2933"/>
                </a:solidFill>
                <a:latin typeface="Calibri"/>
                <a:ea typeface="Calibri"/>
                <a:cs typeface="Calibri"/>
              </a:defRPr>
            </a:lvl6pPr>
            <a:lvl7pPr algn="l">
              <a:defRPr sz="1500" b="0">
                <a:solidFill>
                  <a:srgbClr val="1F2933"/>
                </a:solidFill>
                <a:latin typeface="Calibri"/>
                <a:ea typeface="Calibri"/>
                <a:cs typeface="Calibri"/>
              </a:defRPr>
            </a:lvl7pPr>
            <a:lvl8pPr algn="l">
              <a:defRPr sz="1500" b="0">
                <a:solidFill>
                  <a:srgbClr val="1F2933"/>
                </a:solidFill>
                <a:latin typeface="Calibri"/>
                <a:ea typeface="Calibri"/>
                <a:cs typeface="Calibri"/>
              </a:defRPr>
            </a:lvl8pPr>
            <a:lvl9pPr algn="l">
              <a:defRPr sz="1500" b="0">
                <a:solidFill>
                  <a:srgbClr val="1F2933"/>
                </a:solidFill>
                <a:latin typeface="Calibri"/>
                <a:ea typeface="Calibri"/>
                <a:cs typeface="Calibri"/>
              </a:defRPr>
            </a:lvl9pPr>
          </a:lstStyle>
          <a:p xmlns:a="http://schemas.openxmlformats.org/drawingml/2006/main">
            <a:pPr algn="l">
              <a:defRPr sz="1500" b="0">
                <a:solidFill>
                  <a:srgbClr val="1F2933"/>
                </a:solidFill>
                <a:latin typeface="Calibri"/>
                <a:ea typeface="Calibri"/>
                <a:cs typeface="Calibri"/>
              </a:defRPr>
            </a:pPr>
            <a:r>
              <a:rPr sz="1500" b="0">
                <a:solidFill>
                  <a:srgbClr val="1F2933"/>
                </a:solidFill>
                <a:latin typeface="Calibri"/>
                <a:ea typeface="Calibri"/>
                <a:cs typeface="Calibri"/>
              </a:rPr>
              <a:t>Overall median: S$3,850. The middle half of postings falls between S$2,950 and S$5,500. The median is less affected by a small number of unusually high adverts than the average.</a:t>
            </a:r>
          </a:p>
        </p:txBody>
      </p:sp>
    </p:spTree>
    <p:extLst>
      <p:ext uri="{BB962C8B-B14F-4D97-AF65-F5344CB8AC3E}">
        <p14:creationId xmlns:p14="http://schemas.microsoft.com/office/powerpoint/2010/main" val="156632788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ppendix-title-21">
            <a:extLst xmlns:a="http://schemas.openxmlformats.org/drawingml/2006/main">
              <a:ext uri="{FF2B5EF4-FFF2-40B4-BE49-F238E27FC236}">
                <a16:creationId xmlns:a16="http://schemas.microsoft.com/office/drawing/2014/main" id="{231B5CF6-7381-432E-9BC7-6C8AF3DE91FD}"/>
              </a:ext>
            </a:extLst>
          </p:cNvPr>
          <p:cNvSpPr>
            <a:spLocks xmlns:a="http://schemas.openxmlformats.org/drawingml/2006/main" noGrp="1"/>
          </p:cNvSpPr>
          <p:nvPr/>
        </p:nvSpPr>
        <p:spPr>
          <a:xfrm xmlns:a="http://schemas.openxmlformats.org/drawingml/2006/main">
            <a:off x="552450" y="400050"/>
            <a:ext cx="11068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925" b="1">
                <a:solidFill>
                  <a:srgbClr val="1B2A41"/>
                </a:solidFill>
                <a:latin typeface="Cambria"/>
                <a:ea typeface="Cambria"/>
                <a:cs typeface="Cambria"/>
              </a:defRPr>
            </a:defPPr>
            <a:lvl1pPr algn="l">
              <a:defRPr sz="2925" b="1">
                <a:solidFill>
                  <a:srgbClr val="1B2A41"/>
                </a:solidFill>
                <a:latin typeface="Cambria"/>
                <a:ea typeface="Cambria"/>
                <a:cs typeface="Cambria"/>
              </a:defRPr>
            </a:lvl1pPr>
            <a:lvl2pPr algn="l">
              <a:defRPr sz="2925" b="1">
                <a:solidFill>
                  <a:srgbClr val="1B2A41"/>
                </a:solidFill>
                <a:latin typeface="Cambria"/>
                <a:ea typeface="Cambria"/>
                <a:cs typeface="Cambria"/>
              </a:defRPr>
            </a:lvl2pPr>
            <a:lvl3pPr algn="l">
              <a:defRPr sz="2925" b="1">
                <a:solidFill>
                  <a:srgbClr val="1B2A41"/>
                </a:solidFill>
                <a:latin typeface="Cambria"/>
                <a:ea typeface="Cambria"/>
                <a:cs typeface="Cambria"/>
              </a:defRPr>
            </a:lvl3pPr>
            <a:lvl4pPr algn="l">
              <a:defRPr sz="2925" b="1">
                <a:solidFill>
                  <a:srgbClr val="1B2A41"/>
                </a:solidFill>
                <a:latin typeface="Cambria"/>
                <a:ea typeface="Cambria"/>
                <a:cs typeface="Cambria"/>
              </a:defRPr>
            </a:lvl4pPr>
            <a:lvl5pPr algn="l">
              <a:defRPr sz="2925" b="1">
                <a:solidFill>
                  <a:srgbClr val="1B2A41"/>
                </a:solidFill>
                <a:latin typeface="Cambria"/>
                <a:ea typeface="Cambria"/>
                <a:cs typeface="Cambria"/>
              </a:defRPr>
            </a:lvl5pPr>
            <a:lvl6pPr algn="l">
              <a:defRPr sz="2925" b="1">
                <a:solidFill>
                  <a:srgbClr val="1B2A41"/>
                </a:solidFill>
                <a:latin typeface="Cambria"/>
                <a:ea typeface="Cambria"/>
                <a:cs typeface="Cambria"/>
              </a:defRPr>
            </a:lvl6pPr>
            <a:lvl7pPr algn="l">
              <a:defRPr sz="2925" b="1">
                <a:solidFill>
                  <a:srgbClr val="1B2A41"/>
                </a:solidFill>
                <a:latin typeface="Cambria"/>
                <a:ea typeface="Cambria"/>
                <a:cs typeface="Cambria"/>
              </a:defRPr>
            </a:lvl7pPr>
            <a:lvl8pPr algn="l">
              <a:defRPr sz="2925" b="1">
                <a:solidFill>
                  <a:srgbClr val="1B2A41"/>
                </a:solidFill>
                <a:latin typeface="Cambria"/>
                <a:ea typeface="Cambria"/>
                <a:cs typeface="Cambria"/>
              </a:defRPr>
            </a:lvl8pPr>
            <a:lvl9pPr algn="l">
              <a:defRPr sz="2925" b="1">
                <a:solidFill>
                  <a:srgbClr val="1B2A41"/>
                </a:solidFill>
                <a:latin typeface="Cambria"/>
                <a:ea typeface="Cambria"/>
                <a:cs typeface="Cambria"/>
              </a:defRPr>
            </a:lvl9pPr>
          </a:lstStyle>
          <a:p xmlns:a="http://schemas.openxmlformats.org/drawingml/2006/main">
            <a:pPr algn="l">
              <a:defRPr sz="2925" b="1">
                <a:solidFill>
                  <a:srgbClr val="1B2A41"/>
                </a:solidFill>
                <a:latin typeface="Cambria"/>
                <a:ea typeface="Cambria"/>
                <a:cs typeface="Cambria"/>
              </a:defRPr>
            </a:pPr>
            <a:r>
              <a:rPr sz="2925" b="1">
                <a:solidFill>
                  <a:srgbClr val="1B2A41"/>
                </a:solidFill>
                <a:latin typeface="Cambria"/>
                <a:ea typeface="Cambria"/>
                <a:cs typeface="Cambria"/>
              </a:rPr>
              <a:t>Appendix | Applications per vacancy</a:t>
            </a:r>
          </a:p>
        </p:txBody>
      </p:sp>
      <p:sp>
        <p:nvSpPr>
          <p:cNvPr id="2" name="appendix-label-21">
            <a:extLst xmlns:a="http://schemas.openxmlformats.org/drawingml/2006/main">
              <a:ext uri="{FF2B5EF4-FFF2-40B4-BE49-F238E27FC236}">
                <a16:creationId xmlns:a16="http://schemas.microsoft.com/office/drawing/2014/main" id="{95A966C8-403B-4ED0-B8B6-06FCC7CC6BD3}"/>
              </a:ext>
            </a:extLst>
          </p:cNvPr>
          <p:cNvSpPr>
            <a:spLocks xmlns:a="http://schemas.openxmlformats.org/drawingml/2006/main" noGrp="1"/>
          </p:cNvSpPr>
          <p:nvPr/>
        </p:nvSpPr>
        <p:spPr>
          <a:xfrm xmlns:a="http://schemas.openxmlformats.org/drawingml/2006/main">
            <a:off x="552450" y="11811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A9D8F"/>
                </a:solidFill>
                <a:latin typeface="Calibri"/>
                <a:ea typeface="Calibri"/>
                <a:cs typeface="Calibri"/>
              </a:defRPr>
            </a:defPPr>
            <a:lvl1pPr algn="l">
              <a:defRPr sz="1125" b="1">
                <a:solidFill>
                  <a:srgbClr val="2A9D8F"/>
                </a:solidFill>
                <a:latin typeface="Calibri"/>
                <a:ea typeface="Calibri"/>
                <a:cs typeface="Calibri"/>
              </a:defRPr>
            </a:lvl1pPr>
            <a:lvl2pPr algn="l">
              <a:defRPr sz="1125" b="1">
                <a:solidFill>
                  <a:srgbClr val="2A9D8F"/>
                </a:solidFill>
                <a:latin typeface="Calibri"/>
                <a:ea typeface="Calibri"/>
                <a:cs typeface="Calibri"/>
              </a:defRPr>
            </a:lvl2pPr>
            <a:lvl3pPr algn="l">
              <a:defRPr sz="1125" b="1">
                <a:solidFill>
                  <a:srgbClr val="2A9D8F"/>
                </a:solidFill>
                <a:latin typeface="Calibri"/>
                <a:ea typeface="Calibri"/>
                <a:cs typeface="Calibri"/>
              </a:defRPr>
            </a:lvl3pPr>
            <a:lvl4pPr algn="l">
              <a:defRPr sz="1125" b="1">
                <a:solidFill>
                  <a:srgbClr val="2A9D8F"/>
                </a:solidFill>
                <a:latin typeface="Calibri"/>
                <a:ea typeface="Calibri"/>
                <a:cs typeface="Calibri"/>
              </a:defRPr>
            </a:lvl4pPr>
            <a:lvl5pPr algn="l">
              <a:defRPr sz="1125" b="1">
                <a:solidFill>
                  <a:srgbClr val="2A9D8F"/>
                </a:solidFill>
                <a:latin typeface="Calibri"/>
                <a:ea typeface="Calibri"/>
                <a:cs typeface="Calibri"/>
              </a:defRPr>
            </a:lvl5pPr>
            <a:lvl6pPr algn="l">
              <a:defRPr sz="1125" b="1">
                <a:solidFill>
                  <a:srgbClr val="2A9D8F"/>
                </a:solidFill>
                <a:latin typeface="Calibri"/>
                <a:ea typeface="Calibri"/>
                <a:cs typeface="Calibri"/>
              </a:defRPr>
            </a:lvl6pPr>
            <a:lvl7pPr algn="l">
              <a:defRPr sz="1125" b="1">
                <a:solidFill>
                  <a:srgbClr val="2A9D8F"/>
                </a:solidFill>
                <a:latin typeface="Calibri"/>
                <a:ea typeface="Calibri"/>
                <a:cs typeface="Calibri"/>
              </a:defRPr>
            </a:lvl7pPr>
            <a:lvl8pPr algn="l">
              <a:defRPr sz="1125" b="1">
                <a:solidFill>
                  <a:srgbClr val="2A9D8F"/>
                </a:solidFill>
                <a:latin typeface="Calibri"/>
                <a:ea typeface="Calibri"/>
                <a:cs typeface="Calibri"/>
              </a:defRPr>
            </a:lvl8pPr>
            <a:lvl9pPr algn="l">
              <a:defRPr sz="1125" b="1">
                <a:solidFill>
                  <a:srgbClr val="2A9D8F"/>
                </a:solidFill>
                <a:latin typeface="Calibri"/>
                <a:ea typeface="Calibri"/>
                <a:cs typeface="Calibri"/>
              </a:defRPr>
            </a:lvl9pPr>
          </a:lstStyle>
          <a:p xmlns:a="http://schemas.openxmlformats.org/drawingml/2006/main">
            <a:pPr algn="l">
              <a:defRPr sz="1125" b="1">
                <a:solidFill>
                  <a:srgbClr val="2A9D8F"/>
                </a:solidFill>
                <a:latin typeface="Calibri"/>
                <a:ea typeface="Calibri"/>
                <a:cs typeface="Calibri"/>
              </a:defRPr>
            </a:pPr>
            <a:r>
              <a:rPr sz="1125" b="1">
                <a:solidFill>
                  <a:srgbClr val="2A9D8F"/>
                </a:solidFill>
                <a:latin typeface="Calibri"/>
                <a:ea typeface="Calibri"/>
                <a:cs typeface="Calibri"/>
              </a:rPr>
              <a:t>OPTIONAL Q&amp;A DETAIL</a:t>
            </a:r>
          </a:p>
        </p:txBody>
      </p:sp>
      <p:sp>
        <p:nvSpPr>
          <p:cNvPr id="3" name="appendix-footer-21">
            <a:extLst xmlns:a="http://schemas.openxmlformats.org/drawingml/2006/main">
              <a:ext uri="{FF2B5EF4-FFF2-40B4-BE49-F238E27FC236}">
                <a16:creationId xmlns:a16="http://schemas.microsoft.com/office/drawing/2014/main" id="{5DA8CC4C-D416-434B-A0DD-CB17EAFF280D}"/>
              </a:ext>
            </a:extLst>
          </p:cNvPr>
          <p:cNvSpPr>
            <a:spLocks xmlns:a="http://schemas.openxmlformats.org/drawingml/2006/main" noGrp="1"/>
          </p:cNvSpPr>
          <p:nvPr/>
        </p:nvSpPr>
        <p:spPr>
          <a:xfrm xmlns:a="http://schemas.openxmlformats.org/drawingml/2006/main">
            <a:off x="552450" y="6343650"/>
            <a:ext cx="731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B6770"/>
                </a:solidFill>
                <a:latin typeface="Calibri"/>
                <a:ea typeface="Calibri"/>
                <a:cs typeface="Calibri"/>
              </a:defRPr>
            </a:defPPr>
            <a:lvl1pPr algn="l">
              <a:defRPr sz="975" b="0">
                <a:solidFill>
                  <a:srgbClr val="5B6770"/>
                </a:solidFill>
                <a:latin typeface="Calibri"/>
                <a:ea typeface="Calibri"/>
                <a:cs typeface="Calibri"/>
              </a:defRPr>
            </a:lvl1pPr>
            <a:lvl2pPr algn="l">
              <a:defRPr sz="975" b="0">
                <a:solidFill>
                  <a:srgbClr val="5B6770"/>
                </a:solidFill>
                <a:latin typeface="Calibri"/>
                <a:ea typeface="Calibri"/>
                <a:cs typeface="Calibri"/>
              </a:defRPr>
            </a:lvl2pPr>
            <a:lvl3pPr algn="l">
              <a:defRPr sz="975" b="0">
                <a:solidFill>
                  <a:srgbClr val="5B6770"/>
                </a:solidFill>
                <a:latin typeface="Calibri"/>
                <a:ea typeface="Calibri"/>
                <a:cs typeface="Calibri"/>
              </a:defRPr>
            </a:lvl3pPr>
            <a:lvl4pPr algn="l">
              <a:defRPr sz="975" b="0">
                <a:solidFill>
                  <a:srgbClr val="5B6770"/>
                </a:solidFill>
                <a:latin typeface="Calibri"/>
                <a:ea typeface="Calibri"/>
                <a:cs typeface="Calibri"/>
              </a:defRPr>
            </a:lvl4pPr>
            <a:lvl5pPr algn="l">
              <a:defRPr sz="975" b="0">
                <a:solidFill>
                  <a:srgbClr val="5B6770"/>
                </a:solidFill>
                <a:latin typeface="Calibri"/>
                <a:ea typeface="Calibri"/>
                <a:cs typeface="Calibri"/>
              </a:defRPr>
            </a:lvl5pPr>
            <a:lvl6pPr algn="l">
              <a:defRPr sz="975" b="0">
                <a:solidFill>
                  <a:srgbClr val="5B6770"/>
                </a:solidFill>
                <a:latin typeface="Calibri"/>
                <a:ea typeface="Calibri"/>
                <a:cs typeface="Calibri"/>
              </a:defRPr>
            </a:lvl6pPr>
            <a:lvl7pPr algn="l">
              <a:defRPr sz="975" b="0">
                <a:solidFill>
                  <a:srgbClr val="5B6770"/>
                </a:solidFill>
                <a:latin typeface="Calibri"/>
                <a:ea typeface="Calibri"/>
                <a:cs typeface="Calibri"/>
              </a:defRPr>
            </a:lvl7pPr>
            <a:lvl8pPr algn="l">
              <a:defRPr sz="975" b="0">
                <a:solidFill>
                  <a:srgbClr val="5B6770"/>
                </a:solidFill>
                <a:latin typeface="Calibri"/>
                <a:ea typeface="Calibri"/>
                <a:cs typeface="Calibri"/>
              </a:defRPr>
            </a:lvl8pPr>
            <a:lvl9pPr algn="l">
              <a:defRPr sz="975" b="0">
                <a:solidFill>
                  <a:srgbClr val="5B6770"/>
                </a:solidFill>
                <a:latin typeface="Calibri"/>
                <a:ea typeface="Calibri"/>
                <a:cs typeface="Calibri"/>
              </a:defRPr>
            </a:lvl9pPr>
          </a:lstStyle>
          <a:p xmlns:a="http://schemas.openxmlformats.org/drawingml/2006/main">
            <a:pPr algn="l">
              <a:defRPr sz="975" b="0">
                <a:solidFill>
                  <a:srgbClr val="5B6770"/>
                </a:solidFill>
                <a:latin typeface="Calibri"/>
                <a:ea typeface="Calibri"/>
                <a:cs typeface="Calibri"/>
              </a:defRPr>
            </a:pPr>
            <a:r>
              <a:rPr sz="975" b="0">
                <a:solidFill>
                  <a:srgbClr val="5B6770"/>
                </a:solidFill>
                <a:latin typeface="Calibri"/>
                <a:ea typeface="Calibri"/>
                <a:cs typeface="Calibri"/>
              </a:rPr>
              <a:t>Singapore Jobs Explorer  ·  21</a:t>
            </a:r>
          </a:p>
        </p:txBody>
      </p:sp>
      <p:sp>
        <p:nvSpPr>
          <p:cNvPr id="4" name="competition-definition">
            <a:extLst xmlns:a="http://schemas.openxmlformats.org/drawingml/2006/main">
              <a:ext uri="{FF2B5EF4-FFF2-40B4-BE49-F238E27FC236}">
                <a16:creationId xmlns:a16="http://schemas.microsoft.com/office/drawing/2014/main" id="{D35718BE-0040-4AC2-A5F6-52CBE3562CEA}"/>
              </a:ext>
            </a:extLst>
          </p:cNvPr>
          <p:cNvSpPr>
            <a:spLocks xmlns:a="http://schemas.openxmlformats.org/drawingml/2006/main" noGrp="1"/>
          </p:cNvSpPr>
          <p:nvPr/>
        </p:nvSpPr>
        <p:spPr>
          <a:xfrm xmlns:a="http://schemas.openxmlformats.org/drawingml/2006/main">
            <a:off x="552450" y="1495425"/>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1B2A41"/>
                </a:solidFill>
                <a:latin typeface="Calibri"/>
                <a:ea typeface="Calibri"/>
                <a:cs typeface="Calibri"/>
              </a:defRPr>
            </a:defPPr>
            <a:lvl1pPr algn="l">
              <a:defRPr sz="1800" b="1">
                <a:solidFill>
                  <a:srgbClr val="1B2A41"/>
                </a:solidFill>
                <a:latin typeface="Calibri"/>
                <a:ea typeface="Calibri"/>
                <a:cs typeface="Calibri"/>
              </a:defRPr>
            </a:lvl1pPr>
            <a:lvl2pPr algn="l">
              <a:defRPr sz="1800" b="1">
                <a:solidFill>
                  <a:srgbClr val="1B2A41"/>
                </a:solidFill>
                <a:latin typeface="Calibri"/>
                <a:ea typeface="Calibri"/>
                <a:cs typeface="Calibri"/>
              </a:defRPr>
            </a:lvl2pPr>
            <a:lvl3pPr algn="l">
              <a:defRPr sz="1800" b="1">
                <a:solidFill>
                  <a:srgbClr val="1B2A41"/>
                </a:solidFill>
                <a:latin typeface="Calibri"/>
                <a:ea typeface="Calibri"/>
                <a:cs typeface="Calibri"/>
              </a:defRPr>
            </a:lvl3pPr>
            <a:lvl4pPr algn="l">
              <a:defRPr sz="1800" b="1">
                <a:solidFill>
                  <a:srgbClr val="1B2A41"/>
                </a:solidFill>
                <a:latin typeface="Calibri"/>
                <a:ea typeface="Calibri"/>
                <a:cs typeface="Calibri"/>
              </a:defRPr>
            </a:lvl4pPr>
            <a:lvl5pPr algn="l">
              <a:defRPr sz="1800" b="1">
                <a:solidFill>
                  <a:srgbClr val="1B2A41"/>
                </a:solidFill>
                <a:latin typeface="Calibri"/>
                <a:ea typeface="Calibri"/>
                <a:cs typeface="Calibri"/>
              </a:defRPr>
            </a:lvl5pPr>
            <a:lvl6pPr algn="l">
              <a:defRPr sz="1800" b="1">
                <a:solidFill>
                  <a:srgbClr val="1B2A41"/>
                </a:solidFill>
                <a:latin typeface="Calibri"/>
                <a:ea typeface="Calibri"/>
                <a:cs typeface="Calibri"/>
              </a:defRPr>
            </a:lvl6pPr>
            <a:lvl7pPr algn="l">
              <a:defRPr sz="1800" b="1">
                <a:solidFill>
                  <a:srgbClr val="1B2A41"/>
                </a:solidFill>
                <a:latin typeface="Calibri"/>
                <a:ea typeface="Calibri"/>
                <a:cs typeface="Calibri"/>
              </a:defRPr>
            </a:lvl7pPr>
            <a:lvl8pPr algn="l">
              <a:defRPr sz="1800" b="1">
                <a:solidFill>
                  <a:srgbClr val="1B2A41"/>
                </a:solidFill>
                <a:latin typeface="Calibri"/>
                <a:ea typeface="Calibri"/>
                <a:cs typeface="Calibri"/>
              </a:defRPr>
            </a:lvl8pPr>
            <a:lvl9pPr algn="l">
              <a:defRPr sz="1800" b="1">
                <a:solidFill>
                  <a:srgbClr val="1B2A41"/>
                </a:solidFill>
                <a:latin typeface="Calibri"/>
                <a:ea typeface="Calibri"/>
                <a:cs typeface="Calibri"/>
              </a:defRPr>
            </a:lvl9pPr>
          </a:lstStyle>
          <a:p xmlns:a="http://schemas.openxmlformats.org/drawingml/2006/main">
            <a:pPr algn="l">
              <a:defRPr sz="1800" b="1">
                <a:solidFill>
                  <a:srgbClr val="1B2A41"/>
                </a:solidFill>
                <a:latin typeface="Calibri"/>
                <a:ea typeface="Calibri"/>
                <a:cs typeface="Calibri"/>
              </a:defRPr>
            </a:pPr>
            <a:r>
              <a:rPr sz="1800" b="1">
                <a:solidFill>
                  <a:srgbClr val="1B2A41"/>
                </a:solidFill>
                <a:latin typeface="Calibri"/>
                <a:ea typeface="Calibri"/>
                <a:cs typeface="Calibri"/>
              </a:rPr>
              <a:t>Measure = total recorded applications ÷ total listed vacancies within a category</a:t>
            </a:r>
          </a:p>
        </p:txBody>
      </p:sp>
      <p:graphicFrame>
        <p:nvGraphicFramePr>
          <p:cNvPr id="5" name="">
            <a:extLst xmlns:a="http://schemas.openxmlformats.org/drawingml/2006/main">
              <a:ext uri="{FF2B5EF4-FFF2-40B4-BE49-F238E27FC236}">
                <a16:creationId xmlns:a16="http://schemas.microsoft.com/office/drawing/2014/main" id="{82D745D2-55EE-4007-B8FB-434F38FEAC05}"/>
              </a:ext>
            </a:extLst>
          </p:cNvPr>
          <p:cNvGraphicFramePr/>
          <p:nvPr/>
        </p:nvGraphicFramePr>
        <p:xfrm>
          <a:off xmlns:a="http://schemas.openxmlformats.org/drawingml/2006/main" x="552450" y="2190750"/>
          <a:ext xmlns:a="http://schemas.openxmlformats.org/drawingml/2006/main" cx="11087100" cy="2857500"/>
        </p:xfrm>
        <a:graphic xmlns:a="http://schemas.openxmlformats.org/drawingml/2006/main">
          <a:graphicData uri="http://schemas.openxmlformats.org/drawingml/2006/table">
            <a:tbl>
              <a:tblPr firstRow="0" bandRow="0"/>
              <a:tblGrid>
                <a:gridCol w="3714750"/>
                <a:gridCol w="3238500"/>
                <a:gridCol w="4133850"/>
              </a:tblGrid>
              <a:tr h="571500">
                <a:tc>
                  <a:txBody>
                    <a:bodyPr lIns="114300" tIns="57150" rIns="114300" bIns="57150">
                      <a:normAutofit/>
                    </a:bodyPr>
                    <a:lstStyle/>
                    <a:p>
                      <a:pPr algn="l"/>
                      <a:r>
                        <a:rPr sz="1500" b="1">
                          <a:solidFill>
                            <a:srgbClr val="FFFFFF"/>
                          </a:solidFill>
                          <a:latin typeface="Calibri"/>
                          <a:ea typeface="Calibri"/>
                          <a:cs typeface="Calibri"/>
                        </a:rPr>
                        <a:t>Category</a:t>
                      </a:r>
                    </a:p>
                  </a:txBody>
                  <a:tcPr marL="91440" marR="91440" marT="45720" marB="45720" anchor="ctr">
                    <a:lnL w="9525">
                      <a:solidFill>
                        <a:srgbClr val="D7E0E7"/>
                      </a:solidFill>
                      <a:prstDash val="solid"/>
                    </a:lnL>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c>
                  <a:txBody>
                    <a:bodyPr lIns="114300" tIns="57150" rIns="114300" bIns="57150">
                      <a:normAutofit/>
                    </a:bodyPr>
                    <a:lstStyle/>
                    <a:p>
                      <a:pPr algn="ctr"/>
                      <a:r>
                        <a:rPr sz="1500" b="1">
                          <a:solidFill>
                            <a:srgbClr val="FFFFFF"/>
                          </a:solidFill>
                          <a:latin typeface="Calibri"/>
                          <a:ea typeface="Calibri"/>
                          <a:cs typeface="Calibri"/>
                        </a:rPr>
                        <a:t>Applications per vacancy</a:t>
                      </a:r>
                    </a:p>
                  </a:txBody>
                  <a:tcPr marL="91440" marR="91440" marT="45720" marB="45720" anchor="ctr">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c>
                  <a:txBody>
                    <a:bodyPr lIns="114300" tIns="57150" rIns="114300" bIns="57150">
                      <a:normAutofit/>
                    </a:bodyPr>
                    <a:lstStyle/>
                    <a:p>
                      <a:pPr algn="ctr"/>
                      <a:r>
                        <a:rPr sz="1500" b="1">
                          <a:solidFill>
                            <a:srgbClr val="FFFFFF"/>
                          </a:solidFill>
                          <a:latin typeface="Calibri"/>
                          <a:ea typeface="Calibri"/>
                          <a:cs typeface="Calibri"/>
                        </a:rPr>
                        <a:t>How to read it</a:t>
                      </a:r>
                    </a:p>
                  </a:txBody>
                  <a:tcPr marL="91440" marR="91440" marT="45720" marB="45720" anchor="ctr">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r>
              <a:tr h="571500">
                <a:tc>
                  <a:txBody>
                    <a:bodyPr lIns="114300" tIns="57150" rIns="114300" bIns="57150">
                      <a:normAutofit/>
                    </a:bodyPr>
                    <a:lstStyle/>
                    <a:p>
                      <a:pPr algn="l"/>
                      <a:r>
                        <a:rPr sz="1425" b="0">
                          <a:solidFill>
                            <a:srgbClr val="1F2933"/>
                          </a:solidFill>
                          <a:latin typeface="Calibri"/>
                          <a:ea typeface="Calibri"/>
                          <a:cs typeface="Calibri"/>
                        </a:rPr>
                        <a:t>Personal Care / Beauty</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425" b="0">
                          <a:solidFill>
                            <a:srgbClr val="1F2933"/>
                          </a:solidFill>
                          <a:latin typeface="Calibri"/>
                          <a:ea typeface="Calibri"/>
                          <a:cs typeface="Calibri"/>
                        </a:rPr>
                        <a:t>0.15</a:t>
                      </a:r>
                    </a:p>
                  </a:txBody>
                  <a:tcPr marL="91440" marR="91440" marT="45720" marB="45720" anchor="ctr">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425" b="0">
                          <a:solidFill>
                            <a:srgbClr val="1F2933"/>
                          </a:solidFill>
                          <a:latin typeface="Calibri"/>
                          <a:ea typeface="Calibri"/>
                          <a:cs typeface="Calibri"/>
                        </a:rPr>
                        <a:t>About 15 recorded applications per 100 seats</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r h="571500">
                <a:tc>
                  <a:txBody>
                    <a:bodyPr lIns="114300" tIns="57150" rIns="114300" bIns="57150">
                      <a:normAutofit/>
                    </a:bodyPr>
                    <a:lstStyle/>
                    <a:p>
                      <a:pPr algn="l"/>
                      <a:r>
                        <a:rPr sz="1425" b="0">
                          <a:solidFill>
                            <a:srgbClr val="1F2933"/>
                          </a:solidFill>
                          <a:latin typeface="Calibri"/>
                          <a:ea typeface="Calibri"/>
                          <a:cs typeface="Calibri"/>
                        </a:rPr>
                        <a:t>F&amp;B</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425" b="0">
                          <a:solidFill>
                            <a:srgbClr val="1F2933"/>
                          </a:solidFill>
                          <a:latin typeface="Calibri"/>
                          <a:ea typeface="Calibri"/>
                          <a:cs typeface="Calibri"/>
                        </a:rPr>
                        <a:t>0.21</a:t>
                      </a:r>
                    </a:p>
                  </a:txBody>
                  <a:tcPr marL="91440" marR="91440" marT="45720" marB="45720" anchor="ctr">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425" b="0">
                          <a:solidFill>
                            <a:srgbClr val="1F2933"/>
                          </a:solidFill>
                          <a:latin typeface="Calibri"/>
                          <a:ea typeface="Calibri"/>
                          <a:cs typeface="Calibri"/>
                        </a:rPr>
                        <a:t>About 21 recorded applications per 100 seats</a:t>
                      </a:r>
                    </a:p>
                  </a:txBody>
                  <a:tcPr marL="91440" marR="91440" marT="45720" marB="45720" anchor="ctr">
                    <a:lnR w="9525">
                      <a:solidFill>
                        <a:srgbClr val="D7E0E7"/>
                      </a:solidFill>
                      <a:prstDash val="solid"/>
                    </a:lnR>
                    <a:lnB w="9525">
                      <a:solidFill>
                        <a:srgbClr val="D7E0E7"/>
                      </a:solidFill>
                      <a:prstDash val="solid"/>
                    </a:lnB>
                    <a:solidFill>
                      <a:srgbClr val="EEF3F6"/>
                    </a:solidFill>
                  </a:tcPr>
                </a:tc>
              </a:tr>
              <a:tr h="571500">
                <a:tc>
                  <a:txBody>
                    <a:bodyPr lIns="114300" tIns="57150" rIns="114300" bIns="57150">
                      <a:normAutofit/>
                    </a:bodyPr>
                    <a:lstStyle/>
                    <a:p>
                      <a:pPr algn="l"/>
                      <a:r>
                        <a:rPr sz="1425" b="0">
                          <a:solidFill>
                            <a:srgbClr val="1F2933"/>
                          </a:solidFill>
                          <a:latin typeface="Calibri"/>
                          <a:ea typeface="Calibri"/>
                          <a:cs typeface="Calibri"/>
                        </a:rPr>
                        <a:t>Marketing / Public Relations</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425" b="0">
                          <a:solidFill>
                            <a:srgbClr val="1F2933"/>
                          </a:solidFill>
                          <a:latin typeface="Calibri"/>
                          <a:ea typeface="Calibri"/>
                          <a:cs typeface="Calibri"/>
                        </a:rPr>
                        <a:t>1.48</a:t>
                      </a:r>
                    </a:p>
                  </a:txBody>
                  <a:tcPr marL="91440" marR="91440" marT="45720" marB="45720" anchor="ctr">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425" b="0">
                          <a:solidFill>
                            <a:srgbClr val="1F2933"/>
                          </a:solidFill>
                          <a:latin typeface="Calibri"/>
                          <a:ea typeface="Calibri"/>
                          <a:cs typeface="Calibri"/>
                        </a:rPr>
                        <a:t>About 1.5 recorded applications per seat</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r h="571500">
                <a:tc>
                  <a:txBody>
                    <a:bodyPr lIns="114300" tIns="57150" rIns="114300" bIns="57150">
                      <a:normAutofit/>
                    </a:bodyPr>
                    <a:lstStyle/>
                    <a:p>
                      <a:pPr algn="l"/>
                      <a:r>
                        <a:rPr sz="1425" b="0">
                          <a:solidFill>
                            <a:srgbClr val="1F2933"/>
                          </a:solidFill>
                          <a:latin typeface="Calibri"/>
                          <a:ea typeface="Calibri"/>
                          <a:cs typeface="Calibri"/>
                        </a:rPr>
                        <a:t>Risk Management</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425" b="0">
                          <a:solidFill>
                            <a:srgbClr val="1F2933"/>
                          </a:solidFill>
                          <a:latin typeface="Calibri"/>
                          <a:ea typeface="Calibri"/>
                          <a:cs typeface="Calibri"/>
                        </a:rPr>
                        <a:t>2.16</a:t>
                      </a:r>
                    </a:p>
                  </a:txBody>
                  <a:tcPr marL="91440" marR="91440" marT="45720" marB="45720" anchor="ctr">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425" b="0">
                          <a:solidFill>
                            <a:srgbClr val="1F2933"/>
                          </a:solidFill>
                          <a:latin typeface="Calibri"/>
                          <a:ea typeface="Calibri"/>
                          <a:cs typeface="Calibri"/>
                        </a:rPr>
                        <a:t>About 2.2 recorded applications per seat</a:t>
                      </a:r>
                    </a:p>
                  </a:txBody>
                  <a:tcPr marL="91440" marR="91440" marT="45720" marB="45720" anchor="ctr">
                    <a:lnR w="9525">
                      <a:solidFill>
                        <a:srgbClr val="D7E0E7"/>
                      </a:solidFill>
                      <a:prstDash val="solid"/>
                    </a:lnR>
                    <a:lnB w="9525">
                      <a:solidFill>
                        <a:srgbClr val="D7E0E7"/>
                      </a:solidFill>
                      <a:prstDash val="solid"/>
                    </a:lnB>
                    <a:solidFill>
                      <a:srgbClr val="EEF3F6"/>
                    </a:solidFill>
                  </a:tcPr>
                </a:tc>
              </a:tr>
            </a:tbl>
          </a:graphicData>
        </a:graphic>
      </p:graphicFrame>
      <p:sp>
        <p:nvSpPr>
          <p:cNvPr id="6" name="competition-caveat">
            <a:extLst xmlns:a="http://schemas.openxmlformats.org/drawingml/2006/main">
              <a:ext uri="{FF2B5EF4-FFF2-40B4-BE49-F238E27FC236}">
                <a16:creationId xmlns:a16="http://schemas.microsoft.com/office/drawing/2014/main" id="{9A26636A-2229-4413-965E-389B922C6484}"/>
              </a:ext>
            </a:extLst>
          </p:cNvPr>
          <p:cNvSpPr>
            <a:spLocks xmlns:a="http://schemas.openxmlformats.org/drawingml/2006/main" noGrp="1"/>
          </p:cNvSpPr>
          <p:nvPr/>
        </p:nvSpPr>
        <p:spPr>
          <a:xfrm xmlns:a="http://schemas.openxmlformats.org/drawingml/2006/main">
            <a:off x="552450" y="53149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770"/>
                </a:solidFill>
                <a:latin typeface="Calibri"/>
                <a:ea typeface="Calibri"/>
                <a:cs typeface="Calibri"/>
              </a:defRPr>
            </a:defPPr>
            <a:lvl1pPr algn="l">
              <a:defRPr sz="1575" b="0">
                <a:solidFill>
                  <a:srgbClr val="5B6770"/>
                </a:solidFill>
                <a:latin typeface="Calibri"/>
                <a:ea typeface="Calibri"/>
                <a:cs typeface="Calibri"/>
              </a:defRPr>
            </a:lvl1pPr>
            <a:lvl2pPr algn="l">
              <a:defRPr sz="1575" b="0">
                <a:solidFill>
                  <a:srgbClr val="5B6770"/>
                </a:solidFill>
                <a:latin typeface="Calibri"/>
                <a:ea typeface="Calibri"/>
                <a:cs typeface="Calibri"/>
              </a:defRPr>
            </a:lvl2pPr>
            <a:lvl3pPr algn="l">
              <a:defRPr sz="1575" b="0">
                <a:solidFill>
                  <a:srgbClr val="5B6770"/>
                </a:solidFill>
                <a:latin typeface="Calibri"/>
                <a:ea typeface="Calibri"/>
                <a:cs typeface="Calibri"/>
              </a:defRPr>
            </a:lvl3pPr>
            <a:lvl4pPr algn="l">
              <a:defRPr sz="1575" b="0">
                <a:solidFill>
                  <a:srgbClr val="5B6770"/>
                </a:solidFill>
                <a:latin typeface="Calibri"/>
                <a:ea typeface="Calibri"/>
                <a:cs typeface="Calibri"/>
              </a:defRPr>
            </a:lvl4pPr>
            <a:lvl5pPr algn="l">
              <a:defRPr sz="1575" b="0">
                <a:solidFill>
                  <a:srgbClr val="5B6770"/>
                </a:solidFill>
                <a:latin typeface="Calibri"/>
                <a:ea typeface="Calibri"/>
                <a:cs typeface="Calibri"/>
              </a:defRPr>
            </a:lvl5pPr>
            <a:lvl6pPr algn="l">
              <a:defRPr sz="1575" b="0">
                <a:solidFill>
                  <a:srgbClr val="5B6770"/>
                </a:solidFill>
                <a:latin typeface="Calibri"/>
                <a:ea typeface="Calibri"/>
                <a:cs typeface="Calibri"/>
              </a:defRPr>
            </a:lvl6pPr>
            <a:lvl7pPr algn="l">
              <a:defRPr sz="1575" b="0">
                <a:solidFill>
                  <a:srgbClr val="5B6770"/>
                </a:solidFill>
                <a:latin typeface="Calibri"/>
                <a:ea typeface="Calibri"/>
                <a:cs typeface="Calibri"/>
              </a:defRPr>
            </a:lvl7pPr>
            <a:lvl8pPr algn="l">
              <a:defRPr sz="1575" b="0">
                <a:solidFill>
                  <a:srgbClr val="5B6770"/>
                </a:solidFill>
                <a:latin typeface="Calibri"/>
                <a:ea typeface="Calibri"/>
                <a:cs typeface="Calibri"/>
              </a:defRPr>
            </a:lvl8pPr>
            <a:lvl9pPr algn="l">
              <a:defRPr sz="1575" b="0">
                <a:solidFill>
                  <a:srgbClr val="5B6770"/>
                </a:solidFill>
                <a:latin typeface="Calibri"/>
                <a:ea typeface="Calibri"/>
                <a:cs typeface="Calibri"/>
              </a:defRPr>
            </a:lvl9pPr>
          </a:lstStyle>
          <a:p xmlns:a="http://schemas.openxmlformats.org/drawingml/2006/main">
            <a:pPr algn="l">
              <a:defRPr sz="1575" b="0">
                <a:solidFill>
                  <a:srgbClr val="5B6770"/>
                </a:solidFill>
                <a:latin typeface="Calibri"/>
                <a:ea typeface="Calibri"/>
                <a:cs typeface="Calibri"/>
              </a:defRPr>
            </a:pPr>
            <a:r>
              <a:rPr sz="1575" b="0">
                <a:solidFill>
                  <a:srgbClr val="5B6770"/>
                </a:solidFill>
                <a:latin typeface="Calibri"/>
                <a:ea typeface="Calibri"/>
                <a:cs typeface="Calibri"/>
              </a:rPr>
              <a:t>This is a rough comparison of recorded activity, not a person's chance of getting hired. Applications and vacancies can be incomplete, and categories can overlap.</a:t>
            </a:r>
          </a:p>
        </p:txBody>
      </p:sp>
    </p:spTree>
    <p:extLst>
      <p:ext uri="{BB962C8B-B14F-4D97-AF65-F5344CB8AC3E}">
        <p14:creationId xmlns:p14="http://schemas.microsoft.com/office/powerpoint/2010/main" val="12809342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ppendix-title-22">
            <a:extLst xmlns:a="http://schemas.openxmlformats.org/drawingml/2006/main">
              <a:ext uri="{FF2B5EF4-FFF2-40B4-BE49-F238E27FC236}">
                <a16:creationId xmlns:a16="http://schemas.microsoft.com/office/drawing/2014/main" id="{368ED9BD-B36F-4B13-A039-BFBEF7DFF7EE}"/>
              </a:ext>
            </a:extLst>
          </p:cNvPr>
          <p:cNvSpPr>
            <a:spLocks xmlns:a="http://schemas.openxmlformats.org/drawingml/2006/main" noGrp="1"/>
          </p:cNvSpPr>
          <p:nvPr/>
        </p:nvSpPr>
        <p:spPr>
          <a:xfrm xmlns:a="http://schemas.openxmlformats.org/drawingml/2006/main">
            <a:off x="552450" y="400050"/>
            <a:ext cx="11068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925" b="1">
                <a:solidFill>
                  <a:srgbClr val="1B2A41"/>
                </a:solidFill>
                <a:latin typeface="Cambria"/>
                <a:ea typeface="Cambria"/>
                <a:cs typeface="Cambria"/>
              </a:defRPr>
            </a:defPPr>
            <a:lvl1pPr algn="l">
              <a:defRPr sz="2925" b="1">
                <a:solidFill>
                  <a:srgbClr val="1B2A41"/>
                </a:solidFill>
                <a:latin typeface="Cambria"/>
                <a:ea typeface="Cambria"/>
                <a:cs typeface="Cambria"/>
              </a:defRPr>
            </a:lvl1pPr>
            <a:lvl2pPr algn="l">
              <a:defRPr sz="2925" b="1">
                <a:solidFill>
                  <a:srgbClr val="1B2A41"/>
                </a:solidFill>
                <a:latin typeface="Cambria"/>
                <a:ea typeface="Cambria"/>
                <a:cs typeface="Cambria"/>
              </a:defRPr>
            </a:lvl2pPr>
            <a:lvl3pPr algn="l">
              <a:defRPr sz="2925" b="1">
                <a:solidFill>
                  <a:srgbClr val="1B2A41"/>
                </a:solidFill>
                <a:latin typeface="Cambria"/>
                <a:ea typeface="Cambria"/>
                <a:cs typeface="Cambria"/>
              </a:defRPr>
            </a:lvl3pPr>
            <a:lvl4pPr algn="l">
              <a:defRPr sz="2925" b="1">
                <a:solidFill>
                  <a:srgbClr val="1B2A41"/>
                </a:solidFill>
                <a:latin typeface="Cambria"/>
                <a:ea typeface="Cambria"/>
                <a:cs typeface="Cambria"/>
              </a:defRPr>
            </a:lvl4pPr>
            <a:lvl5pPr algn="l">
              <a:defRPr sz="2925" b="1">
                <a:solidFill>
                  <a:srgbClr val="1B2A41"/>
                </a:solidFill>
                <a:latin typeface="Cambria"/>
                <a:ea typeface="Cambria"/>
                <a:cs typeface="Cambria"/>
              </a:defRPr>
            </a:lvl5pPr>
            <a:lvl6pPr algn="l">
              <a:defRPr sz="2925" b="1">
                <a:solidFill>
                  <a:srgbClr val="1B2A41"/>
                </a:solidFill>
                <a:latin typeface="Cambria"/>
                <a:ea typeface="Cambria"/>
                <a:cs typeface="Cambria"/>
              </a:defRPr>
            </a:lvl6pPr>
            <a:lvl7pPr algn="l">
              <a:defRPr sz="2925" b="1">
                <a:solidFill>
                  <a:srgbClr val="1B2A41"/>
                </a:solidFill>
                <a:latin typeface="Cambria"/>
                <a:ea typeface="Cambria"/>
                <a:cs typeface="Cambria"/>
              </a:defRPr>
            </a:lvl7pPr>
            <a:lvl8pPr algn="l">
              <a:defRPr sz="2925" b="1">
                <a:solidFill>
                  <a:srgbClr val="1B2A41"/>
                </a:solidFill>
                <a:latin typeface="Cambria"/>
                <a:ea typeface="Cambria"/>
                <a:cs typeface="Cambria"/>
              </a:defRPr>
            </a:lvl8pPr>
            <a:lvl9pPr algn="l">
              <a:defRPr sz="2925" b="1">
                <a:solidFill>
                  <a:srgbClr val="1B2A41"/>
                </a:solidFill>
                <a:latin typeface="Cambria"/>
                <a:ea typeface="Cambria"/>
                <a:cs typeface="Cambria"/>
              </a:defRPr>
            </a:lvl9pPr>
          </a:lstStyle>
          <a:p xmlns:a="http://schemas.openxmlformats.org/drawingml/2006/main">
            <a:pPr algn="l">
              <a:defRPr sz="2925" b="1">
                <a:solidFill>
                  <a:srgbClr val="1B2A41"/>
                </a:solidFill>
                <a:latin typeface="Cambria"/>
                <a:ea typeface="Cambria"/>
                <a:cs typeface="Cambria"/>
              </a:defRPr>
            </a:pPr>
            <a:r>
              <a:rPr sz="2925" b="1">
                <a:solidFill>
                  <a:srgbClr val="1B2A41"/>
                </a:solidFill>
                <a:latin typeface="Cambria"/>
                <a:ea typeface="Cambria"/>
                <a:cs typeface="Cambria"/>
              </a:rPr>
              <a:t>Appendix | Salary by title keyword</a:t>
            </a:r>
          </a:p>
        </p:txBody>
      </p:sp>
      <p:sp>
        <p:nvSpPr>
          <p:cNvPr id="2" name="appendix-label-22">
            <a:extLst xmlns:a="http://schemas.openxmlformats.org/drawingml/2006/main">
              <a:ext uri="{FF2B5EF4-FFF2-40B4-BE49-F238E27FC236}">
                <a16:creationId xmlns:a16="http://schemas.microsoft.com/office/drawing/2014/main" id="{DBBDC3B4-5A53-453D-8447-237CEB4776A3}"/>
              </a:ext>
            </a:extLst>
          </p:cNvPr>
          <p:cNvSpPr>
            <a:spLocks xmlns:a="http://schemas.openxmlformats.org/drawingml/2006/main" noGrp="1"/>
          </p:cNvSpPr>
          <p:nvPr/>
        </p:nvSpPr>
        <p:spPr>
          <a:xfrm xmlns:a="http://schemas.openxmlformats.org/drawingml/2006/main">
            <a:off x="552450" y="11811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A9D8F"/>
                </a:solidFill>
                <a:latin typeface="Calibri"/>
                <a:ea typeface="Calibri"/>
                <a:cs typeface="Calibri"/>
              </a:defRPr>
            </a:defPPr>
            <a:lvl1pPr algn="l">
              <a:defRPr sz="1125" b="1">
                <a:solidFill>
                  <a:srgbClr val="2A9D8F"/>
                </a:solidFill>
                <a:latin typeface="Calibri"/>
                <a:ea typeface="Calibri"/>
                <a:cs typeface="Calibri"/>
              </a:defRPr>
            </a:lvl1pPr>
            <a:lvl2pPr algn="l">
              <a:defRPr sz="1125" b="1">
                <a:solidFill>
                  <a:srgbClr val="2A9D8F"/>
                </a:solidFill>
                <a:latin typeface="Calibri"/>
                <a:ea typeface="Calibri"/>
                <a:cs typeface="Calibri"/>
              </a:defRPr>
            </a:lvl2pPr>
            <a:lvl3pPr algn="l">
              <a:defRPr sz="1125" b="1">
                <a:solidFill>
                  <a:srgbClr val="2A9D8F"/>
                </a:solidFill>
                <a:latin typeface="Calibri"/>
                <a:ea typeface="Calibri"/>
                <a:cs typeface="Calibri"/>
              </a:defRPr>
            </a:lvl3pPr>
            <a:lvl4pPr algn="l">
              <a:defRPr sz="1125" b="1">
                <a:solidFill>
                  <a:srgbClr val="2A9D8F"/>
                </a:solidFill>
                <a:latin typeface="Calibri"/>
                <a:ea typeface="Calibri"/>
                <a:cs typeface="Calibri"/>
              </a:defRPr>
            </a:lvl4pPr>
            <a:lvl5pPr algn="l">
              <a:defRPr sz="1125" b="1">
                <a:solidFill>
                  <a:srgbClr val="2A9D8F"/>
                </a:solidFill>
                <a:latin typeface="Calibri"/>
                <a:ea typeface="Calibri"/>
                <a:cs typeface="Calibri"/>
              </a:defRPr>
            </a:lvl5pPr>
            <a:lvl6pPr algn="l">
              <a:defRPr sz="1125" b="1">
                <a:solidFill>
                  <a:srgbClr val="2A9D8F"/>
                </a:solidFill>
                <a:latin typeface="Calibri"/>
                <a:ea typeface="Calibri"/>
                <a:cs typeface="Calibri"/>
              </a:defRPr>
            </a:lvl6pPr>
            <a:lvl7pPr algn="l">
              <a:defRPr sz="1125" b="1">
                <a:solidFill>
                  <a:srgbClr val="2A9D8F"/>
                </a:solidFill>
                <a:latin typeface="Calibri"/>
                <a:ea typeface="Calibri"/>
                <a:cs typeface="Calibri"/>
              </a:defRPr>
            </a:lvl7pPr>
            <a:lvl8pPr algn="l">
              <a:defRPr sz="1125" b="1">
                <a:solidFill>
                  <a:srgbClr val="2A9D8F"/>
                </a:solidFill>
                <a:latin typeface="Calibri"/>
                <a:ea typeface="Calibri"/>
                <a:cs typeface="Calibri"/>
              </a:defRPr>
            </a:lvl8pPr>
            <a:lvl9pPr algn="l">
              <a:defRPr sz="1125" b="1">
                <a:solidFill>
                  <a:srgbClr val="2A9D8F"/>
                </a:solidFill>
                <a:latin typeface="Calibri"/>
                <a:ea typeface="Calibri"/>
                <a:cs typeface="Calibri"/>
              </a:defRPr>
            </a:lvl9pPr>
          </a:lstStyle>
          <a:p xmlns:a="http://schemas.openxmlformats.org/drawingml/2006/main">
            <a:pPr algn="l">
              <a:defRPr sz="1125" b="1">
                <a:solidFill>
                  <a:srgbClr val="2A9D8F"/>
                </a:solidFill>
                <a:latin typeface="Calibri"/>
                <a:ea typeface="Calibri"/>
                <a:cs typeface="Calibri"/>
              </a:defRPr>
            </a:pPr>
            <a:r>
              <a:rPr sz="1125" b="1">
                <a:solidFill>
                  <a:srgbClr val="2A9D8F"/>
                </a:solidFill>
                <a:latin typeface="Calibri"/>
                <a:ea typeface="Calibri"/>
                <a:cs typeface="Calibri"/>
              </a:rPr>
              <a:t>OPTIONAL Q&amp;A DETAIL</a:t>
            </a:r>
          </a:p>
        </p:txBody>
      </p:sp>
      <p:sp>
        <p:nvSpPr>
          <p:cNvPr id="3" name="appendix-footer-22">
            <a:extLst xmlns:a="http://schemas.openxmlformats.org/drawingml/2006/main">
              <a:ext uri="{FF2B5EF4-FFF2-40B4-BE49-F238E27FC236}">
                <a16:creationId xmlns:a16="http://schemas.microsoft.com/office/drawing/2014/main" id="{F13907B4-9A76-40CC-95D3-52AC07B5A12C}"/>
              </a:ext>
            </a:extLst>
          </p:cNvPr>
          <p:cNvSpPr>
            <a:spLocks xmlns:a="http://schemas.openxmlformats.org/drawingml/2006/main" noGrp="1"/>
          </p:cNvSpPr>
          <p:nvPr/>
        </p:nvSpPr>
        <p:spPr>
          <a:xfrm xmlns:a="http://schemas.openxmlformats.org/drawingml/2006/main">
            <a:off x="552450" y="6343650"/>
            <a:ext cx="731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B6770"/>
                </a:solidFill>
                <a:latin typeface="Calibri"/>
                <a:ea typeface="Calibri"/>
                <a:cs typeface="Calibri"/>
              </a:defRPr>
            </a:defPPr>
            <a:lvl1pPr algn="l">
              <a:defRPr sz="975" b="0">
                <a:solidFill>
                  <a:srgbClr val="5B6770"/>
                </a:solidFill>
                <a:latin typeface="Calibri"/>
                <a:ea typeface="Calibri"/>
                <a:cs typeface="Calibri"/>
              </a:defRPr>
            </a:lvl1pPr>
            <a:lvl2pPr algn="l">
              <a:defRPr sz="975" b="0">
                <a:solidFill>
                  <a:srgbClr val="5B6770"/>
                </a:solidFill>
                <a:latin typeface="Calibri"/>
                <a:ea typeface="Calibri"/>
                <a:cs typeface="Calibri"/>
              </a:defRPr>
            </a:lvl2pPr>
            <a:lvl3pPr algn="l">
              <a:defRPr sz="975" b="0">
                <a:solidFill>
                  <a:srgbClr val="5B6770"/>
                </a:solidFill>
                <a:latin typeface="Calibri"/>
                <a:ea typeface="Calibri"/>
                <a:cs typeface="Calibri"/>
              </a:defRPr>
            </a:lvl3pPr>
            <a:lvl4pPr algn="l">
              <a:defRPr sz="975" b="0">
                <a:solidFill>
                  <a:srgbClr val="5B6770"/>
                </a:solidFill>
                <a:latin typeface="Calibri"/>
                <a:ea typeface="Calibri"/>
                <a:cs typeface="Calibri"/>
              </a:defRPr>
            </a:lvl4pPr>
            <a:lvl5pPr algn="l">
              <a:defRPr sz="975" b="0">
                <a:solidFill>
                  <a:srgbClr val="5B6770"/>
                </a:solidFill>
                <a:latin typeface="Calibri"/>
                <a:ea typeface="Calibri"/>
                <a:cs typeface="Calibri"/>
              </a:defRPr>
            </a:lvl5pPr>
            <a:lvl6pPr algn="l">
              <a:defRPr sz="975" b="0">
                <a:solidFill>
                  <a:srgbClr val="5B6770"/>
                </a:solidFill>
                <a:latin typeface="Calibri"/>
                <a:ea typeface="Calibri"/>
                <a:cs typeface="Calibri"/>
              </a:defRPr>
            </a:lvl6pPr>
            <a:lvl7pPr algn="l">
              <a:defRPr sz="975" b="0">
                <a:solidFill>
                  <a:srgbClr val="5B6770"/>
                </a:solidFill>
                <a:latin typeface="Calibri"/>
                <a:ea typeface="Calibri"/>
                <a:cs typeface="Calibri"/>
              </a:defRPr>
            </a:lvl7pPr>
            <a:lvl8pPr algn="l">
              <a:defRPr sz="975" b="0">
                <a:solidFill>
                  <a:srgbClr val="5B6770"/>
                </a:solidFill>
                <a:latin typeface="Calibri"/>
                <a:ea typeface="Calibri"/>
                <a:cs typeface="Calibri"/>
              </a:defRPr>
            </a:lvl8pPr>
            <a:lvl9pPr algn="l">
              <a:defRPr sz="975" b="0">
                <a:solidFill>
                  <a:srgbClr val="5B6770"/>
                </a:solidFill>
                <a:latin typeface="Calibri"/>
                <a:ea typeface="Calibri"/>
                <a:cs typeface="Calibri"/>
              </a:defRPr>
            </a:lvl9pPr>
          </a:lstStyle>
          <a:p xmlns:a="http://schemas.openxmlformats.org/drawingml/2006/main">
            <a:pPr algn="l">
              <a:defRPr sz="975" b="0">
                <a:solidFill>
                  <a:srgbClr val="5B6770"/>
                </a:solidFill>
                <a:latin typeface="Calibri"/>
                <a:ea typeface="Calibri"/>
                <a:cs typeface="Calibri"/>
              </a:defRPr>
            </a:pPr>
            <a:r>
              <a:rPr sz="975" b="0">
                <a:solidFill>
                  <a:srgbClr val="5B6770"/>
                </a:solidFill>
                <a:latin typeface="Calibri"/>
                <a:ea typeface="Calibri"/>
                <a:cs typeface="Calibri"/>
              </a:rPr>
              <a:t>Singapore Jobs Explorer  ·  22</a:t>
            </a:r>
          </a:p>
        </p:txBody>
      </p:sp>
      <p:sp>
        <p:nvSpPr>
          <p:cNvPr id="4" name="skills-definition">
            <a:extLst xmlns:a="http://schemas.openxmlformats.org/drawingml/2006/main">
              <a:ext uri="{FF2B5EF4-FFF2-40B4-BE49-F238E27FC236}">
                <a16:creationId xmlns:a16="http://schemas.microsoft.com/office/drawing/2014/main" id="{71BA3CBF-8B27-4CE2-92C7-496BE4017DAD}"/>
              </a:ext>
            </a:extLst>
          </p:cNvPr>
          <p:cNvSpPr>
            <a:spLocks xmlns:a="http://schemas.openxmlformats.org/drawingml/2006/main" noGrp="1"/>
          </p:cNvSpPr>
          <p:nvPr/>
        </p:nvSpPr>
        <p:spPr>
          <a:xfrm xmlns:a="http://schemas.openxmlformats.org/drawingml/2006/main">
            <a:off x="552450" y="1495425"/>
            <a:ext cx="11001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770"/>
                </a:solidFill>
                <a:latin typeface="Calibri"/>
                <a:ea typeface="Calibri"/>
                <a:cs typeface="Calibri"/>
              </a:defRPr>
            </a:defPPr>
            <a:lvl1pPr algn="l">
              <a:defRPr sz="1575" b="0">
                <a:solidFill>
                  <a:srgbClr val="5B6770"/>
                </a:solidFill>
                <a:latin typeface="Calibri"/>
                <a:ea typeface="Calibri"/>
                <a:cs typeface="Calibri"/>
              </a:defRPr>
            </a:lvl1pPr>
            <a:lvl2pPr algn="l">
              <a:defRPr sz="1575" b="0">
                <a:solidFill>
                  <a:srgbClr val="5B6770"/>
                </a:solidFill>
                <a:latin typeface="Calibri"/>
                <a:ea typeface="Calibri"/>
                <a:cs typeface="Calibri"/>
              </a:defRPr>
            </a:lvl2pPr>
            <a:lvl3pPr algn="l">
              <a:defRPr sz="1575" b="0">
                <a:solidFill>
                  <a:srgbClr val="5B6770"/>
                </a:solidFill>
                <a:latin typeface="Calibri"/>
                <a:ea typeface="Calibri"/>
                <a:cs typeface="Calibri"/>
              </a:defRPr>
            </a:lvl3pPr>
            <a:lvl4pPr algn="l">
              <a:defRPr sz="1575" b="0">
                <a:solidFill>
                  <a:srgbClr val="5B6770"/>
                </a:solidFill>
                <a:latin typeface="Calibri"/>
                <a:ea typeface="Calibri"/>
                <a:cs typeface="Calibri"/>
              </a:defRPr>
            </a:lvl4pPr>
            <a:lvl5pPr algn="l">
              <a:defRPr sz="1575" b="0">
                <a:solidFill>
                  <a:srgbClr val="5B6770"/>
                </a:solidFill>
                <a:latin typeface="Calibri"/>
                <a:ea typeface="Calibri"/>
                <a:cs typeface="Calibri"/>
              </a:defRPr>
            </a:lvl5pPr>
            <a:lvl6pPr algn="l">
              <a:defRPr sz="1575" b="0">
                <a:solidFill>
                  <a:srgbClr val="5B6770"/>
                </a:solidFill>
                <a:latin typeface="Calibri"/>
                <a:ea typeface="Calibri"/>
                <a:cs typeface="Calibri"/>
              </a:defRPr>
            </a:lvl6pPr>
            <a:lvl7pPr algn="l">
              <a:defRPr sz="1575" b="0">
                <a:solidFill>
                  <a:srgbClr val="5B6770"/>
                </a:solidFill>
                <a:latin typeface="Calibri"/>
                <a:ea typeface="Calibri"/>
                <a:cs typeface="Calibri"/>
              </a:defRPr>
            </a:lvl7pPr>
            <a:lvl8pPr algn="l">
              <a:defRPr sz="1575" b="0">
                <a:solidFill>
                  <a:srgbClr val="5B6770"/>
                </a:solidFill>
                <a:latin typeface="Calibri"/>
                <a:ea typeface="Calibri"/>
                <a:cs typeface="Calibri"/>
              </a:defRPr>
            </a:lvl8pPr>
            <a:lvl9pPr algn="l">
              <a:defRPr sz="1575" b="0">
                <a:solidFill>
                  <a:srgbClr val="5B6770"/>
                </a:solidFill>
                <a:latin typeface="Calibri"/>
                <a:ea typeface="Calibri"/>
                <a:cs typeface="Calibri"/>
              </a:defRPr>
            </a:lvl9pPr>
          </a:lstStyle>
          <a:p xmlns:a="http://schemas.openxmlformats.org/drawingml/2006/main">
            <a:pPr algn="l">
              <a:defRPr sz="1575" b="0">
                <a:solidFill>
                  <a:srgbClr val="5B6770"/>
                </a:solidFill>
                <a:latin typeface="Calibri"/>
                <a:ea typeface="Calibri"/>
                <a:cs typeface="Calibri"/>
              </a:defRPr>
            </a:pPr>
            <a:r>
              <a:rPr sz="1575" b="0">
                <a:solidFill>
                  <a:srgbClr val="5B6770"/>
                </a:solidFill>
                <a:latin typeface="Calibri"/>
                <a:ea typeface="Calibri"/>
                <a:cs typeface="Calibri"/>
              </a:rPr>
              <a:t>Salary premium compares the median for postings with a title keyword against the overall median.</a:t>
            </a:r>
          </a:p>
        </p:txBody>
      </p:sp>
      <p:graphicFrame>
        <p:nvGraphicFramePr>
          <p:cNvPr id="5" name="">
            <a:extLst xmlns:a="http://schemas.openxmlformats.org/drawingml/2006/main">
              <a:ext uri="{FF2B5EF4-FFF2-40B4-BE49-F238E27FC236}">
                <a16:creationId xmlns:a16="http://schemas.microsoft.com/office/drawing/2014/main" id="{DF688F1A-EE7F-44AE-8409-3BDC173A508E}"/>
              </a:ext>
            </a:extLst>
          </p:cNvPr>
          <p:cNvGraphicFramePr/>
          <p:nvPr/>
        </p:nvGraphicFramePr>
        <p:xfrm>
          <a:off xmlns:a="http://schemas.openxmlformats.org/drawingml/2006/main" x="552450" y="2028825"/>
          <a:ext xmlns:a="http://schemas.openxmlformats.org/drawingml/2006/main" cx="11087100" cy="3600450"/>
        </p:xfrm>
        <a:graphic xmlns:a="http://schemas.openxmlformats.org/drawingml/2006/main">
          <a:graphicData uri="http://schemas.openxmlformats.org/drawingml/2006/table">
            <a:tbl>
              <a:tblPr firstRow="0" bandRow="0"/>
              <a:tblGrid>
                <a:gridCol w="7143750"/>
                <a:gridCol w="3943350"/>
              </a:tblGrid>
              <a:tr h="514350">
                <a:tc>
                  <a:txBody>
                    <a:bodyPr lIns="114300" tIns="57150" rIns="114300" bIns="57150">
                      <a:normAutofit/>
                    </a:bodyPr>
                    <a:lstStyle/>
                    <a:p>
                      <a:pPr algn="l"/>
                      <a:r>
                        <a:rPr sz="1575" b="1">
                          <a:solidFill>
                            <a:srgbClr val="FFFFFF"/>
                          </a:solidFill>
                          <a:latin typeface="Calibri"/>
                          <a:ea typeface="Calibri"/>
                          <a:cs typeface="Calibri"/>
                        </a:rPr>
                        <a:t>Keyword in title</a:t>
                      </a:r>
                    </a:p>
                  </a:txBody>
                  <a:tcPr marL="91440" marR="91440" marT="45720" marB="45720" anchor="ctr">
                    <a:lnL w="9525">
                      <a:solidFill>
                        <a:srgbClr val="D7E0E7"/>
                      </a:solidFill>
                      <a:prstDash val="solid"/>
                    </a:lnL>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c>
                  <a:txBody>
                    <a:bodyPr lIns="114300" tIns="57150" rIns="114300" bIns="57150">
                      <a:normAutofit/>
                    </a:bodyPr>
                    <a:lstStyle/>
                    <a:p>
                      <a:pPr algn="ctr"/>
                      <a:r>
                        <a:rPr sz="1575" b="1">
                          <a:solidFill>
                            <a:srgbClr val="FFFFFF"/>
                          </a:solidFill>
                          <a:latin typeface="Calibri"/>
                          <a:ea typeface="Calibri"/>
                          <a:cs typeface="Calibri"/>
                        </a:rPr>
                        <a:t>Median salary vs overall median</a:t>
                      </a:r>
                    </a:p>
                  </a:txBody>
                  <a:tcPr marL="91440" marR="91440" marT="45720" marB="45720" anchor="ctr">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r>
              <a:tr h="514350">
                <a:tc>
                  <a:txBody>
                    <a:bodyPr lIns="114300" tIns="57150" rIns="114300" bIns="57150">
                      <a:normAutofit/>
                    </a:bodyPr>
                    <a:lstStyle/>
                    <a:p>
                      <a:pPr algn="l"/>
                      <a:r>
                        <a:rPr sz="1500" b="0">
                          <a:solidFill>
                            <a:srgbClr val="1F2933"/>
                          </a:solidFill>
                          <a:latin typeface="Calibri"/>
                          <a:ea typeface="Calibri"/>
                          <a:cs typeface="Calibri"/>
                        </a:rPr>
                        <a:t>Machine learning / AI</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500" b="0">
                          <a:solidFill>
                            <a:srgbClr val="1F2933"/>
                          </a:solidFill>
                          <a:latin typeface="Calibri"/>
                          <a:ea typeface="Calibri"/>
                          <a:cs typeface="Calibri"/>
                        </a:rPr>
                        <a:t>+124%</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r h="514350">
                <a:tc>
                  <a:txBody>
                    <a:bodyPr lIns="114300" tIns="57150" rIns="114300" bIns="57150">
                      <a:normAutofit/>
                    </a:bodyPr>
                    <a:lstStyle/>
                    <a:p>
                      <a:pPr algn="l"/>
                      <a:r>
                        <a:rPr sz="1500" b="0">
                          <a:solidFill>
                            <a:srgbClr val="1F2933"/>
                          </a:solidFill>
                          <a:latin typeface="Calibri"/>
                          <a:ea typeface="Calibri"/>
                          <a:cs typeface="Calibri"/>
                        </a:rPr>
                        <a:t>Salesforce</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500" b="0">
                          <a:solidFill>
                            <a:srgbClr val="1F2933"/>
                          </a:solidFill>
                          <a:latin typeface="Calibri"/>
                          <a:ea typeface="Calibri"/>
                          <a:cs typeface="Calibri"/>
                        </a:rPr>
                        <a:t>+120%</a:t>
                      </a:r>
                    </a:p>
                  </a:txBody>
                  <a:tcPr marL="91440" marR="91440" marT="45720" marB="45720" anchor="ctr">
                    <a:lnR w="9525">
                      <a:solidFill>
                        <a:srgbClr val="D7E0E7"/>
                      </a:solidFill>
                      <a:prstDash val="solid"/>
                    </a:lnR>
                    <a:lnB w="9525">
                      <a:solidFill>
                        <a:srgbClr val="D7E0E7"/>
                      </a:solidFill>
                      <a:prstDash val="solid"/>
                    </a:lnB>
                    <a:solidFill>
                      <a:srgbClr val="EEF3F6"/>
                    </a:solidFill>
                  </a:tcPr>
                </a:tc>
              </a:tr>
              <a:tr h="514350">
                <a:tc>
                  <a:txBody>
                    <a:bodyPr lIns="114300" tIns="57150" rIns="114300" bIns="57150">
                      <a:normAutofit/>
                    </a:bodyPr>
                    <a:lstStyle/>
                    <a:p>
                      <a:pPr algn="l"/>
                      <a:r>
                        <a:rPr sz="1500" b="0">
                          <a:solidFill>
                            <a:srgbClr val="1F2933"/>
                          </a:solidFill>
                          <a:latin typeface="Calibri"/>
                          <a:ea typeface="Calibri"/>
                          <a:cs typeface="Calibri"/>
                        </a:rPr>
                        <a:t>Cloud</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500" b="0">
                          <a:solidFill>
                            <a:srgbClr val="1F2933"/>
                          </a:solidFill>
                          <a:latin typeface="Calibri"/>
                          <a:ea typeface="Calibri"/>
                          <a:cs typeface="Calibri"/>
                        </a:rPr>
                        <a:t>+111%</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r h="514350">
                <a:tc>
                  <a:txBody>
                    <a:bodyPr lIns="114300" tIns="57150" rIns="114300" bIns="57150">
                      <a:normAutofit/>
                    </a:bodyPr>
                    <a:lstStyle/>
                    <a:p>
                      <a:pPr algn="l"/>
                      <a:r>
                        <a:rPr sz="1500" b="0">
                          <a:solidFill>
                            <a:srgbClr val="1F2933"/>
                          </a:solidFill>
                          <a:latin typeface="Calibri"/>
                          <a:ea typeface="Calibri"/>
                          <a:cs typeface="Calibri"/>
                        </a:rPr>
                        <a:t>Java</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500" b="0">
                          <a:solidFill>
                            <a:srgbClr val="1F2933"/>
                          </a:solidFill>
                          <a:latin typeface="Calibri"/>
                          <a:ea typeface="Calibri"/>
                          <a:cs typeface="Calibri"/>
                        </a:rPr>
                        <a:t>+97%</a:t>
                      </a:r>
                    </a:p>
                  </a:txBody>
                  <a:tcPr marL="91440" marR="91440" marT="45720" marB="45720" anchor="ctr">
                    <a:lnR w="9525">
                      <a:solidFill>
                        <a:srgbClr val="D7E0E7"/>
                      </a:solidFill>
                      <a:prstDash val="solid"/>
                    </a:lnR>
                    <a:lnB w="9525">
                      <a:solidFill>
                        <a:srgbClr val="D7E0E7"/>
                      </a:solidFill>
                      <a:prstDash val="solid"/>
                    </a:lnB>
                    <a:solidFill>
                      <a:srgbClr val="EEF3F6"/>
                    </a:solidFill>
                  </a:tcPr>
                </a:tc>
              </a:tr>
              <a:tr h="514350">
                <a:tc>
                  <a:txBody>
                    <a:bodyPr lIns="114300" tIns="57150" rIns="114300" bIns="57150">
                      <a:normAutofit/>
                    </a:bodyPr>
                    <a:lstStyle/>
                    <a:p>
                      <a:pPr algn="l"/>
                      <a:r>
                        <a:rPr sz="1500" b="0">
                          <a:solidFill>
                            <a:srgbClr val="1F2933"/>
                          </a:solidFill>
                          <a:latin typeface="Calibri"/>
                          <a:ea typeface="Calibri"/>
                          <a:cs typeface="Calibri"/>
                        </a:rPr>
                        <a:t>Accounting</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500" b="0">
                          <a:solidFill>
                            <a:srgbClr val="1F2933"/>
                          </a:solidFill>
                          <a:latin typeface="Calibri"/>
                          <a:ea typeface="Calibri"/>
                          <a:cs typeface="Calibri"/>
                        </a:rPr>
                        <a:t>−8%</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r h="514350">
                <a:tc>
                  <a:txBody>
                    <a:bodyPr lIns="114300" tIns="57150" rIns="114300" bIns="57150">
                      <a:normAutofit/>
                    </a:bodyPr>
                    <a:lstStyle/>
                    <a:p>
                      <a:pPr algn="l"/>
                      <a:r>
                        <a:rPr sz="1500" b="0">
                          <a:solidFill>
                            <a:srgbClr val="1F2933"/>
                          </a:solidFill>
                          <a:latin typeface="Calibri"/>
                          <a:ea typeface="Calibri"/>
                          <a:cs typeface="Calibri"/>
                        </a:rPr>
                        <a:t>AWS</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500" b="0">
                          <a:solidFill>
                            <a:srgbClr val="1F2933"/>
                          </a:solidFill>
                          <a:latin typeface="Calibri"/>
                          <a:ea typeface="Calibri"/>
                          <a:cs typeface="Calibri"/>
                        </a:rPr>
                        <a:t>−8%</a:t>
                      </a:r>
                    </a:p>
                  </a:txBody>
                  <a:tcPr marL="91440" marR="91440" marT="45720" marB="45720" anchor="ctr">
                    <a:lnR w="9525">
                      <a:solidFill>
                        <a:srgbClr val="D7E0E7"/>
                      </a:solidFill>
                      <a:prstDash val="solid"/>
                    </a:lnR>
                    <a:lnB w="9525">
                      <a:solidFill>
                        <a:srgbClr val="D7E0E7"/>
                      </a:solidFill>
                      <a:prstDash val="solid"/>
                    </a:lnB>
                    <a:solidFill>
                      <a:srgbClr val="EEF3F6"/>
                    </a:solidFill>
                  </a:tcPr>
                </a:tc>
              </a:tr>
            </a:tbl>
          </a:graphicData>
        </a:graphic>
      </p:graphicFrame>
      <p:sp>
        <p:nvSpPr>
          <p:cNvPr id="6" name="skills-caveat">
            <a:extLst xmlns:a="http://schemas.openxmlformats.org/drawingml/2006/main">
              <a:ext uri="{FF2B5EF4-FFF2-40B4-BE49-F238E27FC236}">
                <a16:creationId xmlns:a16="http://schemas.microsoft.com/office/drawing/2014/main" id="{3360A995-CCA6-48CA-8F0D-51A6268C8A33}"/>
              </a:ext>
            </a:extLst>
          </p:cNvPr>
          <p:cNvSpPr>
            <a:spLocks xmlns:a="http://schemas.openxmlformats.org/drawingml/2006/main" noGrp="1"/>
          </p:cNvSpPr>
          <p:nvPr/>
        </p:nvSpPr>
        <p:spPr>
          <a:xfrm xmlns:a="http://schemas.openxmlformats.org/drawingml/2006/main">
            <a:off x="552450" y="5791200"/>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5B6770"/>
                </a:solidFill>
                <a:latin typeface="Calibri"/>
                <a:ea typeface="Calibri"/>
                <a:cs typeface="Calibri"/>
              </a:defRPr>
            </a:defPPr>
            <a:lvl1pPr algn="l">
              <a:defRPr sz="1425" b="0">
                <a:solidFill>
                  <a:srgbClr val="5B6770"/>
                </a:solidFill>
                <a:latin typeface="Calibri"/>
                <a:ea typeface="Calibri"/>
                <a:cs typeface="Calibri"/>
              </a:defRPr>
            </a:lvl1pPr>
            <a:lvl2pPr algn="l">
              <a:defRPr sz="1425" b="0">
                <a:solidFill>
                  <a:srgbClr val="5B6770"/>
                </a:solidFill>
                <a:latin typeface="Calibri"/>
                <a:ea typeface="Calibri"/>
                <a:cs typeface="Calibri"/>
              </a:defRPr>
            </a:lvl2pPr>
            <a:lvl3pPr algn="l">
              <a:defRPr sz="1425" b="0">
                <a:solidFill>
                  <a:srgbClr val="5B6770"/>
                </a:solidFill>
                <a:latin typeface="Calibri"/>
                <a:ea typeface="Calibri"/>
                <a:cs typeface="Calibri"/>
              </a:defRPr>
            </a:lvl3pPr>
            <a:lvl4pPr algn="l">
              <a:defRPr sz="1425" b="0">
                <a:solidFill>
                  <a:srgbClr val="5B6770"/>
                </a:solidFill>
                <a:latin typeface="Calibri"/>
                <a:ea typeface="Calibri"/>
                <a:cs typeface="Calibri"/>
              </a:defRPr>
            </a:lvl4pPr>
            <a:lvl5pPr algn="l">
              <a:defRPr sz="1425" b="0">
                <a:solidFill>
                  <a:srgbClr val="5B6770"/>
                </a:solidFill>
                <a:latin typeface="Calibri"/>
                <a:ea typeface="Calibri"/>
                <a:cs typeface="Calibri"/>
              </a:defRPr>
            </a:lvl5pPr>
            <a:lvl6pPr algn="l">
              <a:defRPr sz="1425" b="0">
                <a:solidFill>
                  <a:srgbClr val="5B6770"/>
                </a:solidFill>
                <a:latin typeface="Calibri"/>
                <a:ea typeface="Calibri"/>
                <a:cs typeface="Calibri"/>
              </a:defRPr>
            </a:lvl6pPr>
            <a:lvl7pPr algn="l">
              <a:defRPr sz="1425" b="0">
                <a:solidFill>
                  <a:srgbClr val="5B6770"/>
                </a:solidFill>
                <a:latin typeface="Calibri"/>
                <a:ea typeface="Calibri"/>
                <a:cs typeface="Calibri"/>
              </a:defRPr>
            </a:lvl7pPr>
            <a:lvl8pPr algn="l">
              <a:defRPr sz="1425" b="0">
                <a:solidFill>
                  <a:srgbClr val="5B6770"/>
                </a:solidFill>
                <a:latin typeface="Calibri"/>
                <a:ea typeface="Calibri"/>
                <a:cs typeface="Calibri"/>
              </a:defRPr>
            </a:lvl8pPr>
            <a:lvl9pPr algn="l">
              <a:defRPr sz="1425" b="0">
                <a:solidFill>
                  <a:srgbClr val="5B6770"/>
                </a:solidFill>
                <a:latin typeface="Calibri"/>
                <a:ea typeface="Calibri"/>
                <a:cs typeface="Calibri"/>
              </a:defRPr>
            </a:lvl9pPr>
          </a:lstStyle>
          <a:p xmlns:a="http://schemas.openxmlformats.org/drawingml/2006/main">
            <a:pPr algn="l">
              <a:defRPr sz="1425" b="0">
                <a:solidFill>
                  <a:srgbClr val="5B6770"/>
                </a:solidFill>
                <a:latin typeface="Calibri"/>
                <a:ea typeface="Calibri"/>
                <a:cs typeface="Calibri"/>
              </a:defRPr>
            </a:pPr>
            <a:r>
              <a:rPr sz="1425" b="0">
                <a:solidFill>
                  <a:srgbClr val="5B6770"/>
                </a:solidFill>
                <a:latin typeface="Calibri"/>
                <a:ea typeface="Calibri"/>
                <a:cs typeface="Calibri"/>
              </a:rPr>
              <a:t>Keywords are found in job titles only. The comparison shows association in adverts, not proof that learning a skill causes higher pay.</a:t>
            </a:r>
          </a:p>
        </p:txBody>
      </p:sp>
    </p:spTree>
    <p:extLst>
      <p:ext uri="{BB962C8B-B14F-4D97-AF65-F5344CB8AC3E}">
        <p14:creationId xmlns:p14="http://schemas.microsoft.com/office/powerpoint/2010/main" val="14514443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ppendix-title-23">
            <a:extLst xmlns:a="http://schemas.openxmlformats.org/drawingml/2006/main">
              <a:ext uri="{FF2B5EF4-FFF2-40B4-BE49-F238E27FC236}">
                <a16:creationId xmlns:a16="http://schemas.microsoft.com/office/drawing/2014/main" id="{1C79C535-3082-45C7-80E0-D5B9AE6C5C40}"/>
              </a:ext>
            </a:extLst>
          </p:cNvPr>
          <p:cNvSpPr>
            <a:spLocks xmlns:a="http://schemas.openxmlformats.org/drawingml/2006/main" noGrp="1"/>
          </p:cNvSpPr>
          <p:nvPr/>
        </p:nvSpPr>
        <p:spPr>
          <a:xfrm xmlns:a="http://schemas.openxmlformats.org/drawingml/2006/main">
            <a:off x="552450" y="400050"/>
            <a:ext cx="11068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925" b="1">
                <a:solidFill>
                  <a:srgbClr val="1B2A41"/>
                </a:solidFill>
                <a:latin typeface="Cambria"/>
                <a:ea typeface="Cambria"/>
                <a:cs typeface="Cambria"/>
              </a:defRPr>
            </a:defPPr>
            <a:lvl1pPr algn="l">
              <a:defRPr sz="2925" b="1">
                <a:solidFill>
                  <a:srgbClr val="1B2A41"/>
                </a:solidFill>
                <a:latin typeface="Cambria"/>
                <a:ea typeface="Cambria"/>
                <a:cs typeface="Cambria"/>
              </a:defRPr>
            </a:lvl1pPr>
            <a:lvl2pPr algn="l">
              <a:defRPr sz="2925" b="1">
                <a:solidFill>
                  <a:srgbClr val="1B2A41"/>
                </a:solidFill>
                <a:latin typeface="Cambria"/>
                <a:ea typeface="Cambria"/>
                <a:cs typeface="Cambria"/>
              </a:defRPr>
            </a:lvl2pPr>
            <a:lvl3pPr algn="l">
              <a:defRPr sz="2925" b="1">
                <a:solidFill>
                  <a:srgbClr val="1B2A41"/>
                </a:solidFill>
                <a:latin typeface="Cambria"/>
                <a:ea typeface="Cambria"/>
                <a:cs typeface="Cambria"/>
              </a:defRPr>
            </a:lvl3pPr>
            <a:lvl4pPr algn="l">
              <a:defRPr sz="2925" b="1">
                <a:solidFill>
                  <a:srgbClr val="1B2A41"/>
                </a:solidFill>
                <a:latin typeface="Cambria"/>
                <a:ea typeface="Cambria"/>
                <a:cs typeface="Cambria"/>
              </a:defRPr>
            </a:lvl4pPr>
            <a:lvl5pPr algn="l">
              <a:defRPr sz="2925" b="1">
                <a:solidFill>
                  <a:srgbClr val="1B2A41"/>
                </a:solidFill>
                <a:latin typeface="Cambria"/>
                <a:ea typeface="Cambria"/>
                <a:cs typeface="Cambria"/>
              </a:defRPr>
            </a:lvl5pPr>
            <a:lvl6pPr algn="l">
              <a:defRPr sz="2925" b="1">
                <a:solidFill>
                  <a:srgbClr val="1B2A41"/>
                </a:solidFill>
                <a:latin typeface="Cambria"/>
                <a:ea typeface="Cambria"/>
                <a:cs typeface="Cambria"/>
              </a:defRPr>
            </a:lvl6pPr>
            <a:lvl7pPr algn="l">
              <a:defRPr sz="2925" b="1">
                <a:solidFill>
                  <a:srgbClr val="1B2A41"/>
                </a:solidFill>
                <a:latin typeface="Cambria"/>
                <a:ea typeface="Cambria"/>
                <a:cs typeface="Cambria"/>
              </a:defRPr>
            </a:lvl7pPr>
            <a:lvl8pPr algn="l">
              <a:defRPr sz="2925" b="1">
                <a:solidFill>
                  <a:srgbClr val="1B2A41"/>
                </a:solidFill>
                <a:latin typeface="Cambria"/>
                <a:ea typeface="Cambria"/>
                <a:cs typeface="Cambria"/>
              </a:defRPr>
            </a:lvl8pPr>
            <a:lvl9pPr algn="l">
              <a:defRPr sz="2925" b="1">
                <a:solidFill>
                  <a:srgbClr val="1B2A41"/>
                </a:solidFill>
                <a:latin typeface="Cambria"/>
                <a:ea typeface="Cambria"/>
                <a:cs typeface="Cambria"/>
              </a:defRPr>
            </a:lvl9pPr>
          </a:lstStyle>
          <a:p xmlns:a="http://schemas.openxmlformats.org/drawingml/2006/main">
            <a:pPr algn="l">
              <a:defRPr sz="2925" b="1">
                <a:solidFill>
                  <a:srgbClr val="1B2A41"/>
                </a:solidFill>
                <a:latin typeface="Cambria"/>
                <a:ea typeface="Cambria"/>
                <a:cs typeface="Cambria"/>
              </a:defRPr>
            </a:pPr>
            <a:r>
              <a:rPr sz="2925" b="1">
                <a:solidFill>
                  <a:srgbClr val="1B2A41"/>
                </a:solidFill>
                <a:latin typeface="Cambria"/>
                <a:ea typeface="Cambria"/>
                <a:cs typeface="Cambria"/>
              </a:rPr>
              <a:t>Appendix | How the career-fit score works</a:t>
            </a:r>
          </a:p>
        </p:txBody>
      </p:sp>
      <p:sp>
        <p:nvSpPr>
          <p:cNvPr id="2" name="appendix-label-23">
            <a:extLst xmlns:a="http://schemas.openxmlformats.org/drawingml/2006/main">
              <a:ext uri="{FF2B5EF4-FFF2-40B4-BE49-F238E27FC236}">
                <a16:creationId xmlns:a16="http://schemas.microsoft.com/office/drawing/2014/main" id="{E87C896F-B59D-42B8-8D43-6462F79AF789}"/>
              </a:ext>
            </a:extLst>
          </p:cNvPr>
          <p:cNvSpPr>
            <a:spLocks xmlns:a="http://schemas.openxmlformats.org/drawingml/2006/main" noGrp="1"/>
          </p:cNvSpPr>
          <p:nvPr/>
        </p:nvSpPr>
        <p:spPr>
          <a:xfrm xmlns:a="http://schemas.openxmlformats.org/drawingml/2006/main">
            <a:off x="552450" y="11811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A9D8F"/>
                </a:solidFill>
                <a:latin typeface="Calibri"/>
                <a:ea typeface="Calibri"/>
                <a:cs typeface="Calibri"/>
              </a:defRPr>
            </a:defPPr>
            <a:lvl1pPr algn="l">
              <a:defRPr sz="1125" b="1">
                <a:solidFill>
                  <a:srgbClr val="2A9D8F"/>
                </a:solidFill>
                <a:latin typeface="Calibri"/>
                <a:ea typeface="Calibri"/>
                <a:cs typeface="Calibri"/>
              </a:defRPr>
            </a:lvl1pPr>
            <a:lvl2pPr algn="l">
              <a:defRPr sz="1125" b="1">
                <a:solidFill>
                  <a:srgbClr val="2A9D8F"/>
                </a:solidFill>
                <a:latin typeface="Calibri"/>
                <a:ea typeface="Calibri"/>
                <a:cs typeface="Calibri"/>
              </a:defRPr>
            </a:lvl2pPr>
            <a:lvl3pPr algn="l">
              <a:defRPr sz="1125" b="1">
                <a:solidFill>
                  <a:srgbClr val="2A9D8F"/>
                </a:solidFill>
                <a:latin typeface="Calibri"/>
                <a:ea typeface="Calibri"/>
                <a:cs typeface="Calibri"/>
              </a:defRPr>
            </a:lvl3pPr>
            <a:lvl4pPr algn="l">
              <a:defRPr sz="1125" b="1">
                <a:solidFill>
                  <a:srgbClr val="2A9D8F"/>
                </a:solidFill>
                <a:latin typeface="Calibri"/>
                <a:ea typeface="Calibri"/>
                <a:cs typeface="Calibri"/>
              </a:defRPr>
            </a:lvl4pPr>
            <a:lvl5pPr algn="l">
              <a:defRPr sz="1125" b="1">
                <a:solidFill>
                  <a:srgbClr val="2A9D8F"/>
                </a:solidFill>
                <a:latin typeface="Calibri"/>
                <a:ea typeface="Calibri"/>
                <a:cs typeface="Calibri"/>
              </a:defRPr>
            </a:lvl5pPr>
            <a:lvl6pPr algn="l">
              <a:defRPr sz="1125" b="1">
                <a:solidFill>
                  <a:srgbClr val="2A9D8F"/>
                </a:solidFill>
                <a:latin typeface="Calibri"/>
                <a:ea typeface="Calibri"/>
                <a:cs typeface="Calibri"/>
              </a:defRPr>
            </a:lvl6pPr>
            <a:lvl7pPr algn="l">
              <a:defRPr sz="1125" b="1">
                <a:solidFill>
                  <a:srgbClr val="2A9D8F"/>
                </a:solidFill>
                <a:latin typeface="Calibri"/>
                <a:ea typeface="Calibri"/>
                <a:cs typeface="Calibri"/>
              </a:defRPr>
            </a:lvl7pPr>
            <a:lvl8pPr algn="l">
              <a:defRPr sz="1125" b="1">
                <a:solidFill>
                  <a:srgbClr val="2A9D8F"/>
                </a:solidFill>
                <a:latin typeface="Calibri"/>
                <a:ea typeface="Calibri"/>
                <a:cs typeface="Calibri"/>
              </a:defRPr>
            </a:lvl8pPr>
            <a:lvl9pPr algn="l">
              <a:defRPr sz="1125" b="1">
                <a:solidFill>
                  <a:srgbClr val="2A9D8F"/>
                </a:solidFill>
                <a:latin typeface="Calibri"/>
                <a:ea typeface="Calibri"/>
                <a:cs typeface="Calibri"/>
              </a:defRPr>
            </a:lvl9pPr>
          </a:lstStyle>
          <a:p xmlns:a="http://schemas.openxmlformats.org/drawingml/2006/main">
            <a:pPr algn="l">
              <a:defRPr sz="1125" b="1">
                <a:solidFill>
                  <a:srgbClr val="2A9D8F"/>
                </a:solidFill>
                <a:latin typeface="Calibri"/>
                <a:ea typeface="Calibri"/>
                <a:cs typeface="Calibri"/>
              </a:defRPr>
            </a:pPr>
            <a:r>
              <a:rPr sz="1125" b="1">
                <a:solidFill>
                  <a:srgbClr val="2A9D8F"/>
                </a:solidFill>
                <a:latin typeface="Calibri"/>
                <a:ea typeface="Calibri"/>
                <a:cs typeface="Calibri"/>
              </a:rPr>
              <a:t>OPTIONAL Q&amp;A DETAIL</a:t>
            </a:r>
          </a:p>
        </p:txBody>
      </p:sp>
      <p:sp>
        <p:nvSpPr>
          <p:cNvPr id="3" name="appendix-footer-23">
            <a:extLst xmlns:a="http://schemas.openxmlformats.org/drawingml/2006/main">
              <a:ext uri="{FF2B5EF4-FFF2-40B4-BE49-F238E27FC236}">
                <a16:creationId xmlns:a16="http://schemas.microsoft.com/office/drawing/2014/main" id="{AEBACA5C-B4A2-473D-8B10-1DD9A05D1B9C}"/>
              </a:ext>
            </a:extLst>
          </p:cNvPr>
          <p:cNvSpPr>
            <a:spLocks xmlns:a="http://schemas.openxmlformats.org/drawingml/2006/main" noGrp="1"/>
          </p:cNvSpPr>
          <p:nvPr/>
        </p:nvSpPr>
        <p:spPr>
          <a:xfrm xmlns:a="http://schemas.openxmlformats.org/drawingml/2006/main">
            <a:off x="552450" y="6343650"/>
            <a:ext cx="731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B6770"/>
                </a:solidFill>
                <a:latin typeface="Calibri"/>
                <a:ea typeface="Calibri"/>
                <a:cs typeface="Calibri"/>
              </a:defRPr>
            </a:defPPr>
            <a:lvl1pPr algn="l">
              <a:defRPr sz="975" b="0">
                <a:solidFill>
                  <a:srgbClr val="5B6770"/>
                </a:solidFill>
                <a:latin typeface="Calibri"/>
                <a:ea typeface="Calibri"/>
                <a:cs typeface="Calibri"/>
              </a:defRPr>
            </a:lvl1pPr>
            <a:lvl2pPr algn="l">
              <a:defRPr sz="975" b="0">
                <a:solidFill>
                  <a:srgbClr val="5B6770"/>
                </a:solidFill>
                <a:latin typeface="Calibri"/>
                <a:ea typeface="Calibri"/>
                <a:cs typeface="Calibri"/>
              </a:defRPr>
            </a:lvl2pPr>
            <a:lvl3pPr algn="l">
              <a:defRPr sz="975" b="0">
                <a:solidFill>
                  <a:srgbClr val="5B6770"/>
                </a:solidFill>
                <a:latin typeface="Calibri"/>
                <a:ea typeface="Calibri"/>
                <a:cs typeface="Calibri"/>
              </a:defRPr>
            </a:lvl3pPr>
            <a:lvl4pPr algn="l">
              <a:defRPr sz="975" b="0">
                <a:solidFill>
                  <a:srgbClr val="5B6770"/>
                </a:solidFill>
                <a:latin typeface="Calibri"/>
                <a:ea typeface="Calibri"/>
                <a:cs typeface="Calibri"/>
              </a:defRPr>
            </a:lvl4pPr>
            <a:lvl5pPr algn="l">
              <a:defRPr sz="975" b="0">
                <a:solidFill>
                  <a:srgbClr val="5B6770"/>
                </a:solidFill>
                <a:latin typeface="Calibri"/>
                <a:ea typeface="Calibri"/>
                <a:cs typeface="Calibri"/>
              </a:defRPr>
            </a:lvl5pPr>
            <a:lvl6pPr algn="l">
              <a:defRPr sz="975" b="0">
                <a:solidFill>
                  <a:srgbClr val="5B6770"/>
                </a:solidFill>
                <a:latin typeface="Calibri"/>
                <a:ea typeface="Calibri"/>
                <a:cs typeface="Calibri"/>
              </a:defRPr>
            </a:lvl6pPr>
            <a:lvl7pPr algn="l">
              <a:defRPr sz="975" b="0">
                <a:solidFill>
                  <a:srgbClr val="5B6770"/>
                </a:solidFill>
                <a:latin typeface="Calibri"/>
                <a:ea typeface="Calibri"/>
                <a:cs typeface="Calibri"/>
              </a:defRPr>
            </a:lvl7pPr>
            <a:lvl8pPr algn="l">
              <a:defRPr sz="975" b="0">
                <a:solidFill>
                  <a:srgbClr val="5B6770"/>
                </a:solidFill>
                <a:latin typeface="Calibri"/>
                <a:ea typeface="Calibri"/>
                <a:cs typeface="Calibri"/>
              </a:defRPr>
            </a:lvl8pPr>
            <a:lvl9pPr algn="l">
              <a:defRPr sz="975" b="0">
                <a:solidFill>
                  <a:srgbClr val="5B6770"/>
                </a:solidFill>
                <a:latin typeface="Calibri"/>
                <a:ea typeface="Calibri"/>
                <a:cs typeface="Calibri"/>
              </a:defRPr>
            </a:lvl9pPr>
          </a:lstStyle>
          <a:p xmlns:a="http://schemas.openxmlformats.org/drawingml/2006/main">
            <a:pPr algn="l">
              <a:defRPr sz="975" b="0">
                <a:solidFill>
                  <a:srgbClr val="5B6770"/>
                </a:solidFill>
                <a:latin typeface="Calibri"/>
                <a:ea typeface="Calibri"/>
                <a:cs typeface="Calibri"/>
              </a:defRPr>
            </a:pPr>
            <a:r>
              <a:rPr sz="975" b="0">
                <a:solidFill>
                  <a:srgbClr val="5B6770"/>
                </a:solidFill>
                <a:latin typeface="Calibri"/>
                <a:ea typeface="Calibri"/>
                <a:cs typeface="Calibri"/>
              </a:rPr>
              <a:t>Singapore Jobs Explorer  ·  23</a:t>
            </a:r>
          </a:p>
        </p:txBody>
      </p:sp>
      <p:sp>
        <p:nvSpPr>
          <p:cNvPr id="4" name="fit-score-intro">
            <a:extLst xmlns:a="http://schemas.openxmlformats.org/drawingml/2006/main">
              <a:ext uri="{FF2B5EF4-FFF2-40B4-BE49-F238E27FC236}">
                <a16:creationId xmlns:a16="http://schemas.microsoft.com/office/drawing/2014/main" id="{665C20AF-6A4A-4FAE-809D-8540C569A5DF}"/>
              </a:ext>
            </a:extLst>
          </p:cNvPr>
          <p:cNvSpPr>
            <a:spLocks xmlns:a="http://schemas.openxmlformats.org/drawingml/2006/main" noGrp="1"/>
          </p:cNvSpPr>
          <p:nvPr/>
        </p:nvSpPr>
        <p:spPr>
          <a:xfrm xmlns:a="http://schemas.openxmlformats.org/drawingml/2006/main">
            <a:off x="552450" y="14954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B6770"/>
                </a:solidFill>
                <a:latin typeface="Calibri"/>
                <a:ea typeface="Calibri"/>
                <a:cs typeface="Calibri"/>
              </a:defRPr>
            </a:defPPr>
            <a:lvl1pPr algn="l">
              <a:defRPr sz="1575" b="0">
                <a:solidFill>
                  <a:srgbClr val="5B6770"/>
                </a:solidFill>
                <a:latin typeface="Calibri"/>
                <a:ea typeface="Calibri"/>
                <a:cs typeface="Calibri"/>
              </a:defRPr>
            </a:lvl1pPr>
            <a:lvl2pPr algn="l">
              <a:defRPr sz="1575" b="0">
                <a:solidFill>
                  <a:srgbClr val="5B6770"/>
                </a:solidFill>
                <a:latin typeface="Calibri"/>
                <a:ea typeface="Calibri"/>
                <a:cs typeface="Calibri"/>
              </a:defRPr>
            </a:lvl2pPr>
            <a:lvl3pPr algn="l">
              <a:defRPr sz="1575" b="0">
                <a:solidFill>
                  <a:srgbClr val="5B6770"/>
                </a:solidFill>
                <a:latin typeface="Calibri"/>
                <a:ea typeface="Calibri"/>
                <a:cs typeface="Calibri"/>
              </a:defRPr>
            </a:lvl3pPr>
            <a:lvl4pPr algn="l">
              <a:defRPr sz="1575" b="0">
                <a:solidFill>
                  <a:srgbClr val="5B6770"/>
                </a:solidFill>
                <a:latin typeface="Calibri"/>
                <a:ea typeface="Calibri"/>
                <a:cs typeface="Calibri"/>
              </a:defRPr>
            </a:lvl4pPr>
            <a:lvl5pPr algn="l">
              <a:defRPr sz="1575" b="0">
                <a:solidFill>
                  <a:srgbClr val="5B6770"/>
                </a:solidFill>
                <a:latin typeface="Calibri"/>
                <a:ea typeface="Calibri"/>
                <a:cs typeface="Calibri"/>
              </a:defRPr>
            </a:lvl5pPr>
            <a:lvl6pPr algn="l">
              <a:defRPr sz="1575" b="0">
                <a:solidFill>
                  <a:srgbClr val="5B6770"/>
                </a:solidFill>
                <a:latin typeface="Calibri"/>
                <a:ea typeface="Calibri"/>
                <a:cs typeface="Calibri"/>
              </a:defRPr>
            </a:lvl6pPr>
            <a:lvl7pPr algn="l">
              <a:defRPr sz="1575" b="0">
                <a:solidFill>
                  <a:srgbClr val="5B6770"/>
                </a:solidFill>
                <a:latin typeface="Calibri"/>
                <a:ea typeface="Calibri"/>
                <a:cs typeface="Calibri"/>
              </a:defRPr>
            </a:lvl7pPr>
            <a:lvl8pPr algn="l">
              <a:defRPr sz="1575" b="0">
                <a:solidFill>
                  <a:srgbClr val="5B6770"/>
                </a:solidFill>
                <a:latin typeface="Calibri"/>
                <a:ea typeface="Calibri"/>
                <a:cs typeface="Calibri"/>
              </a:defRPr>
            </a:lvl8pPr>
            <a:lvl9pPr algn="l">
              <a:defRPr sz="1575" b="0">
                <a:solidFill>
                  <a:srgbClr val="5B6770"/>
                </a:solidFill>
                <a:latin typeface="Calibri"/>
                <a:ea typeface="Calibri"/>
                <a:cs typeface="Calibri"/>
              </a:defRPr>
            </a:lvl9pPr>
          </a:lstStyle>
          <a:p xmlns:a="http://schemas.openxmlformats.org/drawingml/2006/main">
            <a:pPr algn="l">
              <a:defRPr sz="1575" b="0">
                <a:solidFill>
                  <a:srgbClr val="5B6770"/>
                </a:solidFill>
                <a:latin typeface="Calibri"/>
                <a:ea typeface="Calibri"/>
                <a:cs typeface="Calibri"/>
              </a:defRPr>
            </a:pPr>
            <a:r>
              <a:rPr sz="1575" b="0">
                <a:solidFill>
                  <a:srgbClr val="5B6770"/>
                </a:solidFill>
                <a:latin typeface="Calibri"/>
                <a:ea typeface="Calibri"/>
                <a:cs typeface="Calibri"/>
              </a:rPr>
              <a:t>Each track combines one category with one seniority band. Four measures become percentile scores from 0 to 100.</a:t>
            </a:r>
          </a:p>
        </p:txBody>
      </p:sp>
      <p:graphicFrame>
        <p:nvGraphicFramePr>
          <p:cNvPr id="5" name="">
            <a:extLst xmlns:a="http://schemas.openxmlformats.org/drawingml/2006/main">
              <a:ext uri="{FF2B5EF4-FFF2-40B4-BE49-F238E27FC236}">
                <a16:creationId xmlns:a16="http://schemas.microsoft.com/office/drawing/2014/main" id="{9C9169C3-1283-407D-AD9A-ACD86F81F246}"/>
              </a:ext>
            </a:extLst>
          </p:cNvPr>
          <p:cNvGraphicFramePr/>
          <p:nvPr/>
        </p:nvGraphicFramePr>
        <p:xfrm>
          <a:off xmlns:a="http://schemas.openxmlformats.org/drawingml/2006/main" x="552450" y="2066925"/>
          <a:ext xmlns:a="http://schemas.openxmlformats.org/drawingml/2006/main" cx="11087100" cy="3048000"/>
        </p:xfrm>
        <a:graphic xmlns:a="http://schemas.openxmlformats.org/drawingml/2006/main">
          <a:graphicData uri="http://schemas.openxmlformats.org/drawingml/2006/table">
            <a:tbl>
              <a:tblPr firstRow="0" bandRow="0"/>
              <a:tblGrid>
                <a:gridCol w="3286125"/>
                <a:gridCol w="2381250"/>
                <a:gridCol w="5419725"/>
              </a:tblGrid>
              <a:tr h="609600">
                <a:tc>
                  <a:txBody>
                    <a:bodyPr lIns="114300" tIns="57150" rIns="114300" bIns="57150">
                      <a:normAutofit/>
                    </a:bodyPr>
                    <a:lstStyle/>
                    <a:p>
                      <a:pPr algn="l"/>
                      <a:r>
                        <a:rPr sz="1500" b="1">
                          <a:solidFill>
                            <a:srgbClr val="FFFFFF"/>
                          </a:solidFill>
                          <a:latin typeface="Calibri"/>
                          <a:ea typeface="Calibri"/>
                          <a:cs typeface="Calibri"/>
                        </a:rPr>
                        <a:t>Measure</a:t>
                      </a:r>
                    </a:p>
                  </a:txBody>
                  <a:tcPr marL="91440" marR="91440" marT="45720" marB="45720" anchor="ctr">
                    <a:lnL w="9525">
                      <a:solidFill>
                        <a:srgbClr val="D7E0E7"/>
                      </a:solidFill>
                      <a:prstDash val="solid"/>
                    </a:lnL>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c>
                  <a:txBody>
                    <a:bodyPr lIns="114300" tIns="57150" rIns="114300" bIns="57150">
                      <a:normAutofit/>
                    </a:bodyPr>
                    <a:lstStyle/>
                    <a:p>
                      <a:pPr algn="ctr"/>
                      <a:r>
                        <a:rPr sz="1500" b="1">
                          <a:solidFill>
                            <a:srgbClr val="FFFFFF"/>
                          </a:solidFill>
                          <a:latin typeface="Calibri"/>
                          <a:ea typeface="Calibri"/>
                          <a:cs typeface="Calibri"/>
                        </a:rPr>
                        <a:t>Default weight</a:t>
                      </a:r>
                    </a:p>
                  </a:txBody>
                  <a:tcPr marL="91440" marR="91440" marT="45720" marB="45720" anchor="ctr">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c>
                  <a:txBody>
                    <a:bodyPr lIns="114300" tIns="57150" rIns="114300" bIns="57150">
                      <a:normAutofit/>
                    </a:bodyPr>
                    <a:lstStyle/>
                    <a:p>
                      <a:pPr algn="ctr"/>
                      <a:r>
                        <a:rPr sz="1500" b="1">
                          <a:solidFill>
                            <a:srgbClr val="FFFFFF"/>
                          </a:solidFill>
                          <a:latin typeface="Calibri"/>
                          <a:ea typeface="Calibri"/>
                          <a:cs typeface="Calibri"/>
                        </a:rPr>
                        <a:t>What it rewards</a:t>
                      </a:r>
                    </a:p>
                  </a:txBody>
                  <a:tcPr marL="91440" marR="91440" marT="45720" marB="45720" anchor="ctr">
                    <a:lnR w="9525">
                      <a:solidFill>
                        <a:srgbClr val="D7E0E7"/>
                      </a:solidFill>
                      <a:prstDash val="solid"/>
                    </a:lnR>
                    <a:lnT w="9525">
                      <a:solidFill>
                        <a:srgbClr val="D7E0E7"/>
                      </a:solidFill>
                      <a:prstDash val="solid"/>
                    </a:lnT>
                    <a:lnB w="9525">
                      <a:solidFill>
                        <a:srgbClr val="D7E0E7"/>
                      </a:solidFill>
                      <a:prstDash val="solid"/>
                    </a:lnB>
                    <a:solidFill>
                      <a:srgbClr val="1B2A41"/>
                    </a:solidFill>
                  </a:tcPr>
                </a:tc>
              </a:tr>
              <a:tr h="609600">
                <a:tc>
                  <a:txBody>
                    <a:bodyPr lIns="114300" tIns="57150" rIns="114300" bIns="57150">
                      <a:normAutofit/>
                    </a:bodyPr>
                    <a:lstStyle/>
                    <a:p>
                      <a:pPr algn="l"/>
                      <a:r>
                        <a:rPr sz="1425" b="0">
                          <a:solidFill>
                            <a:srgbClr val="1F2933"/>
                          </a:solidFill>
                          <a:latin typeface="Calibri"/>
                          <a:ea typeface="Calibri"/>
                          <a:cs typeface="Calibri"/>
                        </a:rPr>
                        <a:t>Demand</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425" b="0">
                          <a:solidFill>
                            <a:srgbClr val="1F2933"/>
                          </a:solidFill>
                          <a:latin typeface="Calibri"/>
                          <a:ea typeface="Calibri"/>
                          <a:cs typeface="Calibri"/>
                        </a:rPr>
                        <a:t>3</a:t>
                      </a:r>
                    </a:p>
                  </a:txBody>
                  <a:tcPr marL="91440" marR="91440" marT="45720" marB="45720" anchor="ctr">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425" b="0">
                          <a:solidFill>
                            <a:srgbClr val="1F2933"/>
                          </a:solidFill>
                          <a:latin typeface="Calibri"/>
                          <a:ea typeface="Calibri"/>
                          <a:cs typeface="Calibri"/>
                        </a:rPr>
                        <a:t>More postings in the track</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r h="609600">
                <a:tc>
                  <a:txBody>
                    <a:bodyPr lIns="114300" tIns="57150" rIns="114300" bIns="57150">
                      <a:normAutofit/>
                    </a:bodyPr>
                    <a:lstStyle/>
                    <a:p>
                      <a:pPr algn="l"/>
                      <a:r>
                        <a:rPr sz="1425" b="0">
                          <a:solidFill>
                            <a:srgbClr val="1F2933"/>
                          </a:solidFill>
                          <a:latin typeface="Calibri"/>
                          <a:ea typeface="Calibri"/>
                          <a:cs typeface="Calibri"/>
                        </a:rPr>
                        <a:t>Pay</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425" b="0">
                          <a:solidFill>
                            <a:srgbClr val="1F2933"/>
                          </a:solidFill>
                          <a:latin typeface="Calibri"/>
                          <a:ea typeface="Calibri"/>
                          <a:cs typeface="Calibri"/>
                        </a:rPr>
                        <a:t>3</a:t>
                      </a:r>
                    </a:p>
                  </a:txBody>
                  <a:tcPr marL="91440" marR="91440" marT="45720" marB="45720" anchor="ctr">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425" b="0">
                          <a:solidFill>
                            <a:srgbClr val="1F2933"/>
                          </a:solidFill>
                          <a:latin typeface="Calibri"/>
                          <a:ea typeface="Calibri"/>
                          <a:cs typeface="Calibri"/>
                        </a:rPr>
                        <a:t>Higher median listed salary</a:t>
                      </a:r>
                    </a:p>
                  </a:txBody>
                  <a:tcPr marL="91440" marR="91440" marT="45720" marB="45720" anchor="ctr">
                    <a:lnR w="9525">
                      <a:solidFill>
                        <a:srgbClr val="D7E0E7"/>
                      </a:solidFill>
                      <a:prstDash val="solid"/>
                    </a:lnR>
                    <a:lnB w="9525">
                      <a:solidFill>
                        <a:srgbClr val="D7E0E7"/>
                      </a:solidFill>
                      <a:prstDash val="solid"/>
                    </a:lnB>
                    <a:solidFill>
                      <a:srgbClr val="EEF3F6"/>
                    </a:solidFill>
                  </a:tcPr>
                </a:tc>
              </a:tr>
              <a:tr h="609600">
                <a:tc>
                  <a:txBody>
                    <a:bodyPr lIns="114300" tIns="57150" rIns="114300" bIns="57150">
                      <a:normAutofit/>
                    </a:bodyPr>
                    <a:lstStyle/>
                    <a:p>
                      <a:pPr algn="l"/>
                      <a:r>
                        <a:rPr sz="1425" b="0">
                          <a:solidFill>
                            <a:srgbClr val="1F2933"/>
                          </a:solidFill>
                          <a:latin typeface="Calibri"/>
                          <a:ea typeface="Calibri"/>
                          <a:cs typeface="Calibri"/>
                        </a:rPr>
                        <a:t>Low competition</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425" b="0">
                          <a:solidFill>
                            <a:srgbClr val="1F2933"/>
                          </a:solidFill>
                          <a:latin typeface="Calibri"/>
                          <a:ea typeface="Calibri"/>
                          <a:cs typeface="Calibri"/>
                        </a:rPr>
                        <a:t>2</a:t>
                      </a:r>
                    </a:p>
                  </a:txBody>
                  <a:tcPr marL="91440" marR="91440" marT="45720" marB="45720" anchor="ctr">
                    <a:lnR w="9525">
                      <a:solidFill>
                        <a:srgbClr val="D7E0E7"/>
                      </a:solidFill>
                      <a:prstDash val="solid"/>
                    </a:lnR>
                    <a:lnB w="9525">
                      <a:solidFill>
                        <a:srgbClr val="D7E0E7"/>
                      </a:solidFill>
                      <a:prstDash val="solid"/>
                    </a:lnB>
                    <a:solidFill>
                      <a:srgbClr val="FFFFFF"/>
                    </a:solidFill>
                  </a:tcPr>
                </a:tc>
                <a:tc>
                  <a:txBody>
                    <a:bodyPr lIns="114300" tIns="57150" rIns="114300" bIns="57150">
                      <a:normAutofit/>
                    </a:bodyPr>
                    <a:lstStyle/>
                    <a:p>
                      <a:pPr algn="ctr"/>
                      <a:r>
                        <a:rPr sz="1425" b="0">
                          <a:solidFill>
                            <a:srgbClr val="1F2933"/>
                          </a:solidFill>
                          <a:latin typeface="Calibri"/>
                          <a:ea typeface="Calibri"/>
                          <a:cs typeface="Calibri"/>
                        </a:rPr>
                        <a:t>Fewer recorded applications per vacancy</a:t>
                      </a:r>
                    </a:p>
                  </a:txBody>
                  <a:tcPr marL="91440" marR="91440" marT="45720" marB="45720" anchor="ctr">
                    <a:lnR w="9525">
                      <a:solidFill>
                        <a:srgbClr val="D7E0E7"/>
                      </a:solidFill>
                      <a:prstDash val="solid"/>
                    </a:lnR>
                    <a:lnB w="9525">
                      <a:solidFill>
                        <a:srgbClr val="D7E0E7"/>
                      </a:solidFill>
                      <a:prstDash val="solid"/>
                    </a:lnB>
                    <a:solidFill>
                      <a:srgbClr val="FFFFFF"/>
                    </a:solidFill>
                  </a:tcPr>
                </a:tc>
              </a:tr>
              <a:tr h="609600">
                <a:tc>
                  <a:txBody>
                    <a:bodyPr lIns="114300" tIns="57150" rIns="114300" bIns="57150">
                      <a:normAutofit/>
                    </a:bodyPr>
                    <a:lstStyle/>
                    <a:p>
                      <a:pPr algn="l"/>
                      <a:r>
                        <a:rPr sz="1425" b="0">
                          <a:solidFill>
                            <a:srgbClr val="1F2933"/>
                          </a:solidFill>
                          <a:latin typeface="Calibri"/>
                          <a:ea typeface="Calibri"/>
                          <a:cs typeface="Calibri"/>
                        </a:rPr>
                        <a:t>Easy to enter</a:t>
                      </a:r>
                    </a:p>
                  </a:txBody>
                  <a:tcPr marL="91440" marR="91440" marT="45720" marB="45720" anchor="ctr">
                    <a:lnL w="9525">
                      <a:solidFill>
                        <a:srgbClr val="D7E0E7"/>
                      </a:solidFill>
                      <a:prstDash val="solid"/>
                    </a:lnL>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425" b="0">
                          <a:solidFill>
                            <a:srgbClr val="1F2933"/>
                          </a:solidFill>
                          <a:latin typeface="Calibri"/>
                          <a:ea typeface="Calibri"/>
                          <a:cs typeface="Calibri"/>
                        </a:rPr>
                        <a:t>2</a:t>
                      </a:r>
                    </a:p>
                  </a:txBody>
                  <a:tcPr marL="91440" marR="91440" marT="45720" marB="45720" anchor="ctr">
                    <a:lnR w="9525">
                      <a:solidFill>
                        <a:srgbClr val="D7E0E7"/>
                      </a:solidFill>
                      <a:prstDash val="solid"/>
                    </a:lnR>
                    <a:lnB w="9525">
                      <a:solidFill>
                        <a:srgbClr val="D7E0E7"/>
                      </a:solidFill>
                      <a:prstDash val="solid"/>
                    </a:lnB>
                    <a:solidFill>
                      <a:srgbClr val="EEF3F6"/>
                    </a:solidFill>
                  </a:tcPr>
                </a:tc>
                <a:tc>
                  <a:txBody>
                    <a:bodyPr lIns="114300" tIns="57150" rIns="114300" bIns="57150">
                      <a:normAutofit/>
                    </a:bodyPr>
                    <a:lstStyle/>
                    <a:p>
                      <a:pPr algn="ctr"/>
                      <a:r>
                        <a:rPr sz="1425" b="0">
                          <a:solidFill>
                            <a:srgbClr val="1F2933"/>
                          </a:solidFill>
                          <a:latin typeface="Calibri"/>
                          <a:ea typeface="Calibri"/>
                          <a:cs typeface="Calibri"/>
                        </a:rPr>
                        <a:t>More postings asking for 3 years of experience or less</a:t>
                      </a:r>
                    </a:p>
                  </a:txBody>
                  <a:tcPr marL="91440" marR="91440" marT="45720" marB="45720" anchor="ctr">
                    <a:lnR w="9525">
                      <a:solidFill>
                        <a:srgbClr val="D7E0E7"/>
                      </a:solidFill>
                      <a:prstDash val="solid"/>
                    </a:lnR>
                    <a:lnB w="9525">
                      <a:solidFill>
                        <a:srgbClr val="D7E0E7"/>
                      </a:solidFill>
                      <a:prstDash val="solid"/>
                    </a:lnB>
                    <a:solidFill>
                      <a:srgbClr val="EEF3F6"/>
                    </a:solidFill>
                  </a:tcPr>
                </a:tc>
              </a:tr>
            </a:tbl>
          </a:graphicData>
        </a:graphic>
      </p:graphicFrame>
      <p:sp>
        <p:nvSpPr>
          <p:cNvPr id="6" name="fit-score-formula">
            <a:extLst xmlns:a="http://schemas.openxmlformats.org/drawingml/2006/main">
              <a:ext uri="{FF2B5EF4-FFF2-40B4-BE49-F238E27FC236}">
                <a16:creationId xmlns:a16="http://schemas.microsoft.com/office/drawing/2014/main" id="{68AA715A-4A42-4805-9282-D6B1EFD1C461}"/>
              </a:ext>
            </a:extLst>
          </p:cNvPr>
          <p:cNvSpPr>
            <a:spLocks xmlns:a="http://schemas.openxmlformats.org/drawingml/2006/main" noGrp="1"/>
          </p:cNvSpPr>
          <p:nvPr/>
        </p:nvSpPr>
        <p:spPr>
          <a:xfrm xmlns:a="http://schemas.openxmlformats.org/drawingml/2006/main">
            <a:off x="552450" y="53721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B2A41"/>
                </a:solidFill>
                <a:latin typeface="Calibri"/>
                <a:ea typeface="Calibri"/>
                <a:cs typeface="Calibri"/>
              </a:defRPr>
            </a:defPPr>
            <a:lvl1pPr algn="l">
              <a:defRPr sz="1575" b="1">
                <a:solidFill>
                  <a:srgbClr val="1B2A41"/>
                </a:solidFill>
                <a:latin typeface="Calibri"/>
                <a:ea typeface="Calibri"/>
                <a:cs typeface="Calibri"/>
              </a:defRPr>
            </a:lvl1pPr>
            <a:lvl2pPr algn="l">
              <a:defRPr sz="1575" b="1">
                <a:solidFill>
                  <a:srgbClr val="1B2A41"/>
                </a:solidFill>
                <a:latin typeface="Calibri"/>
                <a:ea typeface="Calibri"/>
                <a:cs typeface="Calibri"/>
              </a:defRPr>
            </a:lvl2pPr>
            <a:lvl3pPr algn="l">
              <a:defRPr sz="1575" b="1">
                <a:solidFill>
                  <a:srgbClr val="1B2A41"/>
                </a:solidFill>
                <a:latin typeface="Calibri"/>
                <a:ea typeface="Calibri"/>
                <a:cs typeface="Calibri"/>
              </a:defRPr>
            </a:lvl3pPr>
            <a:lvl4pPr algn="l">
              <a:defRPr sz="1575" b="1">
                <a:solidFill>
                  <a:srgbClr val="1B2A41"/>
                </a:solidFill>
                <a:latin typeface="Calibri"/>
                <a:ea typeface="Calibri"/>
                <a:cs typeface="Calibri"/>
              </a:defRPr>
            </a:lvl4pPr>
            <a:lvl5pPr algn="l">
              <a:defRPr sz="1575" b="1">
                <a:solidFill>
                  <a:srgbClr val="1B2A41"/>
                </a:solidFill>
                <a:latin typeface="Calibri"/>
                <a:ea typeface="Calibri"/>
                <a:cs typeface="Calibri"/>
              </a:defRPr>
            </a:lvl5pPr>
            <a:lvl6pPr algn="l">
              <a:defRPr sz="1575" b="1">
                <a:solidFill>
                  <a:srgbClr val="1B2A41"/>
                </a:solidFill>
                <a:latin typeface="Calibri"/>
                <a:ea typeface="Calibri"/>
                <a:cs typeface="Calibri"/>
              </a:defRPr>
            </a:lvl6pPr>
            <a:lvl7pPr algn="l">
              <a:defRPr sz="1575" b="1">
                <a:solidFill>
                  <a:srgbClr val="1B2A41"/>
                </a:solidFill>
                <a:latin typeface="Calibri"/>
                <a:ea typeface="Calibri"/>
                <a:cs typeface="Calibri"/>
              </a:defRPr>
            </a:lvl7pPr>
            <a:lvl8pPr algn="l">
              <a:defRPr sz="1575" b="1">
                <a:solidFill>
                  <a:srgbClr val="1B2A41"/>
                </a:solidFill>
                <a:latin typeface="Calibri"/>
                <a:ea typeface="Calibri"/>
                <a:cs typeface="Calibri"/>
              </a:defRPr>
            </a:lvl8pPr>
            <a:lvl9pPr algn="l">
              <a:defRPr sz="1575" b="1">
                <a:solidFill>
                  <a:srgbClr val="1B2A41"/>
                </a:solidFill>
                <a:latin typeface="Calibri"/>
                <a:ea typeface="Calibri"/>
                <a:cs typeface="Calibri"/>
              </a:defRPr>
            </a:lvl9pPr>
          </a:lstStyle>
          <a:p xmlns:a="http://schemas.openxmlformats.org/drawingml/2006/main">
            <a:pPr algn="l">
              <a:defRPr sz="1575" b="1">
                <a:solidFill>
                  <a:srgbClr val="1B2A41"/>
                </a:solidFill>
                <a:latin typeface="Calibri"/>
                <a:ea typeface="Calibri"/>
                <a:cs typeface="Calibri"/>
              </a:defRPr>
            </a:pPr>
            <a:r>
              <a:rPr sz="1575" b="1">
                <a:solidFill>
                  <a:srgbClr val="1B2A41"/>
                </a:solidFill>
                <a:latin typeface="Calibri"/>
                <a:ea typeface="Calibri"/>
                <a:cs typeface="Calibri"/>
              </a:rPr>
              <a:t>Fit score = weighted average of the four percentile scores. Users can change the weights, which can change the ranking.</a:t>
            </a:r>
          </a:p>
        </p:txBody>
      </p:sp>
    </p:spTree>
    <p:extLst>
      <p:ext uri="{BB962C8B-B14F-4D97-AF65-F5344CB8AC3E}">
        <p14:creationId xmlns:p14="http://schemas.microsoft.com/office/powerpoint/2010/main" val="41377485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2026-10-29T23:38:13.4690000Z</dcterms:created>
  <dcterms:modified xsi:type="dcterms:W3CDTF">2026-10-29T23:38:13.4690000Z</dcterms:modified>
</coreProperties>
</file>