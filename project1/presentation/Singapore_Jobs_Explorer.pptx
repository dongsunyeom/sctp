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Median monthly salary (S$)</c:v>
                </c:pt>
              </c:strCache>
            </c:strRef>
          </c:tx>
          <c:spPr>
            <a:solidFill>
              <a:srgbClr val="2A9D8F"/>
            </a:solidFill>
            <a:effectLst/>
          </c:spPr>
          <c:invertIfNegative val="0"/>
          <c:dLbls>
            <c:numFmt formatCode="S$#,##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Entry</c:v>
                  </c:pt>
                  <c:pt idx="1">
                    <c:v>Junior</c:v>
                  </c:pt>
                  <c:pt idx="2">
                    <c:v>Mid</c:v>
                  </c:pt>
                  <c:pt idx="3">
                    <c:v>Senior</c:v>
                  </c:pt>
                  <c:pt idx="4">
                    <c:v>Management</c:v>
                  </c:pt>
                </c:lvl>
              </c:multiLvlStrCache>
            </c:multiLvlStrRef>
          </c:cat>
          <c:val>
            <c:numRef>
              <c:f>Sheet1!$B$2:$B$6</c:f>
              <c:numCache>
                <c:formatCode>General</c:formatCode>
                <c:ptCount val="5"/>
                <c:pt idx="0">
                  <c:v>2675</c:v>
                </c:pt>
                <c:pt idx="1">
                  <c:v>3150</c:v>
                </c:pt>
                <c:pt idx="2">
                  <c:v>4000</c:v>
                </c:pt>
                <c:pt idx="3">
                  <c:v>5000</c:v>
                </c:pt>
                <c:pt idx="4">
                  <c:v>6500</c:v>
                </c:pt>
              </c:numCache>
            </c:numRef>
          </c:val>
        </c:ser>
        <c:dLbls>
          <c:numFmt formatCode="S$#,##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Applications per vacancy</c:v>
                </c:pt>
              </c:strCache>
            </c:strRef>
          </c:tx>
          <c:spPr>
            <a:solidFill>
              <a:srgbClr val="2A9D8F"/>
            </a:solidFill>
            <a:effectLst/>
          </c:spPr>
          <c:invertIfNegative val="0"/>
          <c:dLbls>
            <c:numFmt formatCode="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2A9D8F"/>
              </a:solidFill>
              <a:effectLst/>
            </c:spPr>
          </c:dPt>
          <c:dPt>
            <c:idx val="2"/>
            <c:invertIfNegative val="0"/>
            <c:bubble3D val="0"/>
            <c:spPr>
              <a:solidFill>
                <a:srgbClr val="E9A23B"/>
              </a:solidFill>
              <a:effectLst/>
            </c:spPr>
          </c:dPt>
          <c:dPt>
            <c:idx val="3"/>
            <c:invertIfNegative val="0"/>
            <c:bubble3D val="0"/>
            <c:spPr>
              <a:solidFill>
                <a:srgbClr val="E9A23B"/>
              </a:solidFill>
              <a:effectLst/>
            </c:spPr>
          </c:dPt>
          <c:cat>
            <c:multiLvlStrRef>
              <c:f>Sheet1!$A$2:$A$5</c:f>
              <c:multiLvlStrCache>
                <c:ptCount val="4"/>
                <c:lvl>
                  <c:pt idx="0">
                    <c:v>Personal Care / Beauty</c:v>
                  </c:pt>
                  <c:pt idx="1">
                    <c:v>F&amp;B</c:v>
                  </c:pt>
                  <c:pt idx="2">
                    <c:v>Marketing / PR</c:v>
                  </c:pt>
                  <c:pt idx="3">
                    <c:v>Risk Management</c:v>
                  </c:pt>
                </c:lvl>
              </c:multiLvlStrCache>
            </c:multiLvlStrRef>
          </c:cat>
          <c:val>
            <c:numRef>
              <c:f>Sheet1!$B$2:$B$5</c:f>
              <c:numCache>
                <c:formatCode>General</c:formatCode>
                <c:ptCount val="4"/>
                <c:pt idx="0">
                  <c:v>0.15</c:v>
                </c:pt>
                <c:pt idx="1">
                  <c:v>0.21</c:v>
                </c:pt>
                <c:pt idx="2">
                  <c:v>1.48</c:v>
                </c:pt>
                <c:pt idx="3">
                  <c:v>2.16</c:v>
                </c:pt>
              </c:numCache>
            </c:numRef>
          </c:val>
        </c:ser>
        <c:dLbls>
          <c:numFmt formatCode="0.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Postings per month</c:v>
                </c:pt>
              </c:strCache>
            </c:strRef>
          </c:tx>
          <c:spPr>
            <a:solidFill>
              <a:srgbClr val="2A9D8F"/>
            </a:solidFill>
            <a:ln w="31750" cap="flat">
              <a:solidFill>
                <a:srgbClr val="2A9D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A9D8F"/>
              </a:solidFill>
              <a:ln w="9525" cap="flat">
                <a:solidFill>
                  <a:srgbClr val="2A9D8F"/>
                </a:solidFill>
                <a:prstDash val="solid"/>
                <a:round/>
              </a:ln>
              <a:effectLst/>
            </c:spPr>
          </c:marker>
          <c:cat>
            <c:multiLvlStrRef>
              <c:f>Sheet1!$A$2:$A$21</c:f>
              <c:multiLvlStrCache>
                <c:ptCount val="20"/>
                <c:lvl>
                  <c:pt idx="0">
                    <c:v>May 23</c:v>
                  </c:pt>
                  <c:pt idx="1">
                    <c:v>Jun 23</c:v>
                  </c:pt>
                  <c:pt idx="2">
                    <c:v>Jul 23</c:v>
                  </c:pt>
                  <c:pt idx="3">
                    <c:v>Aug 23</c:v>
                  </c:pt>
                  <c:pt idx="4">
                    <c:v>Sep 23</c:v>
                  </c:pt>
                  <c:pt idx="5">
                    <c:v>Oct 23</c:v>
                  </c:pt>
                  <c:pt idx="6">
                    <c:v>Nov 23</c:v>
                  </c:pt>
                  <c:pt idx="7">
                    <c:v>Dec 23</c:v>
                  </c:pt>
                  <c:pt idx="8">
                    <c:v>Jan 24</c:v>
                  </c:pt>
                  <c:pt idx="9">
                    <c:v>Feb 24</c:v>
                  </c:pt>
                  <c:pt idx="10">
                    <c:v>Mar 24</c:v>
                  </c:pt>
                  <c:pt idx="11">
                    <c:v>Apr 24</c:v>
                  </c:pt>
                  <c:pt idx="12">
                    <c:v>May 24</c:v>
                  </c:pt>
                  <c:pt idx="13">
                    <c:v>Jun 24</c:v>
                  </c:pt>
                  <c:pt idx="14">
                    <c:v>Jul 24</c:v>
                  </c:pt>
                  <c:pt idx="15">
                    <c:v>Aug 24</c:v>
                  </c:pt>
                  <c:pt idx="16">
                    <c:v>Sep 24</c:v>
                  </c:pt>
                  <c:pt idx="17">
                    <c:v>Oct 24</c:v>
                  </c:pt>
                  <c:pt idx="18">
                    <c:v>Nov 24</c:v>
                  </c:pt>
                  <c:pt idx="19">
                    <c:v>Dec 24</c:v>
                  </c:pt>
                </c:lvl>
              </c:multiLvlStrCache>
            </c:multiLvlStrRef>
          </c:cat>
          <c:val>
            <c:numRef>
              <c:f>Sheet1!$B$2:$B$21</c:f>
              <c:numCache>
                <c:formatCode>General</c:formatCode>
                <c:ptCount val="20"/>
                <c:pt idx="0">
                  <c:v>70032</c:v>
                </c:pt>
                <c:pt idx="1">
                  <c:v>79027</c:v>
                </c:pt>
                <c:pt idx="2">
                  <c:v>77367</c:v>
                </c:pt>
                <c:pt idx="3">
                  <c:v>75556</c:v>
                </c:pt>
                <c:pt idx="4">
                  <c:v>66895</c:v>
                </c:pt>
                <c:pt idx="5">
                  <c:v>70010</c:v>
                </c:pt>
                <c:pt idx="6">
                  <c:v>69589</c:v>
                </c:pt>
                <c:pt idx="7">
                  <c:v>60707</c:v>
                </c:pt>
                <c:pt idx="8">
                  <c:v>57898</c:v>
                </c:pt>
                <c:pt idx="9">
                  <c:v>60282</c:v>
                </c:pt>
                <c:pt idx="10">
                  <c:v>60163</c:v>
                </c:pt>
                <c:pt idx="11">
                  <c:v>59507</c:v>
                </c:pt>
                <c:pt idx="12">
                  <c:v>59482</c:v>
                </c:pt>
                <c:pt idx="13">
                  <c:v>11657</c:v>
                </c:pt>
                <c:pt idx="14">
                  <c:v>11780</c:v>
                </c:pt>
                <c:pt idx="15">
                  <c:v>16836</c:v>
                </c:pt>
                <c:pt idx="16">
                  <c:v>13989</c:v>
                </c:pt>
                <c:pt idx="17">
                  <c:v>9554</c:v>
                </c:pt>
                <c:pt idx="18">
                  <c:v>11059</c:v>
                </c:pt>
                <c:pt idx="19">
                  <c:v>12033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Premium vs all postings (%)</c:v>
                </c:pt>
              </c:strCache>
            </c:strRef>
          </c:tx>
          <c:spPr>
            <a:solidFill>
              <a:srgbClr val="2A9D8F"/>
            </a:solidFill>
            <a:effectLst/>
          </c:spPr>
          <c:invertIfNegative val="0"/>
          <c:dLbls>
            <c:numFmt formatCode="+0&quot;%&quot;;-0&quot;%&quot;"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2A9D8F"/>
              </a:solidFill>
              <a:effectLst/>
            </c:spPr>
          </c:dPt>
          <c:dPt>
            <c:idx val="2"/>
            <c:invertIfNegative val="0"/>
            <c:bubble3D val="0"/>
            <c:spPr>
              <a:solidFill>
                <a:srgbClr val="2A9D8F"/>
              </a:solidFill>
              <a:effectLst/>
            </c:spPr>
          </c:dPt>
          <c:dPt>
            <c:idx val="3"/>
            <c:invertIfNegative val="0"/>
            <c:bubble3D val="0"/>
            <c:spPr>
              <a:solidFill>
                <a:srgbClr val="2A9D8F"/>
              </a:solidFill>
              <a:effectLst/>
            </c:spPr>
          </c:dPt>
          <c:dPt>
            <c:idx val="4"/>
            <c:invertIfNegative val="0"/>
            <c:bubble3D val="0"/>
            <c:spPr>
              <a:solidFill>
                <a:srgbClr val="E9A23B"/>
              </a:solidFill>
              <a:effectLst/>
            </c:spPr>
          </c:dPt>
          <c:dPt>
            <c:idx val="5"/>
            <c:invertIfNegative val="0"/>
            <c:bubble3D val="0"/>
            <c:spPr>
              <a:solidFill>
                <a:srgbClr val="E9A23B"/>
              </a:solidFill>
              <a:effectLst/>
            </c:spPr>
          </c:dPt>
          <c:cat>
            <c:multiLvlStrRef>
              <c:f>Sheet1!$A$2:$A$7</c:f>
              <c:multiLvlStrCache>
                <c:ptCount val="6"/>
                <c:lvl>
                  <c:pt idx="0">
                    <c:v>Machine learning / AI</c:v>
                  </c:pt>
                  <c:pt idx="1">
                    <c:v>Salesforce</c:v>
                  </c:pt>
                  <c:pt idx="2">
                    <c:v>Cloud</c:v>
                  </c:pt>
                  <c:pt idx="3">
                    <c:v>Java</c:v>
                  </c:pt>
                  <c:pt idx="4">
                    <c:v>Accounting</c:v>
                  </c:pt>
                  <c:pt idx="5">
                    <c:v>AWS</c:v>
                  </c:pt>
                </c:lvl>
              </c:multiLvlStrCache>
            </c:multiLvlStrRef>
          </c:cat>
          <c:val>
            <c:numRef>
              <c:f>Sheet1!$B$2:$B$7</c:f>
              <c:numCache>
                <c:formatCode>General</c:formatCode>
                <c:ptCount val="6"/>
                <c:pt idx="0">
                  <c:v>123.7</c:v>
                </c:pt>
                <c:pt idx="1">
                  <c:v>119.7</c:v>
                </c:pt>
                <c:pt idx="2">
                  <c:v>110.5</c:v>
                </c:pt>
                <c:pt idx="3">
                  <c:v>97.4</c:v>
                </c:pt>
                <c:pt idx="4">
                  <c:v>-7.9</c:v>
                </c:pt>
                <c:pt idx="5">
                  <c:v>-7.9</c:v>
                </c:pt>
              </c:numCache>
            </c:numRef>
          </c:val>
        </c:ser>
        <c:dLbls>
          <c:numFmt formatCode="+0&quot;%&quot;;-0&quot;%&quot;"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opens. Say: Good [morning/afternoon]. We are Group 7, and we built the Singapore Jobs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Career coaches and job seekers in Singapore. We picked them because they need a first overview quickly and often do not have data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Say: This does not predict whether you will get hired. A job advert shows what an employer is offering. It does not show who was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file has 1,048,585 rows. Each row is one job advert, with about twenty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Three fixes: removed empty rows; treated zero salaries as missing and swapped reversed minimum and maximum; counted multi-category jobs once per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1,044,597 postings remained. No repeated job IDs were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Across 1,044,597 postings there are 2.7 million vacancies in 43 categories. One posting can have several vacancies.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Pay climbs with each level. Entry median S$2,675; Management S$6,500. Overall median S$3,850.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Where the most jobs are and where the best pay is are different questions. IT has many postings and high pay. Admin has many postings and low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Personal Care and Beauty has about 0.15 applications per seat; F&amp;B about 0.21. Marketing and PR has about 1.5, and Risk Management about 2.2. Use the same definition as the dashboard: total applications divided by total vacancies.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Set the sidebar to First 50,000 rows. Keep the Overview and Salary screenshots ready in case the live app fails. Demo: choose Information Technology, then the most junior and a senior career level, then open Trends, Demand vs competition, Skills, Career recommender and Data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or 3. Trends use the posting date and start in May 2023, when the data collection changed. Monthly counts drop sharply after May 2024. The cause is not confirmed, so say so rather than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The chart shows postings on a log scale against applications per vacancy. Categories in the top-left are big and open. The app lets the user change the minimum posting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Keywords come from job titles, not full descriptions. Only keywords with at least 500 postings are shown. Premium = median of postings with the keyword divided by the overall median, minus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Default weights: demand 3, pay 3, low competition 2, easy to enter 2. Change a slider to show how the ranking shifts toward entry-level or higher-paid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Name three limits: adverts are not hires; some data was not clean; trends start in May 2023 and drop after May 2024. The main lesson: data quality decides how far you can trust 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Three next steps: confirm the post-May-2024 drop; review extreme salaries; test on the full file with real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Close with the final line, then say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10972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Singapore Jobs Explorer</a:t>
            </a:r>
            <a:endParaRPr lang="en-US" sz="5000" dirty="0"/>
          </a:p>
        </p:txBody>
      </p:sp>
      <p:sp>
        <p:nvSpPr>
          <p:cNvPr id="3" name="Text 1"/>
          <p:cNvSpPr txBox="1"/>
          <p:nvPr/>
        </p:nvSpPr>
        <p:spPr>
          <a:xfrm>
            <a:off x="731520" y="3108960"/>
            <a:ext cx="10698480" cy="548640"/>
          </a:xfrm>
          <a:prstGeom prst="rect">
            <a:avLst/>
          </a:prstGeom>
          <a:noFill/>
          <a:ln/>
        </p:spPr>
        <p:txBody>
          <a:bodyPr wrap="square" lIns="0" tIns="0" rIns="0" bIns="0" rtlCol="0" anchor="ctr"/>
          <a:lstStyle/>
          <a:p>
            <a:pPr indent="0" marL="0">
              <a:buNone/>
            </a:pPr>
            <a:r>
              <a:rPr lang="en-US" sz="2400" dirty="0">
                <a:solidFill>
                  <a:srgbClr val="CADCFC"/>
                </a:solidFill>
                <a:latin typeface="Calibri" pitchFamily="34" charset="0"/>
                <a:ea typeface="Calibri" pitchFamily="34" charset="-122"/>
                <a:cs typeface="Calibri" pitchFamily="34" charset="-120"/>
              </a:rPr>
              <a:t>What job adverts tell a career seeker</a:t>
            </a:r>
            <a:endParaRPr lang="en-US" sz="2400" dirty="0"/>
          </a:p>
        </p:txBody>
      </p:sp>
      <p:sp>
        <p:nvSpPr>
          <p:cNvPr id="4" name="Text 2"/>
          <p:cNvSpPr txBox="1"/>
          <p:nvPr/>
        </p:nvSpPr>
        <p:spPr>
          <a:xfrm>
            <a:off x="731520" y="5120640"/>
            <a:ext cx="1069848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Group 7  ·  10-minute presentation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Who it is for</a:t>
            </a:r>
            <a:endParaRPr lang="en-US" sz="3000" dirty="0"/>
          </a:p>
        </p:txBody>
      </p:sp>
      <p:sp>
        <p:nvSpPr>
          <p:cNvPr id="3" name="Shape 1"/>
          <p:cNvSpPr/>
          <p:nvPr/>
        </p:nvSpPr>
        <p:spPr>
          <a:xfrm>
            <a:off x="548640" y="1737360"/>
            <a:ext cx="5349240" cy="3566160"/>
          </a:xfrm>
          <a:prstGeom prst="roundRect">
            <a:avLst>
              <a:gd name="adj" fmla="val 3077"/>
            </a:avLst>
          </a:prstGeom>
          <a:solidFill>
            <a:srgbClr val="EEF3F6"/>
          </a:solidFill>
          <a:ln w="12700">
            <a:solidFill>
              <a:srgbClr val="EEF3F6"/>
            </a:solidFill>
            <a:prstDash val="solid"/>
          </a:ln>
        </p:spPr>
      </p:sp>
      <p:sp>
        <p:nvSpPr>
          <p:cNvPr id="4" name="Shape 2"/>
          <p:cNvSpPr/>
          <p:nvPr/>
        </p:nvSpPr>
        <p:spPr>
          <a:xfrm>
            <a:off x="914400" y="2103120"/>
            <a:ext cx="822960" cy="822960"/>
          </a:xfrm>
          <a:prstGeom prst="ellipse">
            <a:avLst/>
          </a:prstGeom>
          <a:solidFill>
            <a:srgbClr val="2A9D8F"/>
          </a:solidFill>
          <a:ln w="12700">
            <a:solidFill>
              <a:srgbClr val="2A9D8F"/>
            </a:solidFill>
            <a:prstDash val="solid"/>
          </a:ln>
        </p:spPr>
      </p:sp>
      <p:sp>
        <p:nvSpPr>
          <p:cNvPr id="5" name="Text 3"/>
          <p:cNvSpPr txBox="1"/>
          <p:nvPr/>
        </p:nvSpPr>
        <p:spPr>
          <a:xfrm>
            <a:off x="914400" y="210312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914400" y="3154680"/>
            <a:ext cx="4663440" cy="548640"/>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Career coaches</a:t>
            </a:r>
            <a:endParaRPr lang="en-US" sz="2600" dirty="0"/>
          </a:p>
        </p:txBody>
      </p:sp>
      <p:sp>
        <p:nvSpPr>
          <p:cNvPr id="7" name="Text 5"/>
          <p:cNvSpPr txBox="1"/>
          <p:nvPr/>
        </p:nvSpPr>
        <p:spPr>
          <a:xfrm>
            <a:off x="914400" y="3794760"/>
            <a:ext cx="4663440" cy="1280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Need a quick, evidence-based first conversation with a client about roles and pay.</a:t>
            </a:r>
            <a:endParaRPr lang="en-US" sz="1800" dirty="0"/>
          </a:p>
        </p:txBody>
      </p:sp>
      <p:sp>
        <p:nvSpPr>
          <p:cNvPr id="8" name="Shape 6"/>
          <p:cNvSpPr/>
          <p:nvPr/>
        </p:nvSpPr>
        <p:spPr>
          <a:xfrm>
            <a:off x="6263640" y="1737360"/>
            <a:ext cx="5349240" cy="3566160"/>
          </a:xfrm>
          <a:prstGeom prst="roundRect">
            <a:avLst>
              <a:gd name="adj" fmla="val 3077"/>
            </a:avLst>
          </a:prstGeom>
          <a:solidFill>
            <a:srgbClr val="EEF3F6"/>
          </a:solidFill>
          <a:ln w="12700">
            <a:solidFill>
              <a:srgbClr val="EEF3F6"/>
            </a:solidFill>
            <a:prstDash val="solid"/>
          </a:ln>
        </p:spPr>
      </p:sp>
      <p:sp>
        <p:nvSpPr>
          <p:cNvPr id="9" name="Shape 7"/>
          <p:cNvSpPr/>
          <p:nvPr/>
        </p:nvSpPr>
        <p:spPr>
          <a:xfrm>
            <a:off x="6629400" y="2103120"/>
            <a:ext cx="822960" cy="822960"/>
          </a:xfrm>
          <a:prstGeom prst="ellipse">
            <a:avLst/>
          </a:prstGeom>
          <a:solidFill>
            <a:srgbClr val="2A9D8F"/>
          </a:solidFill>
          <a:ln w="12700">
            <a:solidFill>
              <a:srgbClr val="2A9D8F"/>
            </a:solidFill>
            <a:prstDash val="solid"/>
          </a:ln>
        </p:spPr>
      </p:sp>
      <p:sp>
        <p:nvSpPr>
          <p:cNvPr id="10" name="Text 8"/>
          <p:cNvSpPr txBox="1"/>
          <p:nvPr/>
        </p:nvSpPr>
        <p:spPr>
          <a:xfrm>
            <a:off x="6629400" y="210312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6629400" y="3154680"/>
            <a:ext cx="4663440" cy="548640"/>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Job seekers</a:t>
            </a:r>
            <a:endParaRPr lang="en-US" sz="2600" dirty="0"/>
          </a:p>
        </p:txBody>
      </p:sp>
      <p:sp>
        <p:nvSpPr>
          <p:cNvPr id="12" name="Text 10"/>
          <p:cNvSpPr txBox="1"/>
          <p:nvPr/>
        </p:nvSpPr>
        <p:spPr>
          <a:xfrm>
            <a:off x="6629400" y="3794760"/>
            <a:ext cx="4663440" cy="1280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Want to see which roles are advertised, what they pay, and how competitive they are.</a:t>
            </a:r>
            <a:endParaRPr lang="en-US" sz="1800" dirty="0"/>
          </a:p>
        </p:txBody>
      </p:sp>
      <p:sp>
        <p:nvSpPr>
          <p:cNvPr id="13" name="Text 1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The question we set out to answer</a:t>
            </a:r>
            <a:endParaRPr lang="en-US" sz="3000" dirty="0"/>
          </a:p>
        </p:txBody>
      </p:sp>
      <p:sp>
        <p:nvSpPr>
          <p:cNvPr id="3" name="Text 1"/>
          <p:cNvSpPr txBox="1"/>
          <p:nvPr/>
        </p:nvSpPr>
        <p:spPr>
          <a:xfrm>
            <a:off x="548640" y="1828800"/>
            <a:ext cx="11064240" cy="2194560"/>
          </a:xfrm>
          <a:prstGeom prst="rect">
            <a:avLst/>
          </a:prstGeom>
          <a:noFill/>
          <a:ln/>
        </p:spPr>
        <p:txBody>
          <a:bodyPr wrap="square" lIns="0" tIns="0" rIns="0" bIns="0" rtlCol="0" anchor="ctr"/>
          <a:lstStyle/>
          <a:p>
            <a:pPr indent="0" marL="0">
              <a:buNone/>
            </a:pPr>
            <a:r>
              <a:rPr lang="en-US" sz="3200" dirty="0">
                <a:solidFill>
                  <a:srgbClr val="1B2A41"/>
                </a:solidFill>
                <a:latin typeface="Cambria" pitchFamily="34" charset="0"/>
                <a:ea typeface="Cambria" pitchFamily="34" charset="-122"/>
                <a:cs typeface="Cambria" pitchFamily="34" charset="-120"/>
              </a:rPr>
              <a:t>How can someone compare how many jobs are advertised, and what pay is listed, across industries, career levels, and time?</a:t>
            </a:r>
            <a:endParaRPr lang="en-US" sz="3200" dirty="0"/>
          </a:p>
        </p:txBody>
      </p:sp>
      <p:sp>
        <p:nvSpPr>
          <p:cNvPr id="4" name="Shape 2"/>
          <p:cNvSpPr/>
          <p:nvPr/>
        </p:nvSpPr>
        <p:spPr>
          <a:xfrm>
            <a:off x="548640" y="4480560"/>
            <a:ext cx="11064240" cy="1097280"/>
          </a:xfrm>
          <a:prstGeom prst="rect">
            <a:avLst/>
          </a:prstGeom>
          <a:solidFill>
            <a:srgbClr val="EEF3F6"/>
          </a:solidFill>
          <a:ln w="12700">
            <a:solidFill>
              <a:srgbClr val="EEF3F6"/>
            </a:solidFill>
            <a:prstDash val="solid"/>
          </a:ln>
        </p:spPr>
      </p:sp>
      <p:sp>
        <p:nvSpPr>
          <p:cNvPr id="5" name="Text 3"/>
          <p:cNvSpPr txBox="1"/>
          <p:nvPr/>
        </p:nvSpPr>
        <p:spPr>
          <a:xfrm>
            <a:off x="822960" y="4480560"/>
            <a:ext cx="10515600" cy="10972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This does not predict whether you will get hired. A job advert shows what an employer offers, not who was hired.</a:t>
            </a:r>
            <a:endParaRPr lang="en-US" sz="1800" dirty="0"/>
          </a:p>
        </p:txBody>
      </p:sp>
      <p:sp>
        <p:nvSpPr>
          <p:cNvPr id="6" name="Text 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One file, 1,048,585 job adverts</a:t>
            </a:r>
            <a:endParaRPr lang="en-US" sz="3000" dirty="0"/>
          </a:p>
        </p:txBody>
      </p:sp>
      <p:sp>
        <p:nvSpPr>
          <p:cNvPr id="3" name="Shape 1"/>
          <p:cNvSpPr/>
          <p:nvPr/>
        </p:nvSpPr>
        <p:spPr>
          <a:xfrm>
            <a:off x="548640" y="1737360"/>
            <a:ext cx="3474720" cy="3108960"/>
          </a:xfrm>
          <a:prstGeom prst="roundRect">
            <a:avLst>
              <a:gd name="adj" fmla="val 3529"/>
            </a:avLst>
          </a:prstGeom>
          <a:solidFill>
            <a:srgbClr val="EEF3F6"/>
          </a:solidFill>
          <a:ln w="12700">
            <a:solidFill>
              <a:srgbClr val="EEF3F6"/>
            </a:solidFill>
            <a:prstDash val="solid"/>
          </a:ln>
        </p:spPr>
      </p:sp>
      <p:sp>
        <p:nvSpPr>
          <p:cNvPr id="4" name="Text 2"/>
          <p:cNvSpPr txBox="1"/>
          <p:nvPr/>
        </p:nvSpPr>
        <p:spPr>
          <a:xfrm>
            <a:off x="822960" y="2057400"/>
            <a:ext cx="292608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1,048,585</a:t>
            </a:r>
            <a:endParaRPr lang="en-US" sz="4400" dirty="0"/>
          </a:p>
        </p:txBody>
      </p:sp>
      <p:sp>
        <p:nvSpPr>
          <p:cNvPr id="5" name="Text 3"/>
          <p:cNvSpPr txBox="1"/>
          <p:nvPr/>
        </p:nvSpPr>
        <p:spPr>
          <a:xfrm>
            <a:off x="822960" y="3108960"/>
            <a:ext cx="292608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Rows: one row is one job advert</a:t>
            </a:r>
            <a:endParaRPr lang="en-US" sz="1600" dirty="0"/>
          </a:p>
        </p:txBody>
      </p:sp>
      <p:sp>
        <p:nvSpPr>
          <p:cNvPr id="6" name="Shape 4"/>
          <p:cNvSpPr/>
          <p:nvPr/>
        </p:nvSpPr>
        <p:spPr>
          <a:xfrm>
            <a:off x="4343400" y="1737360"/>
            <a:ext cx="3474720" cy="3108960"/>
          </a:xfrm>
          <a:prstGeom prst="roundRect">
            <a:avLst>
              <a:gd name="adj" fmla="val 3529"/>
            </a:avLst>
          </a:prstGeom>
          <a:solidFill>
            <a:srgbClr val="EEF3F6"/>
          </a:solidFill>
          <a:ln w="12700">
            <a:solidFill>
              <a:srgbClr val="EEF3F6"/>
            </a:solidFill>
            <a:prstDash val="solid"/>
          </a:ln>
        </p:spPr>
      </p:sp>
      <p:sp>
        <p:nvSpPr>
          <p:cNvPr id="7" name="Text 5"/>
          <p:cNvSpPr txBox="1"/>
          <p:nvPr/>
        </p:nvSpPr>
        <p:spPr>
          <a:xfrm>
            <a:off x="4617720" y="2057400"/>
            <a:ext cx="292608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22</a:t>
            </a:r>
            <a:endParaRPr lang="en-US" sz="4400" dirty="0"/>
          </a:p>
        </p:txBody>
      </p:sp>
      <p:sp>
        <p:nvSpPr>
          <p:cNvPr id="8" name="Text 6"/>
          <p:cNvSpPr txBox="1"/>
          <p:nvPr/>
        </p:nvSpPr>
        <p:spPr>
          <a:xfrm>
            <a:off x="4617720" y="3108960"/>
            <a:ext cx="292608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Columns: title, pay range, industry, seniority, dates and more</a:t>
            </a:r>
            <a:endParaRPr lang="en-US" sz="1600" dirty="0"/>
          </a:p>
        </p:txBody>
      </p:sp>
      <p:sp>
        <p:nvSpPr>
          <p:cNvPr id="9" name="Shape 7"/>
          <p:cNvSpPr/>
          <p:nvPr/>
        </p:nvSpPr>
        <p:spPr>
          <a:xfrm>
            <a:off x="8138160" y="1737360"/>
            <a:ext cx="3474720" cy="3108960"/>
          </a:xfrm>
          <a:prstGeom prst="roundRect">
            <a:avLst>
              <a:gd name="adj" fmla="val 3529"/>
            </a:avLst>
          </a:prstGeom>
          <a:solidFill>
            <a:srgbClr val="EEF3F6"/>
          </a:solidFill>
          <a:ln w="12700">
            <a:solidFill>
              <a:srgbClr val="EEF3F6"/>
            </a:solidFill>
            <a:prstDash val="solid"/>
          </a:ln>
        </p:spPr>
      </p:sp>
      <p:sp>
        <p:nvSpPr>
          <p:cNvPr id="10" name="Text 8"/>
          <p:cNvSpPr txBox="1"/>
          <p:nvPr/>
        </p:nvSpPr>
        <p:spPr>
          <a:xfrm>
            <a:off x="8412480" y="2057400"/>
            <a:ext cx="292608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50,000</a:t>
            </a:r>
            <a:endParaRPr lang="en-US" sz="4400" dirty="0"/>
          </a:p>
        </p:txBody>
      </p:sp>
      <p:sp>
        <p:nvSpPr>
          <p:cNvPr id="11" name="Text 9"/>
          <p:cNvSpPr txBox="1"/>
          <p:nvPr/>
        </p:nvSpPr>
        <p:spPr>
          <a:xfrm>
            <a:off x="8412480" y="3108960"/>
            <a:ext cx="292608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rows the dashboard opens with by default, for speed; the full file is one click away</a:t>
            </a:r>
            <a:endParaRPr lang="en-US" sz="1600" dirty="0"/>
          </a:p>
        </p:txBody>
      </p:sp>
      <p:sp>
        <p:nvSpPr>
          <p:cNvPr id="12" name="Text 1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Three things we fixed before analysis</a:t>
            </a:r>
            <a:endParaRPr lang="en-US" sz="3000" dirty="0"/>
          </a:p>
        </p:txBody>
      </p:sp>
      <p:sp>
        <p:nvSpPr>
          <p:cNvPr id="3" name="Shape 1"/>
          <p:cNvSpPr/>
          <p:nvPr/>
        </p:nvSpPr>
        <p:spPr>
          <a:xfrm>
            <a:off x="548640" y="1737360"/>
            <a:ext cx="822960" cy="822960"/>
          </a:xfrm>
          <a:prstGeom prst="ellipse">
            <a:avLst/>
          </a:prstGeom>
          <a:solidFill>
            <a:srgbClr val="2A9D8F"/>
          </a:solidFill>
          <a:ln w="12700">
            <a:solidFill>
              <a:srgbClr val="2A9D8F"/>
            </a:solidFill>
            <a:prstDash val="solid"/>
          </a:ln>
        </p:spPr>
      </p:sp>
      <p:sp>
        <p:nvSpPr>
          <p:cNvPr id="4" name="Text 2"/>
          <p:cNvSpPr txBox="1"/>
          <p:nvPr/>
        </p:nvSpPr>
        <p:spPr>
          <a:xfrm>
            <a:off x="548640" y="173736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645920" y="1719072"/>
            <a:ext cx="9875520" cy="45720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Empty rows</a:t>
            </a:r>
            <a:endParaRPr lang="en-US" sz="2400" dirty="0"/>
          </a:p>
        </p:txBody>
      </p:sp>
      <p:sp>
        <p:nvSpPr>
          <p:cNvPr id="6" name="Text 4"/>
          <p:cNvSpPr txBox="1"/>
          <p:nvPr/>
        </p:nvSpPr>
        <p:spPr>
          <a:xfrm>
            <a:off x="1645920" y="2194560"/>
            <a:ext cx="9875520" cy="54864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Blank except for a zero salary. Not real adverts, so removed.</a:t>
            </a:r>
            <a:endParaRPr lang="en-US" sz="1800" dirty="0"/>
          </a:p>
        </p:txBody>
      </p:sp>
      <p:sp>
        <p:nvSpPr>
          <p:cNvPr id="7" name="Shape 5"/>
          <p:cNvSpPr/>
          <p:nvPr/>
        </p:nvSpPr>
        <p:spPr>
          <a:xfrm>
            <a:off x="548640" y="3200400"/>
            <a:ext cx="822960" cy="822960"/>
          </a:xfrm>
          <a:prstGeom prst="ellipse">
            <a:avLst/>
          </a:prstGeom>
          <a:solidFill>
            <a:srgbClr val="2A9D8F"/>
          </a:solidFill>
          <a:ln w="12700">
            <a:solidFill>
              <a:srgbClr val="2A9D8F"/>
            </a:solidFill>
            <a:prstDash val="solid"/>
          </a:ln>
        </p:spPr>
      </p:sp>
      <p:sp>
        <p:nvSpPr>
          <p:cNvPr id="8" name="Text 6"/>
          <p:cNvSpPr txBox="1"/>
          <p:nvPr/>
        </p:nvSpPr>
        <p:spPr>
          <a:xfrm>
            <a:off x="548640" y="320040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645920" y="3182112"/>
            <a:ext cx="9875520" cy="45720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Zero and impossible salaries</a:t>
            </a:r>
            <a:endParaRPr lang="en-US" sz="2400" dirty="0"/>
          </a:p>
        </p:txBody>
      </p:sp>
      <p:sp>
        <p:nvSpPr>
          <p:cNvPr id="10" name="Text 8"/>
          <p:cNvSpPr txBox="1"/>
          <p:nvPr/>
        </p:nvSpPr>
        <p:spPr>
          <a:xfrm>
            <a:off x="1645920" y="3657600"/>
            <a:ext cx="9875520" cy="54864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Zero means no salary was given, so it is treated as missing, not as pay of zero.</a:t>
            </a:r>
            <a:endParaRPr lang="en-US" sz="1800" dirty="0"/>
          </a:p>
        </p:txBody>
      </p:sp>
      <p:sp>
        <p:nvSpPr>
          <p:cNvPr id="11" name="Shape 9"/>
          <p:cNvSpPr/>
          <p:nvPr/>
        </p:nvSpPr>
        <p:spPr>
          <a:xfrm>
            <a:off x="548640" y="4663440"/>
            <a:ext cx="822960" cy="822960"/>
          </a:xfrm>
          <a:prstGeom prst="ellipse">
            <a:avLst/>
          </a:prstGeom>
          <a:solidFill>
            <a:srgbClr val="2A9D8F"/>
          </a:solidFill>
          <a:ln w="12700">
            <a:solidFill>
              <a:srgbClr val="2A9D8F"/>
            </a:solidFill>
            <a:prstDash val="solid"/>
          </a:ln>
        </p:spPr>
      </p:sp>
      <p:sp>
        <p:nvSpPr>
          <p:cNvPr id="12" name="Text 10"/>
          <p:cNvSpPr txBox="1"/>
          <p:nvPr/>
        </p:nvSpPr>
        <p:spPr>
          <a:xfrm>
            <a:off x="548640" y="466344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1645920" y="4645152"/>
            <a:ext cx="9875520" cy="45720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Jobs in several categories</a:t>
            </a:r>
            <a:endParaRPr lang="en-US" sz="2400" dirty="0"/>
          </a:p>
        </p:txBody>
      </p:sp>
      <p:sp>
        <p:nvSpPr>
          <p:cNvPr id="14" name="Text 12"/>
          <p:cNvSpPr txBox="1"/>
          <p:nvPr/>
        </p:nvSpPr>
        <p:spPr>
          <a:xfrm>
            <a:off x="1645920" y="5120640"/>
            <a:ext cx="9875520" cy="54864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One job can sit in more than one industry. Each category is counted once per job.</a:t>
            </a:r>
            <a:endParaRPr lang="en-US" sz="1800" dirty="0"/>
          </a:p>
        </p:txBody>
      </p:sp>
      <p:sp>
        <p:nvSpPr>
          <p:cNvPr id="15" name="Text 1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3,988 empty rows removed; 1,044,597 postings kept</a:t>
            </a:r>
            <a:endParaRPr lang="en-US" sz="3000" dirty="0"/>
          </a:p>
        </p:txBody>
      </p:sp>
      <p:sp>
        <p:nvSpPr>
          <p:cNvPr id="3" name="Shape 1"/>
          <p:cNvSpPr/>
          <p:nvPr/>
        </p:nvSpPr>
        <p:spPr>
          <a:xfrm>
            <a:off x="548640" y="1737360"/>
            <a:ext cx="5394960" cy="3108960"/>
          </a:xfrm>
          <a:prstGeom prst="roundRect">
            <a:avLst>
              <a:gd name="adj" fmla="val 3529"/>
            </a:avLst>
          </a:prstGeom>
          <a:solidFill>
            <a:srgbClr val="EEF3F6"/>
          </a:solidFill>
          <a:ln w="12700">
            <a:solidFill>
              <a:srgbClr val="EEF3F6"/>
            </a:solidFill>
            <a:prstDash val="solid"/>
          </a:ln>
        </p:spPr>
      </p:sp>
      <p:sp>
        <p:nvSpPr>
          <p:cNvPr id="4" name="Text 2"/>
          <p:cNvSpPr txBox="1"/>
          <p:nvPr/>
        </p:nvSpPr>
        <p:spPr>
          <a:xfrm>
            <a:off x="822960" y="2057400"/>
            <a:ext cx="484632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1,044,597</a:t>
            </a:r>
            <a:endParaRPr lang="en-US" sz="4400" dirty="0"/>
          </a:p>
        </p:txBody>
      </p:sp>
      <p:sp>
        <p:nvSpPr>
          <p:cNvPr id="5" name="Text 3"/>
          <p:cNvSpPr txBox="1"/>
          <p:nvPr/>
        </p:nvSpPr>
        <p:spPr>
          <a:xfrm>
            <a:off x="822960" y="3108960"/>
            <a:ext cx="484632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postings kept for analysis (99.62% of rows)</a:t>
            </a:r>
            <a:endParaRPr lang="en-US" sz="1600" dirty="0"/>
          </a:p>
        </p:txBody>
      </p:sp>
      <p:sp>
        <p:nvSpPr>
          <p:cNvPr id="6" name="Shape 4"/>
          <p:cNvSpPr/>
          <p:nvPr/>
        </p:nvSpPr>
        <p:spPr>
          <a:xfrm>
            <a:off x="6217920" y="1737360"/>
            <a:ext cx="5394960" cy="3108960"/>
          </a:xfrm>
          <a:prstGeom prst="roundRect">
            <a:avLst>
              <a:gd name="adj" fmla="val 3529"/>
            </a:avLst>
          </a:prstGeom>
          <a:solidFill>
            <a:srgbClr val="EEF3F6"/>
          </a:solidFill>
          <a:ln w="12700">
            <a:solidFill>
              <a:srgbClr val="EEF3F6"/>
            </a:solidFill>
            <a:prstDash val="solid"/>
          </a:ln>
        </p:spPr>
      </p:sp>
      <p:sp>
        <p:nvSpPr>
          <p:cNvPr id="7" name="Text 5"/>
          <p:cNvSpPr txBox="1"/>
          <p:nvPr/>
        </p:nvSpPr>
        <p:spPr>
          <a:xfrm>
            <a:off x="6492240" y="2057400"/>
            <a:ext cx="4846320" cy="1005840"/>
          </a:xfrm>
          <a:prstGeom prst="rect">
            <a:avLst/>
          </a:prstGeom>
          <a:noFill/>
          <a:ln/>
        </p:spPr>
        <p:txBody>
          <a:bodyPr wrap="square" lIns="0" tIns="0" rIns="0" bIns="0" rtlCol="0" anchor="ctr"/>
          <a:lstStyle/>
          <a:p>
            <a:pPr indent="0" marL="0">
              <a:buNone/>
            </a:pPr>
            <a:r>
              <a:rPr lang="en-US" sz="4400" b="1" dirty="0">
                <a:solidFill>
                  <a:srgbClr val="E9A23B"/>
                </a:solidFill>
                <a:latin typeface="Cambria" pitchFamily="34" charset="0"/>
                <a:ea typeface="Cambria" pitchFamily="34" charset="-122"/>
                <a:cs typeface="Cambria" pitchFamily="34" charset="-120"/>
              </a:rPr>
              <a:t>3,988</a:t>
            </a:r>
            <a:endParaRPr lang="en-US" sz="4400" dirty="0"/>
          </a:p>
        </p:txBody>
      </p:sp>
      <p:sp>
        <p:nvSpPr>
          <p:cNvPr id="8" name="Text 6"/>
          <p:cNvSpPr txBox="1"/>
          <p:nvPr/>
        </p:nvSpPr>
        <p:spPr>
          <a:xfrm>
            <a:off x="6492240" y="3108960"/>
            <a:ext cx="484632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empty rows removed (0.38% of rows)</a:t>
            </a:r>
            <a:endParaRPr lang="en-US" sz="1600" dirty="0"/>
          </a:p>
        </p:txBody>
      </p:sp>
      <p:sp>
        <p:nvSpPr>
          <p:cNvPr id="9" name="Text 7"/>
          <p:cNvSpPr txBox="1"/>
          <p:nvPr/>
        </p:nvSpPr>
        <p:spPr>
          <a:xfrm>
            <a:off x="548640" y="5212080"/>
            <a:ext cx="11064240" cy="548640"/>
          </a:xfrm>
          <a:prstGeom prst="rect">
            <a:avLst/>
          </a:prstGeom>
          <a:noFill/>
          <a:ln/>
        </p:spPr>
        <p:txBody>
          <a:bodyPr wrap="square" lIns="0" tIns="0" rIns="0" bIns="0" rtlCol="0" anchor="t"/>
          <a:lstStyle/>
          <a:p>
            <a:pPr indent="0" marL="0">
              <a:buNone/>
            </a:pPr>
            <a:r>
              <a:rPr lang="en-US" sz="1800" dirty="0">
                <a:solidFill>
                  <a:srgbClr val="5B6770"/>
                </a:solidFill>
                <a:latin typeface="Calibri" pitchFamily="34" charset="0"/>
                <a:ea typeface="Calibri" pitchFamily="34" charset="-122"/>
                <a:cs typeface="Calibri" pitchFamily="34" charset="-120"/>
              </a:rPr>
              <a:t>No repeated job IDs were found. Every posting in the cleaned file is unique.</a:t>
            </a:r>
            <a:endParaRPr lang="en-US" sz="1800" dirty="0"/>
          </a:p>
        </p:txBody>
      </p:sp>
      <p:sp>
        <p:nvSpPr>
          <p:cNvPr id="10" name="Text 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1,044,597 postings, 2.7 million vacancies</a:t>
            </a:r>
            <a:endParaRPr lang="en-US" sz="3000" dirty="0"/>
          </a:p>
        </p:txBody>
      </p:sp>
      <p:sp>
        <p:nvSpPr>
          <p:cNvPr id="3" name="Shape 1"/>
          <p:cNvSpPr/>
          <p:nvPr/>
        </p:nvSpPr>
        <p:spPr>
          <a:xfrm>
            <a:off x="548640" y="1737360"/>
            <a:ext cx="2651760" cy="3108960"/>
          </a:xfrm>
          <a:prstGeom prst="roundRect">
            <a:avLst>
              <a:gd name="adj" fmla="val 4138"/>
            </a:avLst>
          </a:prstGeom>
          <a:solidFill>
            <a:srgbClr val="EEF3F6"/>
          </a:solidFill>
          <a:ln w="12700">
            <a:solidFill>
              <a:srgbClr val="EEF3F6"/>
            </a:solidFill>
            <a:prstDash val="solid"/>
          </a:ln>
        </p:spPr>
      </p:sp>
      <p:sp>
        <p:nvSpPr>
          <p:cNvPr id="4" name="Text 2"/>
          <p:cNvSpPr txBox="1"/>
          <p:nvPr/>
        </p:nvSpPr>
        <p:spPr>
          <a:xfrm>
            <a:off x="822960" y="2057400"/>
            <a:ext cx="210312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1.04M</a:t>
            </a:r>
            <a:endParaRPr lang="en-US" sz="4400" dirty="0"/>
          </a:p>
        </p:txBody>
      </p:sp>
      <p:sp>
        <p:nvSpPr>
          <p:cNvPr id="5" name="Text 3"/>
          <p:cNvSpPr txBox="1"/>
          <p:nvPr/>
        </p:nvSpPr>
        <p:spPr>
          <a:xfrm>
            <a:off x="822960" y="3108960"/>
            <a:ext cx="210312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postings</a:t>
            </a:r>
            <a:endParaRPr lang="en-US" sz="1600" dirty="0"/>
          </a:p>
        </p:txBody>
      </p:sp>
      <p:sp>
        <p:nvSpPr>
          <p:cNvPr id="6" name="Shape 4"/>
          <p:cNvSpPr/>
          <p:nvPr/>
        </p:nvSpPr>
        <p:spPr>
          <a:xfrm>
            <a:off x="3383280" y="1737360"/>
            <a:ext cx="2651760" cy="3108960"/>
          </a:xfrm>
          <a:prstGeom prst="roundRect">
            <a:avLst>
              <a:gd name="adj" fmla="val 4138"/>
            </a:avLst>
          </a:prstGeom>
          <a:solidFill>
            <a:srgbClr val="EEF3F6"/>
          </a:solidFill>
          <a:ln w="12700">
            <a:solidFill>
              <a:srgbClr val="EEF3F6"/>
            </a:solidFill>
            <a:prstDash val="solid"/>
          </a:ln>
        </p:spPr>
      </p:sp>
      <p:sp>
        <p:nvSpPr>
          <p:cNvPr id="7" name="Text 5"/>
          <p:cNvSpPr txBox="1"/>
          <p:nvPr/>
        </p:nvSpPr>
        <p:spPr>
          <a:xfrm>
            <a:off x="3657600" y="2057400"/>
            <a:ext cx="210312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2.73M</a:t>
            </a:r>
            <a:endParaRPr lang="en-US" sz="4400" dirty="0"/>
          </a:p>
        </p:txBody>
      </p:sp>
      <p:sp>
        <p:nvSpPr>
          <p:cNvPr id="8" name="Text 6"/>
          <p:cNvSpPr txBox="1"/>
          <p:nvPr/>
        </p:nvSpPr>
        <p:spPr>
          <a:xfrm>
            <a:off x="3657600" y="3108960"/>
            <a:ext cx="210312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vacancies (open seats)</a:t>
            </a:r>
            <a:endParaRPr lang="en-US" sz="1600" dirty="0"/>
          </a:p>
        </p:txBody>
      </p:sp>
      <p:sp>
        <p:nvSpPr>
          <p:cNvPr id="9" name="Shape 7"/>
          <p:cNvSpPr/>
          <p:nvPr/>
        </p:nvSpPr>
        <p:spPr>
          <a:xfrm>
            <a:off x="6217920" y="1737360"/>
            <a:ext cx="2651760" cy="3108960"/>
          </a:xfrm>
          <a:prstGeom prst="roundRect">
            <a:avLst>
              <a:gd name="adj" fmla="val 4138"/>
            </a:avLst>
          </a:prstGeom>
          <a:solidFill>
            <a:srgbClr val="EEF3F6"/>
          </a:solidFill>
          <a:ln w="12700">
            <a:solidFill>
              <a:srgbClr val="EEF3F6"/>
            </a:solidFill>
            <a:prstDash val="solid"/>
          </a:ln>
        </p:spPr>
      </p:sp>
      <p:sp>
        <p:nvSpPr>
          <p:cNvPr id="10" name="Text 8"/>
          <p:cNvSpPr txBox="1"/>
          <p:nvPr/>
        </p:nvSpPr>
        <p:spPr>
          <a:xfrm>
            <a:off x="6492240" y="2057400"/>
            <a:ext cx="210312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53,150</a:t>
            </a:r>
            <a:endParaRPr lang="en-US" sz="4400" dirty="0"/>
          </a:p>
        </p:txBody>
      </p:sp>
      <p:sp>
        <p:nvSpPr>
          <p:cNvPr id="11" name="Text 9"/>
          <p:cNvSpPr txBox="1"/>
          <p:nvPr/>
        </p:nvSpPr>
        <p:spPr>
          <a:xfrm>
            <a:off x="6492240" y="3108960"/>
            <a:ext cx="210312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organisations posting</a:t>
            </a:r>
            <a:endParaRPr lang="en-US" sz="1600" dirty="0"/>
          </a:p>
        </p:txBody>
      </p:sp>
      <p:sp>
        <p:nvSpPr>
          <p:cNvPr id="12" name="Shape 10"/>
          <p:cNvSpPr/>
          <p:nvPr/>
        </p:nvSpPr>
        <p:spPr>
          <a:xfrm>
            <a:off x="9052560" y="1737360"/>
            <a:ext cx="2651760" cy="3108960"/>
          </a:xfrm>
          <a:prstGeom prst="roundRect">
            <a:avLst>
              <a:gd name="adj" fmla="val 4138"/>
            </a:avLst>
          </a:prstGeom>
          <a:solidFill>
            <a:srgbClr val="EEF3F6"/>
          </a:solidFill>
          <a:ln w="12700">
            <a:solidFill>
              <a:srgbClr val="EEF3F6"/>
            </a:solidFill>
            <a:prstDash val="solid"/>
          </a:ln>
        </p:spPr>
      </p:sp>
      <p:sp>
        <p:nvSpPr>
          <p:cNvPr id="13" name="Text 11"/>
          <p:cNvSpPr txBox="1"/>
          <p:nvPr/>
        </p:nvSpPr>
        <p:spPr>
          <a:xfrm>
            <a:off x="9326880" y="2057400"/>
            <a:ext cx="2103120" cy="100584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43</a:t>
            </a:r>
            <a:endParaRPr lang="en-US" sz="4400" dirty="0"/>
          </a:p>
        </p:txBody>
      </p:sp>
      <p:sp>
        <p:nvSpPr>
          <p:cNvPr id="14" name="Text 12"/>
          <p:cNvSpPr txBox="1"/>
          <p:nvPr/>
        </p:nvSpPr>
        <p:spPr>
          <a:xfrm>
            <a:off x="9326880" y="3108960"/>
            <a:ext cx="2103120" cy="15544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industry categories</a:t>
            </a:r>
            <a:endParaRPr lang="en-US" sz="1600" dirty="0"/>
          </a:p>
        </p:txBody>
      </p:sp>
      <p:sp>
        <p:nvSpPr>
          <p:cNvPr id="15" name="Text 1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Pay rises with seniority</a:t>
            </a:r>
            <a:endParaRPr lang="en-US" sz="3000" dirty="0"/>
          </a:p>
        </p:txBody>
      </p:sp>
      <p:graphicFrame>
        <p:nvGraphicFramePr>
          <p:cNvPr id="3" name="Chart 0" descr=""/>
          <p:cNvGraphicFramePr/>
          <p:nvPr/>
        </p:nvGraphicFramePr>
        <p:xfrm>
          <a:off x="548640" y="1645920"/>
          <a:ext cx="78638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778240" y="2011680"/>
            <a:ext cx="2834640" cy="109728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Median advertised monthly salary, S$</a:t>
            </a:r>
            <a:endParaRPr lang="en-US" sz="1600" dirty="0"/>
          </a:p>
        </p:txBody>
      </p:sp>
      <p:sp>
        <p:nvSpPr>
          <p:cNvPr id="5" name="Text 2"/>
          <p:cNvSpPr txBox="1"/>
          <p:nvPr/>
        </p:nvSpPr>
        <p:spPr>
          <a:xfrm>
            <a:off x="8778240" y="3108960"/>
            <a:ext cx="2834640" cy="20116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The median (the middle value) is S$3,850 overall. The middle half runs from S$2,950 to S$5,500.</a:t>
            </a:r>
            <a:endParaRPr lang="en-US" sz="1600" dirty="0"/>
          </a:p>
        </p:txBody>
      </p:sp>
      <p:sp>
        <p:nvSpPr>
          <p:cNvPr id="6"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The biggest category is not always the best paid</a:t>
            </a:r>
            <a:endParaRPr lang="en-US" sz="3000" dirty="0"/>
          </a:p>
        </p:txBody>
      </p:sp>
      <p:sp>
        <p:nvSpPr>
          <p:cNvPr id="3" name="Text 1"/>
          <p:cNvSpPr txBox="1"/>
          <p:nvPr/>
        </p:nvSpPr>
        <p:spPr>
          <a:xfrm>
            <a:off x="548640" y="1737360"/>
            <a:ext cx="5394960" cy="54864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Information Technology</a:t>
            </a:r>
            <a:endParaRPr lang="en-US" sz="2400" dirty="0"/>
          </a:p>
        </p:txBody>
      </p:sp>
      <p:sp>
        <p:nvSpPr>
          <p:cNvPr id="4" name="Shape 2"/>
          <p:cNvSpPr/>
          <p:nvPr/>
        </p:nvSpPr>
        <p:spPr>
          <a:xfrm>
            <a:off x="548640" y="2377440"/>
            <a:ext cx="5394960" cy="2926080"/>
          </a:xfrm>
          <a:prstGeom prst="roundRect">
            <a:avLst>
              <a:gd name="adj" fmla="val 3750"/>
            </a:avLst>
          </a:prstGeom>
          <a:solidFill>
            <a:srgbClr val="EEF3F6"/>
          </a:solidFill>
          <a:ln w="12700">
            <a:solidFill>
              <a:srgbClr val="EEF3F6"/>
            </a:solidFill>
            <a:prstDash val="solid"/>
          </a:ln>
        </p:spPr>
      </p:sp>
      <p:sp>
        <p:nvSpPr>
          <p:cNvPr id="5" name="Text 3"/>
          <p:cNvSpPr txBox="1"/>
          <p:nvPr/>
        </p:nvSpPr>
        <p:spPr>
          <a:xfrm>
            <a:off x="822960" y="2697480"/>
            <a:ext cx="4846320" cy="1005840"/>
          </a:xfrm>
          <a:prstGeom prst="rect">
            <a:avLst/>
          </a:prstGeom>
          <a:noFill/>
          <a:ln/>
        </p:spPr>
        <p:txBody>
          <a:bodyPr wrap="square" lIns="0" tIns="0" rIns="0" bIns="0" rtlCol="0" anchor="ctr"/>
          <a:lstStyle/>
          <a:p>
            <a:pPr indent="0" marL="0">
              <a:buNone/>
            </a:pPr>
            <a:r>
              <a:rPr lang="en-US" sz="4400" b="1" dirty="0">
                <a:solidFill>
                  <a:srgbClr val="2A9D8F"/>
                </a:solidFill>
                <a:latin typeface="Cambria" pitchFamily="34" charset="0"/>
                <a:ea typeface="Cambria" pitchFamily="34" charset="-122"/>
                <a:cs typeface="Cambria" pitchFamily="34" charset="-120"/>
              </a:rPr>
              <a:t>S$6,500</a:t>
            </a:r>
            <a:endParaRPr lang="en-US" sz="4400" dirty="0"/>
          </a:p>
        </p:txBody>
      </p:sp>
      <p:sp>
        <p:nvSpPr>
          <p:cNvPr id="6" name="Text 4"/>
          <p:cNvSpPr txBox="1"/>
          <p:nvPr/>
        </p:nvSpPr>
        <p:spPr>
          <a:xfrm>
            <a:off x="822960" y="3749040"/>
            <a:ext cx="4846320" cy="13716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median advertised salary, from 140,866 postings</a:t>
            </a:r>
            <a:endParaRPr lang="en-US" sz="1600" dirty="0"/>
          </a:p>
        </p:txBody>
      </p:sp>
      <p:sp>
        <p:nvSpPr>
          <p:cNvPr id="7" name="Text 5"/>
          <p:cNvSpPr txBox="1"/>
          <p:nvPr/>
        </p:nvSpPr>
        <p:spPr>
          <a:xfrm>
            <a:off x="6217920" y="1737360"/>
            <a:ext cx="5394960" cy="54864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Admin / Secretarial</a:t>
            </a:r>
            <a:endParaRPr lang="en-US" sz="2400" dirty="0"/>
          </a:p>
        </p:txBody>
      </p:sp>
      <p:sp>
        <p:nvSpPr>
          <p:cNvPr id="8" name="Shape 6"/>
          <p:cNvSpPr/>
          <p:nvPr/>
        </p:nvSpPr>
        <p:spPr>
          <a:xfrm>
            <a:off x="6217920" y="2377440"/>
            <a:ext cx="5394960" cy="2926080"/>
          </a:xfrm>
          <a:prstGeom prst="roundRect">
            <a:avLst>
              <a:gd name="adj" fmla="val 3750"/>
            </a:avLst>
          </a:prstGeom>
          <a:solidFill>
            <a:srgbClr val="EEF3F6"/>
          </a:solidFill>
          <a:ln w="12700">
            <a:solidFill>
              <a:srgbClr val="EEF3F6"/>
            </a:solidFill>
            <a:prstDash val="solid"/>
          </a:ln>
        </p:spPr>
      </p:sp>
      <p:sp>
        <p:nvSpPr>
          <p:cNvPr id="9" name="Text 7"/>
          <p:cNvSpPr txBox="1"/>
          <p:nvPr/>
        </p:nvSpPr>
        <p:spPr>
          <a:xfrm>
            <a:off x="6492240" y="2697480"/>
            <a:ext cx="4846320" cy="1005840"/>
          </a:xfrm>
          <a:prstGeom prst="rect">
            <a:avLst/>
          </a:prstGeom>
          <a:noFill/>
          <a:ln/>
        </p:spPr>
        <p:txBody>
          <a:bodyPr wrap="square" lIns="0" tIns="0" rIns="0" bIns="0" rtlCol="0" anchor="ctr"/>
          <a:lstStyle/>
          <a:p>
            <a:pPr indent="0" marL="0">
              <a:buNone/>
            </a:pPr>
            <a:r>
              <a:rPr lang="en-US" sz="4400" b="1" dirty="0">
                <a:solidFill>
                  <a:srgbClr val="E9A23B"/>
                </a:solidFill>
                <a:latin typeface="Cambria" pitchFamily="34" charset="0"/>
                <a:ea typeface="Cambria" pitchFamily="34" charset="-122"/>
                <a:cs typeface="Cambria" pitchFamily="34" charset="-120"/>
              </a:rPr>
              <a:t>S$2,900</a:t>
            </a:r>
            <a:endParaRPr lang="en-US" sz="4400" dirty="0"/>
          </a:p>
        </p:txBody>
      </p:sp>
      <p:sp>
        <p:nvSpPr>
          <p:cNvPr id="10" name="Text 8"/>
          <p:cNvSpPr txBox="1"/>
          <p:nvPr/>
        </p:nvSpPr>
        <p:spPr>
          <a:xfrm>
            <a:off x="6492240" y="3749040"/>
            <a:ext cx="4846320" cy="13716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median advertised salary, from 117,854 postings</a:t>
            </a:r>
            <a:endParaRPr lang="en-US" sz="1600" dirty="0"/>
          </a:p>
        </p:txBody>
      </p:sp>
      <p:sp>
        <p:nvSpPr>
          <p:cNvPr id="11"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Competition: applications per vacancy vary widely</a:t>
            </a:r>
            <a:endParaRPr lang="en-US" sz="3000" dirty="0"/>
          </a:p>
        </p:txBody>
      </p:sp>
      <p:graphicFrame>
        <p:nvGraphicFramePr>
          <p:cNvPr id="3" name="Chart 0" descr=""/>
          <p:cNvGraphicFramePr/>
          <p:nvPr/>
        </p:nvGraphicFramePr>
        <p:xfrm>
          <a:off x="548640" y="1645920"/>
          <a:ext cx="78638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778240" y="2011680"/>
            <a:ext cx="2834640" cy="32918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Applications per vacancy: total applications ÷ total open seats, within each category. A rough guide to competition, based on the counts recorded on each advert.</a:t>
            </a:r>
            <a:endParaRPr lang="en-US" sz="1600" dirty="0"/>
          </a:p>
        </p:txBody>
      </p:sp>
      <p:sp>
        <p:nvSpPr>
          <p:cNvPr id="5" name="Text 2"/>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Live dashboard: seven views</a:t>
            </a:r>
            <a:endParaRPr lang="en-US" sz="3000" dirty="0"/>
          </a:p>
        </p:txBody>
      </p:sp>
      <p:sp>
        <p:nvSpPr>
          <p:cNvPr id="3" name="Shape 1"/>
          <p:cNvSpPr/>
          <p:nvPr/>
        </p:nvSpPr>
        <p:spPr>
          <a:xfrm>
            <a:off x="548640" y="1554480"/>
            <a:ext cx="5349240" cy="1024128"/>
          </a:xfrm>
          <a:prstGeom prst="roundRect">
            <a:avLst>
              <a:gd name="adj" fmla="val 10714"/>
            </a:avLst>
          </a:prstGeom>
          <a:solidFill>
            <a:srgbClr val="EEF3F6"/>
          </a:solidFill>
          <a:ln w="12700">
            <a:solidFill>
              <a:srgbClr val="EEF3F6"/>
            </a:solidFill>
            <a:prstDash val="solid"/>
          </a:ln>
        </p:spPr>
      </p:sp>
      <p:sp>
        <p:nvSpPr>
          <p:cNvPr id="4" name="Text 2"/>
          <p:cNvSpPr txBox="1"/>
          <p:nvPr/>
        </p:nvSpPr>
        <p:spPr>
          <a:xfrm>
            <a:off x="822960" y="1664208"/>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Filters</a:t>
            </a:r>
            <a:endParaRPr lang="en-US" sz="1800" dirty="0"/>
          </a:p>
        </p:txBody>
      </p:sp>
      <p:sp>
        <p:nvSpPr>
          <p:cNvPr id="5" name="Text 3"/>
          <p:cNvSpPr txBox="1"/>
          <p:nvPr/>
        </p:nvSpPr>
        <p:spPr>
          <a:xfrm>
            <a:off x="822960" y="2103120"/>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Industry, career level, employment type</a:t>
            </a:r>
            <a:endParaRPr lang="en-US" sz="1400" dirty="0"/>
          </a:p>
        </p:txBody>
      </p:sp>
      <p:sp>
        <p:nvSpPr>
          <p:cNvPr id="6" name="Shape 4"/>
          <p:cNvSpPr/>
          <p:nvPr/>
        </p:nvSpPr>
        <p:spPr>
          <a:xfrm>
            <a:off x="6263640" y="1554480"/>
            <a:ext cx="5349240" cy="1024128"/>
          </a:xfrm>
          <a:prstGeom prst="roundRect">
            <a:avLst>
              <a:gd name="adj" fmla="val 10714"/>
            </a:avLst>
          </a:prstGeom>
          <a:solidFill>
            <a:srgbClr val="EEF3F6"/>
          </a:solidFill>
          <a:ln w="12700">
            <a:solidFill>
              <a:srgbClr val="EEF3F6"/>
            </a:solidFill>
            <a:prstDash val="solid"/>
          </a:ln>
        </p:spPr>
      </p:sp>
      <p:sp>
        <p:nvSpPr>
          <p:cNvPr id="7" name="Text 5"/>
          <p:cNvSpPr txBox="1"/>
          <p:nvPr/>
        </p:nvSpPr>
        <p:spPr>
          <a:xfrm>
            <a:off x="6537960" y="1664208"/>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Overview</a:t>
            </a:r>
            <a:endParaRPr lang="en-US" sz="1800" dirty="0"/>
          </a:p>
        </p:txBody>
      </p:sp>
      <p:sp>
        <p:nvSpPr>
          <p:cNvPr id="8" name="Text 6"/>
          <p:cNvSpPr txBox="1"/>
          <p:nvPr/>
        </p:nvSpPr>
        <p:spPr>
          <a:xfrm>
            <a:off x="6537960" y="2103120"/>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Four summary cards, top titles, postings by category</a:t>
            </a:r>
            <a:endParaRPr lang="en-US" sz="1400" dirty="0"/>
          </a:p>
        </p:txBody>
      </p:sp>
      <p:sp>
        <p:nvSpPr>
          <p:cNvPr id="9" name="Shape 7"/>
          <p:cNvSpPr/>
          <p:nvPr/>
        </p:nvSpPr>
        <p:spPr>
          <a:xfrm>
            <a:off x="548640" y="2724912"/>
            <a:ext cx="5349240" cy="1024128"/>
          </a:xfrm>
          <a:prstGeom prst="roundRect">
            <a:avLst>
              <a:gd name="adj" fmla="val 10714"/>
            </a:avLst>
          </a:prstGeom>
          <a:solidFill>
            <a:srgbClr val="EEF3F6"/>
          </a:solidFill>
          <a:ln w="12700">
            <a:solidFill>
              <a:srgbClr val="EEF3F6"/>
            </a:solidFill>
            <a:prstDash val="solid"/>
          </a:ln>
        </p:spPr>
      </p:sp>
      <p:sp>
        <p:nvSpPr>
          <p:cNvPr id="10" name="Text 8"/>
          <p:cNvSpPr txBox="1"/>
          <p:nvPr/>
        </p:nvSpPr>
        <p:spPr>
          <a:xfrm>
            <a:off x="822960" y="2834640"/>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Salary</a:t>
            </a:r>
            <a:endParaRPr lang="en-US" sz="1800" dirty="0"/>
          </a:p>
        </p:txBody>
      </p:sp>
      <p:sp>
        <p:nvSpPr>
          <p:cNvPr id="11" name="Text 9"/>
          <p:cNvSpPr txBox="1"/>
          <p:nvPr/>
        </p:nvSpPr>
        <p:spPr>
          <a:xfrm>
            <a:off x="822960" y="3273552"/>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Median advertised pay by category</a:t>
            </a:r>
            <a:endParaRPr lang="en-US" sz="1400" dirty="0"/>
          </a:p>
        </p:txBody>
      </p:sp>
      <p:sp>
        <p:nvSpPr>
          <p:cNvPr id="12" name="Shape 10"/>
          <p:cNvSpPr/>
          <p:nvPr/>
        </p:nvSpPr>
        <p:spPr>
          <a:xfrm>
            <a:off x="6263640" y="2724912"/>
            <a:ext cx="5349240" cy="1024128"/>
          </a:xfrm>
          <a:prstGeom prst="roundRect">
            <a:avLst>
              <a:gd name="adj" fmla="val 10714"/>
            </a:avLst>
          </a:prstGeom>
          <a:solidFill>
            <a:srgbClr val="EEF3F6"/>
          </a:solidFill>
          <a:ln w="12700">
            <a:solidFill>
              <a:srgbClr val="EEF3F6"/>
            </a:solidFill>
            <a:prstDash val="solid"/>
          </a:ln>
        </p:spPr>
      </p:sp>
      <p:sp>
        <p:nvSpPr>
          <p:cNvPr id="13" name="Text 11"/>
          <p:cNvSpPr txBox="1"/>
          <p:nvPr/>
        </p:nvSpPr>
        <p:spPr>
          <a:xfrm>
            <a:off x="6537960" y="2834640"/>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Trends</a:t>
            </a:r>
            <a:endParaRPr lang="en-US" sz="1800" dirty="0"/>
          </a:p>
        </p:txBody>
      </p:sp>
      <p:sp>
        <p:nvSpPr>
          <p:cNvPr id="14" name="Text 12"/>
          <p:cNvSpPr txBox="1"/>
          <p:nvPr/>
        </p:nvSpPr>
        <p:spPr>
          <a:xfrm>
            <a:off x="6537960" y="3273552"/>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Postings by month, from May 2023 onward</a:t>
            </a:r>
            <a:endParaRPr lang="en-US" sz="1400" dirty="0"/>
          </a:p>
        </p:txBody>
      </p:sp>
      <p:sp>
        <p:nvSpPr>
          <p:cNvPr id="15" name="Shape 13"/>
          <p:cNvSpPr/>
          <p:nvPr/>
        </p:nvSpPr>
        <p:spPr>
          <a:xfrm>
            <a:off x="548640" y="3895344"/>
            <a:ext cx="5349240" cy="1024128"/>
          </a:xfrm>
          <a:prstGeom prst="roundRect">
            <a:avLst>
              <a:gd name="adj" fmla="val 10714"/>
            </a:avLst>
          </a:prstGeom>
          <a:solidFill>
            <a:srgbClr val="EEF3F6"/>
          </a:solidFill>
          <a:ln w="12700">
            <a:solidFill>
              <a:srgbClr val="EEF3F6"/>
            </a:solidFill>
            <a:prstDash val="solid"/>
          </a:ln>
        </p:spPr>
      </p:sp>
      <p:sp>
        <p:nvSpPr>
          <p:cNvPr id="16" name="Text 14"/>
          <p:cNvSpPr txBox="1"/>
          <p:nvPr/>
        </p:nvSpPr>
        <p:spPr>
          <a:xfrm>
            <a:off x="822960" y="4005072"/>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Demand vs competition</a:t>
            </a:r>
            <a:endParaRPr lang="en-US" sz="1800" dirty="0"/>
          </a:p>
        </p:txBody>
      </p:sp>
      <p:sp>
        <p:nvSpPr>
          <p:cNvPr id="17" name="Text 15"/>
          <p:cNvSpPr txBox="1"/>
          <p:nvPr/>
        </p:nvSpPr>
        <p:spPr>
          <a:xfrm>
            <a:off x="822960" y="4443984"/>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Postings against applications per vacancy</a:t>
            </a:r>
            <a:endParaRPr lang="en-US" sz="1400" dirty="0"/>
          </a:p>
        </p:txBody>
      </p:sp>
      <p:sp>
        <p:nvSpPr>
          <p:cNvPr id="18" name="Shape 16"/>
          <p:cNvSpPr/>
          <p:nvPr/>
        </p:nvSpPr>
        <p:spPr>
          <a:xfrm>
            <a:off x="6263640" y="3895344"/>
            <a:ext cx="5349240" cy="1024128"/>
          </a:xfrm>
          <a:prstGeom prst="roundRect">
            <a:avLst>
              <a:gd name="adj" fmla="val 10714"/>
            </a:avLst>
          </a:prstGeom>
          <a:solidFill>
            <a:srgbClr val="EEF3F6"/>
          </a:solidFill>
          <a:ln w="12700">
            <a:solidFill>
              <a:srgbClr val="EEF3F6"/>
            </a:solidFill>
            <a:prstDash val="solid"/>
          </a:ln>
        </p:spPr>
      </p:sp>
      <p:sp>
        <p:nvSpPr>
          <p:cNvPr id="19" name="Text 17"/>
          <p:cNvSpPr txBox="1"/>
          <p:nvPr/>
        </p:nvSpPr>
        <p:spPr>
          <a:xfrm>
            <a:off x="6537960" y="4005072"/>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Skills</a:t>
            </a:r>
            <a:endParaRPr lang="en-US" sz="1800" dirty="0"/>
          </a:p>
        </p:txBody>
      </p:sp>
      <p:sp>
        <p:nvSpPr>
          <p:cNvPr id="20" name="Text 18"/>
          <p:cNvSpPr txBox="1"/>
          <p:nvPr/>
        </p:nvSpPr>
        <p:spPr>
          <a:xfrm>
            <a:off x="6537960" y="4443984"/>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Salary premium for title keywords</a:t>
            </a:r>
            <a:endParaRPr lang="en-US" sz="1400" dirty="0"/>
          </a:p>
        </p:txBody>
      </p:sp>
      <p:sp>
        <p:nvSpPr>
          <p:cNvPr id="21" name="Shape 19"/>
          <p:cNvSpPr/>
          <p:nvPr/>
        </p:nvSpPr>
        <p:spPr>
          <a:xfrm>
            <a:off x="548640" y="5065776"/>
            <a:ext cx="5349240" cy="1024128"/>
          </a:xfrm>
          <a:prstGeom prst="roundRect">
            <a:avLst>
              <a:gd name="adj" fmla="val 10714"/>
            </a:avLst>
          </a:prstGeom>
          <a:solidFill>
            <a:srgbClr val="EEF3F6"/>
          </a:solidFill>
          <a:ln w="12700">
            <a:solidFill>
              <a:srgbClr val="EEF3F6"/>
            </a:solidFill>
            <a:prstDash val="solid"/>
          </a:ln>
        </p:spPr>
      </p:sp>
      <p:sp>
        <p:nvSpPr>
          <p:cNvPr id="22" name="Text 20"/>
          <p:cNvSpPr txBox="1"/>
          <p:nvPr/>
        </p:nvSpPr>
        <p:spPr>
          <a:xfrm>
            <a:off x="822960" y="5175504"/>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Career recommender</a:t>
            </a:r>
            <a:endParaRPr lang="en-US" sz="1800" dirty="0"/>
          </a:p>
        </p:txBody>
      </p:sp>
      <p:sp>
        <p:nvSpPr>
          <p:cNvPr id="23" name="Text 21"/>
          <p:cNvSpPr txBox="1"/>
          <p:nvPr/>
        </p:nvSpPr>
        <p:spPr>
          <a:xfrm>
            <a:off x="822960" y="5614416"/>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Rank career tracks by the weights you set</a:t>
            </a:r>
            <a:endParaRPr lang="en-US" sz="1400" dirty="0"/>
          </a:p>
        </p:txBody>
      </p:sp>
      <p:sp>
        <p:nvSpPr>
          <p:cNvPr id="24" name="Shape 22"/>
          <p:cNvSpPr/>
          <p:nvPr/>
        </p:nvSpPr>
        <p:spPr>
          <a:xfrm>
            <a:off x="6263640" y="5065776"/>
            <a:ext cx="5349240" cy="1024128"/>
          </a:xfrm>
          <a:prstGeom prst="roundRect">
            <a:avLst>
              <a:gd name="adj" fmla="val 10714"/>
            </a:avLst>
          </a:prstGeom>
          <a:solidFill>
            <a:srgbClr val="EEF3F6"/>
          </a:solidFill>
          <a:ln w="12700">
            <a:solidFill>
              <a:srgbClr val="EEF3F6"/>
            </a:solidFill>
            <a:prstDash val="solid"/>
          </a:ln>
        </p:spPr>
      </p:sp>
      <p:sp>
        <p:nvSpPr>
          <p:cNvPr id="25" name="Text 23"/>
          <p:cNvSpPr txBox="1"/>
          <p:nvPr/>
        </p:nvSpPr>
        <p:spPr>
          <a:xfrm>
            <a:off x="6537960" y="5175504"/>
            <a:ext cx="484632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Data quality</a:t>
            </a:r>
            <a:endParaRPr lang="en-US" sz="1800" dirty="0"/>
          </a:p>
        </p:txBody>
      </p:sp>
      <p:sp>
        <p:nvSpPr>
          <p:cNvPr id="26" name="Text 24"/>
          <p:cNvSpPr txBox="1"/>
          <p:nvPr/>
        </p:nvSpPr>
        <p:spPr>
          <a:xfrm>
            <a:off x="6537960" y="5614416"/>
            <a:ext cx="4846320" cy="3657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Missing salaries, unreadable dates, duplicates</a:t>
            </a:r>
            <a:endParaRPr lang="en-US" sz="1400" dirty="0"/>
          </a:p>
        </p:txBody>
      </p:sp>
      <p:sp>
        <p:nvSpPr>
          <p:cNvPr id="27" name="Text 2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Trends: steady volume from May 2023, then a sharp drop</a:t>
            </a:r>
            <a:endParaRPr lang="en-US" sz="3000" dirty="0"/>
          </a:p>
        </p:txBody>
      </p:sp>
      <p:graphicFrame>
        <p:nvGraphicFramePr>
          <p:cNvPr id="3" name="Chart 0" descr=""/>
          <p:cNvGraphicFramePr/>
          <p:nvPr/>
        </p:nvGraphicFramePr>
        <p:xfrm>
          <a:off x="548640" y="155448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595360" y="1737360"/>
            <a:ext cx="3017520" cy="4206240"/>
          </a:xfrm>
          <a:prstGeom prst="roundRect">
            <a:avLst>
              <a:gd name="adj" fmla="val 3636"/>
            </a:avLst>
          </a:prstGeom>
          <a:solidFill>
            <a:srgbClr val="EEF3F6"/>
          </a:solidFill>
          <a:ln w="12700">
            <a:solidFill>
              <a:srgbClr val="EEF3F6"/>
            </a:solidFill>
            <a:prstDash val="solid"/>
          </a:ln>
        </p:spPr>
      </p:sp>
      <p:sp>
        <p:nvSpPr>
          <p:cNvPr id="5" name="Text 2"/>
          <p:cNvSpPr txBox="1"/>
          <p:nvPr/>
        </p:nvSpPr>
        <p:spPr>
          <a:xfrm>
            <a:off x="8869680" y="2011680"/>
            <a:ext cx="2560320" cy="13716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Between about 58,000 and 79,000 postings a month from May 2023 to May 2024.</a:t>
            </a:r>
            <a:endParaRPr lang="en-US" sz="1600" dirty="0"/>
          </a:p>
        </p:txBody>
      </p:sp>
      <p:sp>
        <p:nvSpPr>
          <p:cNvPr id="6" name="Text 3"/>
          <p:cNvSpPr txBox="1"/>
          <p:nvPr/>
        </p:nvSpPr>
        <p:spPr>
          <a:xfrm>
            <a:off x="8869680" y="3566160"/>
            <a:ext cx="2560320" cy="219456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From June 2024 the count falls to about 10,000 to 17,000 a month. We have not confirmed the cause, so do not read it as a market slowdown.</a:t>
            </a:r>
            <a:endParaRPr lang="en-US" sz="1600" dirty="0"/>
          </a:p>
        </p:txBody>
      </p:sp>
      <p:sp>
        <p:nvSpPr>
          <p:cNvPr id="7" name="Text 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Demand vs competition: where to look first</a:t>
            </a:r>
            <a:endParaRPr lang="en-US" sz="3000" dirty="0"/>
          </a:p>
        </p:txBody>
      </p:sp>
      <p:sp>
        <p:nvSpPr>
          <p:cNvPr id="3" name="Shape 1"/>
          <p:cNvSpPr/>
          <p:nvPr/>
        </p:nvSpPr>
        <p:spPr>
          <a:xfrm>
            <a:off x="548640" y="1645920"/>
            <a:ext cx="5349240" cy="3749040"/>
          </a:xfrm>
          <a:prstGeom prst="roundRect">
            <a:avLst>
              <a:gd name="adj" fmla="val 2927"/>
            </a:avLst>
          </a:prstGeom>
          <a:solidFill>
            <a:srgbClr val="EEF3F6"/>
          </a:solidFill>
          <a:ln w="12700">
            <a:solidFill>
              <a:srgbClr val="EEF3F6"/>
            </a:solidFill>
            <a:prstDash val="solid"/>
          </a:ln>
        </p:spPr>
      </p:sp>
      <p:sp>
        <p:nvSpPr>
          <p:cNvPr id="4" name="Text 2"/>
          <p:cNvSpPr txBox="1"/>
          <p:nvPr/>
        </p:nvSpPr>
        <p:spPr>
          <a:xfrm>
            <a:off x="822960" y="1828800"/>
            <a:ext cx="4846320" cy="457200"/>
          </a:xfrm>
          <a:prstGeom prst="rect">
            <a:avLst/>
          </a:prstGeom>
          <a:noFill/>
          <a:ln/>
        </p:spPr>
        <p:txBody>
          <a:bodyPr wrap="square" lIns="0" tIns="0" rIns="0" bIns="0" rtlCol="0" anchor="ctr"/>
          <a:lstStyle/>
          <a:p>
            <a:pPr indent="0" marL="0">
              <a:buNone/>
            </a:pPr>
            <a:r>
              <a:rPr lang="en-US" sz="2200" b="1" dirty="0">
                <a:solidFill>
                  <a:srgbClr val="2A9D8F"/>
                </a:solidFill>
                <a:latin typeface="Cambria" pitchFamily="34" charset="0"/>
                <a:ea typeface="Cambria" pitchFamily="34" charset="-122"/>
                <a:cs typeface="Cambria" pitchFamily="34" charset="-120"/>
              </a:rPr>
              <a:t>Big and open</a:t>
            </a:r>
            <a:endParaRPr lang="en-US" sz="2200" dirty="0"/>
          </a:p>
        </p:txBody>
      </p:sp>
      <p:sp>
        <p:nvSpPr>
          <p:cNvPr id="5" name="Text 3"/>
          <p:cNvSpPr txBox="1"/>
          <p:nvPr/>
        </p:nvSpPr>
        <p:spPr>
          <a:xfrm>
            <a:off x="822960" y="2286000"/>
            <a:ext cx="484632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Many postings, few applicants per seat</a:t>
            </a:r>
            <a:endParaRPr lang="en-US" sz="1400" dirty="0"/>
          </a:p>
        </p:txBody>
      </p:sp>
      <p:sp>
        <p:nvSpPr>
          <p:cNvPr id="6" name="Text 4"/>
          <p:cNvSpPr txBox="1"/>
          <p:nvPr/>
        </p:nvSpPr>
        <p:spPr>
          <a:xfrm>
            <a:off x="822960" y="2834640"/>
            <a:ext cx="4846320" cy="23774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Customer Service: 111,785 postings, 0.48 per seat</a:t>
            </a:r>
            <a:endParaRPr lang="en-US" sz="1700" dirty="0"/>
          </a:p>
          <a:p>
            <a:pPr indent="0" marL="0">
              <a:buNone/>
            </a:pPr>
            <a:r>
              <a:rPr lang="en-US" sz="1700" dirty="0">
                <a:solidFill>
                  <a:srgbClr val="1F2933"/>
                </a:solidFill>
                <a:latin typeface="Calibri" pitchFamily="34" charset="0"/>
                <a:ea typeface="Calibri" pitchFamily="34" charset="-122"/>
                <a:cs typeface="Calibri" pitchFamily="34" charset="-120"/>
              </a:rPr>
              <a:t>Sales / Retail: 105,067 postings, 0.52 per seat</a:t>
            </a:r>
            <a:endParaRPr lang="en-US" sz="1700" dirty="0"/>
          </a:p>
          <a:p>
            <a:pPr indent="0" marL="0">
              <a:buNone/>
            </a:pPr>
            <a:r>
              <a:rPr lang="en-US" sz="1700" dirty="0">
                <a:solidFill>
                  <a:srgbClr val="1F2933"/>
                </a:solidFill>
                <a:latin typeface="Calibri" pitchFamily="34" charset="0"/>
                <a:ea typeface="Calibri" pitchFamily="34" charset="-122"/>
                <a:cs typeface="Calibri" pitchFamily="34" charset="-120"/>
              </a:rPr>
              <a:t>Healthcare / Pharmaceutical: 52,741 postings, 0.39 per seat</a:t>
            </a:r>
            <a:endParaRPr lang="en-US" sz="1700" dirty="0"/>
          </a:p>
        </p:txBody>
      </p:sp>
      <p:sp>
        <p:nvSpPr>
          <p:cNvPr id="7" name="Shape 5"/>
          <p:cNvSpPr/>
          <p:nvPr/>
        </p:nvSpPr>
        <p:spPr>
          <a:xfrm>
            <a:off x="6309360" y="1645920"/>
            <a:ext cx="5349240" cy="3749040"/>
          </a:xfrm>
          <a:prstGeom prst="roundRect">
            <a:avLst>
              <a:gd name="adj" fmla="val 2927"/>
            </a:avLst>
          </a:prstGeom>
          <a:solidFill>
            <a:srgbClr val="EEF3F6"/>
          </a:solidFill>
          <a:ln w="12700">
            <a:solidFill>
              <a:srgbClr val="EEF3F6"/>
            </a:solidFill>
            <a:prstDash val="solid"/>
          </a:ln>
        </p:spPr>
      </p:sp>
      <p:sp>
        <p:nvSpPr>
          <p:cNvPr id="8" name="Text 6"/>
          <p:cNvSpPr txBox="1"/>
          <p:nvPr/>
        </p:nvSpPr>
        <p:spPr>
          <a:xfrm>
            <a:off x="6583680" y="1828800"/>
            <a:ext cx="4846320" cy="457200"/>
          </a:xfrm>
          <a:prstGeom prst="rect">
            <a:avLst/>
          </a:prstGeom>
          <a:noFill/>
          <a:ln/>
        </p:spPr>
        <p:txBody>
          <a:bodyPr wrap="square" lIns="0" tIns="0" rIns="0" bIns="0" rtlCol="0" anchor="ctr"/>
          <a:lstStyle/>
          <a:p>
            <a:pPr indent="0" marL="0">
              <a:buNone/>
            </a:pPr>
            <a:r>
              <a:rPr lang="en-US" sz="2200" b="1" dirty="0">
                <a:solidFill>
                  <a:srgbClr val="E9A23B"/>
                </a:solidFill>
                <a:latin typeface="Cambria" pitchFamily="34" charset="0"/>
                <a:ea typeface="Cambria" pitchFamily="34" charset="-122"/>
                <a:cs typeface="Cambria" pitchFamily="34" charset="-120"/>
              </a:rPr>
              <a:t>Big and crowded</a:t>
            </a:r>
            <a:endParaRPr lang="en-US" sz="2200" dirty="0"/>
          </a:p>
        </p:txBody>
      </p:sp>
      <p:sp>
        <p:nvSpPr>
          <p:cNvPr id="9" name="Text 7"/>
          <p:cNvSpPr txBox="1"/>
          <p:nvPr/>
        </p:nvSpPr>
        <p:spPr>
          <a:xfrm>
            <a:off x="6583680" y="2286000"/>
            <a:ext cx="484632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Many postings, many applicants per seat</a:t>
            </a:r>
            <a:endParaRPr lang="en-US" sz="1400" dirty="0"/>
          </a:p>
        </p:txBody>
      </p:sp>
      <p:sp>
        <p:nvSpPr>
          <p:cNvPr id="10" name="Text 8"/>
          <p:cNvSpPr txBox="1"/>
          <p:nvPr/>
        </p:nvSpPr>
        <p:spPr>
          <a:xfrm>
            <a:off x="6583680" y="2834640"/>
            <a:ext cx="4846320" cy="23774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Banking and Finance: 62,000 postings, 1.70 per seat</a:t>
            </a:r>
            <a:endParaRPr lang="en-US" sz="1700" dirty="0"/>
          </a:p>
          <a:p>
            <a:pPr indent="0" marL="0">
              <a:buNone/>
            </a:pPr>
            <a:r>
              <a:rPr lang="en-US" sz="1700" dirty="0">
                <a:solidFill>
                  <a:srgbClr val="1F2933"/>
                </a:solidFill>
                <a:latin typeface="Calibri" pitchFamily="34" charset="0"/>
                <a:ea typeface="Calibri" pitchFamily="34" charset="-122"/>
                <a:cs typeface="Calibri" pitchFamily="34" charset="-120"/>
              </a:rPr>
              <a:t>Marketing / Public Relations: 53,442 postings, 1.48 per seat</a:t>
            </a:r>
            <a:endParaRPr lang="en-US" sz="1700" dirty="0"/>
          </a:p>
          <a:p>
            <a:pPr indent="0" marL="0">
              <a:buNone/>
            </a:pPr>
            <a:r>
              <a:rPr lang="en-US" sz="1700" dirty="0">
                <a:solidFill>
                  <a:srgbClr val="1F2933"/>
                </a:solidFill>
                <a:latin typeface="Calibri" pitchFamily="34" charset="0"/>
                <a:ea typeface="Calibri" pitchFamily="34" charset="-122"/>
                <a:cs typeface="Calibri" pitchFamily="34" charset="-120"/>
              </a:rPr>
              <a:t>Information Technology: 140,866 postings, 1.12 per seat</a:t>
            </a:r>
            <a:endParaRPr lang="en-US" sz="1700" dirty="0"/>
          </a:p>
        </p:txBody>
      </p:sp>
      <p:sp>
        <p:nvSpPr>
          <p:cNvPr id="11" name="Text 9"/>
          <p:cNvSpPr txBox="1"/>
          <p:nvPr/>
        </p:nvSpPr>
        <p:spPr>
          <a:xfrm>
            <a:off x="548640" y="5577840"/>
            <a:ext cx="11064240" cy="6400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Splits are the medians of categories with at least 2,000 postings: 0.80 applications per vacancy and 20,221 postings. Categories with fewer postings are left out of the chart.</a:t>
            </a:r>
            <a:endParaRPr lang="en-US" sz="1300" dirty="0"/>
          </a:p>
        </p:txBody>
      </p:sp>
      <p:sp>
        <p:nvSpPr>
          <p:cNvPr id="12" name="Text 1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Skills: title keywords linked to pay</a:t>
            </a:r>
            <a:endParaRPr lang="en-US" sz="3000" dirty="0"/>
          </a:p>
        </p:txBody>
      </p:sp>
      <p:graphicFrame>
        <p:nvGraphicFramePr>
          <p:cNvPr id="3" name="Chart 0" descr=""/>
          <p:cNvGraphicFramePr/>
          <p:nvPr/>
        </p:nvGraphicFramePr>
        <p:xfrm>
          <a:off x="548640" y="16459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737360"/>
            <a:ext cx="3749040" cy="4206240"/>
          </a:xfrm>
          <a:prstGeom prst="roundRect">
            <a:avLst>
              <a:gd name="adj" fmla="val 2927"/>
            </a:avLst>
          </a:prstGeom>
          <a:solidFill>
            <a:srgbClr val="EEF3F6"/>
          </a:solidFill>
          <a:ln w="12700">
            <a:solidFill>
              <a:srgbClr val="EEF3F6"/>
            </a:solidFill>
            <a:prstDash val="solid"/>
          </a:ln>
        </p:spPr>
      </p:sp>
      <p:sp>
        <p:nvSpPr>
          <p:cNvPr id="5" name="Text 2"/>
          <p:cNvSpPr txBox="1"/>
          <p:nvPr/>
        </p:nvSpPr>
        <p:spPr>
          <a:xfrm>
            <a:off x="8138160" y="2011680"/>
            <a:ext cx="3291840" cy="16459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Postings with 'Machine learning / AI' in the title have a median of S$8,500, about 124% above the all-posting median.</a:t>
            </a:r>
            <a:endParaRPr lang="en-US" sz="1500" dirty="0"/>
          </a:p>
        </p:txBody>
      </p:sp>
      <p:sp>
        <p:nvSpPr>
          <p:cNvPr id="6" name="Text 3"/>
          <p:cNvSpPr txBox="1"/>
          <p:nvPr/>
        </p:nvSpPr>
        <p:spPr>
          <a:xfrm>
            <a:off x="8138160" y="4023360"/>
            <a:ext cx="3291840" cy="164592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Skills are read from job titles only, so this is an association, not proof that learning the skill raises pay.</a:t>
            </a:r>
            <a:endParaRPr lang="en-US" sz="1500" dirty="0"/>
          </a:p>
        </p:txBody>
      </p:sp>
      <p:sp>
        <p:nvSpPr>
          <p:cNvPr id="7" name="Text 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Career recommender: example tracks at default weights</a:t>
            </a:r>
            <a:endParaRPr lang="en-US" sz="3000" dirty="0"/>
          </a:p>
        </p:txBody>
      </p:sp>
      <p:sp>
        <p:nvSpPr>
          <p:cNvPr id="3" name="Shape 1"/>
          <p:cNvSpPr/>
          <p:nvPr/>
        </p:nvSpPr>
        <p:spPr>
          <a:xfrm>
            <a:off x="548640" y="1737360"/>
            <a:ext cx="11064240" cy="1143000"/>
          </a:xfrm>
          <a:prstGeom prst="roundRect">
            <a:avLst>
              <a:gd name="adj" fmla="val 9600"/>
            </a:avLst>
          </a:prstGeom>
          <a:solidFill>
            <a:srgbClr val="EEF3F6"/>
          </a:solidFill>
          <a:ln w="12700">
            <a:solidFill>
              <a:srgbClr val="EEF3F6"/>
            </a:solidFill>
            <a:prstDash val="solid"/>
          </a:ln>
        </p:spPr>
      </p:sp>
      <p:sp>
        <p:nvSpPr>
          <p:cNvPr id="4" name="Text 2"/>
          <p:cNvSpPr txBox="1"/>
          <p:nvPr/>
        </p:nvSpPr>
        <p:spPr>
          <a:xfrm>
            <a:off x="822960" y="1874520"/>
            <a:ext cx="7863840" cy="457200"/>
          </a:xfrm>
          <a:prstGeom prst="rect">
            <a:avLst/>
          </a:prstGeom>
          <a:noFill/>
          <a:ln/>
        </p:spPr>
        <p:txBody>
          <a:bodyPr wrap="square" lIns="0" tIns="0" rIns="0" bIns="0" rtlCol="0" anchor="ctr"/>
          <a:lstStyle/>
          <a:p>
            <a:pPr indent="0" marL="0">
              <a:buNone/>
            </a:pPr>
            <a:r>
              <a:rPr lang="en-US" sz="2200" b="1" dirty="0">
                <a:solidFill>
                  <a:srgbClr val="1B2A41"/>
                </a:solidFill>
                <a:latin typeface="Cambria" pitchFamily="34" charset="0"/>
                <a:ea typeface="Cambria" pitchFamily="34" charset="-122"/>
                <a:cs typeface="Cambria" pitchFamily="34" charset="-120"/>
              </a:rPr>
              <a:t>Information Technology · Mid</a:t>
            </a:r>
            <a:endParaRPr lang="en-US" sz="2200" dirty="0"/>
          </a:p>
        </p:txBody>
      </p:sp>
      <p:sp>
        <p:nvSpPr>
          <p:cNvPr id="5" name="Text 3"/>
          <p:cNvSpPr txBox="1"/>
          <p:nvPr/>
        </p:nvSpPr>
        <p:spPr>
          <a:xfrm>
            <a:off x="822960" y="2395728"/>
            <a:ext cx="8229600" cy="36576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72,757 postings · median S$6,500 · 0.91 applications per seat</a:t>
            </a:r>
            <a:endParaRPr lang="en-US" sz="1500" dirty="0"/>
          </a:p>
        </p:txBody>
      </p:sp>
      <p:sp>
        <p:nvSpPr>
          <p:cNvPr id="6" name="Text 4"/>
          <p:cNvSpPr txBox="1"/>
          <p:nvPr/>
        </p:nvSpPr>
        <p:spPr>
          <a:xfrm>
            <a:off x="9052560" y="1920240"/>
            <a:ext cx="2286000" cy="731520"/>
          </a:xfrm>
          <a:prstGeom prst="rect">
            <a:avLst/>
          </a:prstGeom>
          <a:noFill/>
          <a:ln/>
        </p:spPr>
        <p:txBody>
          <a:bodyPr wrap="square" lIns="0" tIns="0" rIns="0" bIns="0" rtlCol="0" anchor="ctr"/>
          <a:lstStyle/>
          <a:p>
            <a:pPr algn="r" indent="0" marL="0">
              <a:buNone/>
            </a:pPr>
            <a:r>
              <a:rPr lang="en-US" sz="3000" b="1" dirty="0">
                <a:solidFill>
                  <a:srgbClr val="2A9D8F"/>
                </a:solidFill>
                <a:latin typeface="Cambria" pitchFamily="34" charset="0"/>
                <a:ea typeface="Cambria" pitchFamily="34" charset="-122"/>
                <a:cs typeface="Cambria" pitchFamily="34" charset="-120"/>
              </a:rPr>
              <a:t>Fit 73</a:t>
            </a:r>
            <a:endParaRPr lang="en-US" sz="3000" dirty="0"/>
          </a:p>
        </p:txBody>
      </p:sp>
      <p:sp>
        <p:nvSpPr>
          <p:cNvPr id="7" name="Shape 5"/>
          <p:cNvSpPr/>
          <p:nvPr/>
        </p:nvSpPr>
        <p:spPr>
          <a:xfrm>
            <a:off x="548640" y="3108960"/>
            <a:ext cx="11064240" cy="1143000"/>
          </a:xfrm>
          <a:prstGeom prst="roundRect">
            <a:avLst>
              <a:gd name="adj" fmla="val 9600"/>
            </a:avLst>
          </a:prstGeom>
          <a:solidFill>
            <a:srgbClr val="EEF3F6"/>
          </a:solidFill>
          <a:ln w="12700">
            <a:solidFill>
              <a:srgbClr val="EEF3F6"/>
            </a:solidFill>
            <a:prstDash val="solid"/>
          </a:ln>
        </p:spPr>
      </p:sp>
      <p:sp>
        <p:nvSpPr>
          <p:cNvPr id="8" name="Text 6"/>
          <p:cNvSpPr txBox="1"/>
          <p:nvPr/>
        </p:nvSpPr>
        <p:spPr>
          <a:xfrm>
            <a:off x="822960" y="3246120"/>
            <a:ext cx="7863840" cy="457200"/>
          </a:xfrm>
          <a:prstGeom prst="rect">
            <a:avLst/>
          </a:prstGeom>
          <a:noFill/>
          <a:ln/>
        </p:spPr>
        <p:txBody>
          <a:bodyPr wrap="square" lIns="0" tIns="0" rIns="0" bIns="0" rtlCol="0" anchor="ctr"/>
          <a:lstStyle/>
          <a:p>
            <a:pPr indent="0" marL="0">
              <a:buNone/>
            </a:pPr>
            <a:r>
              <a:rPr lang="en-US" sz="2200" b="1" dirty="0">
                <a:solidFill>
                  <a:srgbClr val="1B2A41"/>
                </a:solidFill>
                <a:latin typeface="Cambria" pitchFamily="34" charset="0"/>
                <a:ea typeface="Cambria" pitchFamily="34" charset="-122"/>
                <a:cs typeface="Cambria" pitchFamily="34" charset="-120"/>
              </a:rPr>
              <a:t>Sales / Retail · Junior</a:t>
            </a:r>
            <a:endParaRPr lang="en-US" sz="2200" dirty="0"/>
          </a:p>
        </p:txBody>
      </p:sp>
      <p:sp>
        <p:nvSpPr>
          <p:cNvPr id="9" name="Text 7"/>
          <p:cNvSpPr txBox="1"/>
          <p:nvPr/>
        </p:nvSpPr>
        <p:spPr>
          <a:xfrm>
            <a:off x="822960" y="3767328"/>
            <a:ext cx="8229600" cy="36576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18,967 postings · median S$3,250 · 98% ask for 3 years or less</a:t>
            </a:r>
            <a:endParaRPr lang="en-US" sz="1500" dirty="0"/>
          </a:p>
        </p:txBody>
      </p:sp>
      <p:sp>
        <p:nvSpPr>
          <p:cNvPr id="10" name="Text 8"/>
          <p:cNvSpPr txBox="1"/>
          <p:nvPr/>
        </p:nvSpPr>
        <p:spPr>
          <a:xfrm>
            <a:off x="9052560" y="3291840"/>
            <a:ext cx="2286000" cy="731520"/>
          </a:xfrm>
          <a:prstGeom prst="rect">
            <a:avLst/>
          </a:prstGeom>
          <a:noFill/>
          <a:ln/>
        </p:spPr>
        <p:txBody>
          <a:bodyPr wrap="square" lIns="0" tIns="0" rIns="0" bIns="0" rtlCol="0" anchor="ctr"/>
          <a:lstStyle/>
          <a:p>
            <a:pPr algn="r" indent="0" marL="0">
              <a:buNone/>
            </a:pPr>
            <a:r>
              <a:rPr lang="en-US" sz="3000" b="1" dirty="0">
                <a:solidFill>
                  <a:srgbClr val="2A9D8F"/>
                </a:solidFill>
                <a:latin typeface="Cambria" pitchFamily="34" charset="0"/>
                <a:ea typeface="Cambria" pitchFamily="34" charset="-122"/>
                <a:cs typeface="Cambria" pitchFamily="34" charset="-120"/>
              </a:rPr>
              <a:t>Fit 72</a:t>
            </a:r>
            <a:endParaRPr lang="en-US" sz="3000" dirty="0"/>
          </a:p>
        </p:txBody>
      </p:sp>
      <p:sp>
        <p:nvSpPr>
          <p:cNvPr id="11" name="Shape 9"/>
          <p:cNvSpPr/>
          <p:nvPr/>
        </p:nvSpPr>
        <p:spPr>
          <a:xfrm>
            <a:off x="548640" y="4480560"/>
            <a:ext cx="11064240" cy="1143000"/>
          </a:xfrm>
          <a:prstGeom prst="roundRect">
            <a:avLst>
              <a:gd name="adj" fmla="val 9600"/>
            </a:avLst>
          </a:prstGeom>
          <a:solidFill>
            <a:srgbClr val="EEF3F6"/>
          </a:solidFill>
          <a:ln w="12700">
            <a:solidFill>
              <a:srgbClr val="EEF3F6"/>
            </a:solidFill>
            <a:prstDash val="solid"/>
          </a:ln>
        </p:spPr>
      </p:sp>
      <p:sp>
        <p:nvSpPr>
          <p:cNvPr id="12" name="Text 10"/>
          <p:cNvSpPr txBox="1"/>
          <p:nvPr/>
        </p:nvSpPr>
        <p:spPr>
          <a:xfrm>
            <a:off x="822960" y="4617720"/>
            <a:ext cx="7863840" cy="457200"/>
          </a:xfrm>
          <a:prstGeom prst="rect">
            <a:avLst/>
          </a:prstGeom>
          <a:noFill/>
          <a:ln/>
        </p:spPr>
        <p:txBody>
          <a:bodyPr wrap="square" lIns="0" tIns="0" rIns="0" bIns="0" rtlCol="0" anchor="ctr"/>
          <a:lstStyle/>
          <a:p>
            <a:pPr indent="0" marL="0">
              <a:buNone/>
            </a:pPr>
            <a:r>
              <a:rPr lang="en-US" sz="2200" b="1" dirty="0">
                <a:solidFill>
                  <a:srgbClr val="1B2A41"/>
                </a:solidFill>
                <a:latin typeface="Cambria" pitchFamily="34" charset="0"/>
                <a:ea typeface="Cambria" pitchFamily="34" charset="-122"/>
                <a:cs typeface="Cambria" pitchFamily="34" charset="-120"/>
              </a:rPr>
              <a:t>Healthcare / Pharmaceutical · Mid</a:t>
            </a:r>
            <a:endParaRPr lang="en-US" sz="2200" dirty="0"/>
          </a:p>
        </p:txBody>
      </p:sp>
      <p:sp>
        <p:nvSpPr>
          <p:cNvPr id="13" name="Text 11"/>
          <p:cNvSpPr txBox="1"/>
          <p:nvPr/>
        </p:nvSpPr>
        <p:spPr>
          <a:xfrm>
            <a:off x="822960" y="5138928"/>
            <a:ext cx="8229600" cy="36576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17,715 postings · median S$4,000 · 87% ask for 3 years or less</a:t>
            </a:r>
            <a:endParaRPr lang="en-US" sz="1500" dirty="0"/>
          </a:p>
        </p:txBody>
      </p:sp>
      <p:sp>
        <p:nvSpPr>
          <p:cNvPr id="14" name="Text 12"/>
          <p:cNvSpPr txBox="1"/>
          <p:nvPr/>
        </p:nvSpPr>
        <p:spPr>
          <a:xfrm>
            <a:off x="9052560" y="4663440"/>
            <a:ext cx="2286000" cy="731520"/>
          </a:xfrm>
          <a:prstGeom prst="rect">
            <a:avLst/>
          </a:prstGeom>
          <a:noFill/>
          <a:ln/>
        </p:spPr>
        <p:txBody>
          <a:bodyPr wrap="square" lIns="0" tIns="0" rIns="0" bIns="0" rtlCol="0" anchor="ctr"/>
          <a:lstStyle/>
          <a:p>
            <a:pPr algn="r" indent="0" marL="0">
              <a:buNone/>
            </a:pPr>
            <a:r>
              <a:rPr lang="en-US" sz="3000" b="1" dirty="0">
                <a:solidFill>
                  <a:srgbClr val="2A9D8F"/>
                </a:solidFill>
                <a:latin typeface="Cambria" pitchFamily="34" charset="0"/>
                <a:ea typeface="Cambria" pitchFamily="34" charset="-122"/>
                <a:cs typeface="Cambria" pitchFamily="34" charset="-120"/>
              </a:rPr>
              <a:t>Fit 70</a:t>
            </a:r>
            <a:endParaRPr lang="en-US" sz="3000" dirty="0"/>
          </a:p>
        </p:txBody>
      </p:sp>
      <p:sp>
        <p:nvSpPr>
          <p:cNvPr id="15" name="Text 13"/>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Each track is one category and one seniority band. Factors: demand, pay, low competition, and ease of entry (share asking for 3 years or less). The user sets the weights. This is a guide, not a prediction of hiring.</a:t>
            </a:r>
            <a:endParaRPr lang="en-US" sz="1300" dirty="0"/>
          </a:p>
        </p:txBody>
      </p:sp>
      <p:sp>
        <p:nvSpPr>
          <p:cNvPr id="16" name="Text 1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What the data cannot tell us</a:t>
            </a:r>
            <a:endParaRPr lang="en-US" sz="3000" dirty="0"/>
          </a:p>
        </p:txBody>
      </p:sp>
      <p:sp>
        <p:nvSpPr>
          <p:cNvPr id="3" name="Shape 1"/>
          <p:cNvSpPr/>
          <p:nvPr/>
        </p:nvSpPr>
        <p:spPr>
          <a:xfrm>
            <a:off x="548640" y="1737360"/>
            <a:ext cx="11064240" cy="1234440"/>
          </a:xfrm>
          <a:prstGeom prst="rect">
            <a:avLst/>
          </a:prstGeom>
          <a:solidFill>
            <a:srgbClr val="EEF3F6"/>
          </a:solidFill>
          <a:ln w="12700">
            <a:solidFill>
              <a:srgbClr val="EEF3F6"/>
            </a:solidFill>
            <a:prstDash val="solid"/>
          </a:ln>
        </p:spPr>
      </p:sp>
      <p:sp>
        <p:nvSpPr>
          <p:cNvPr id="4" name="Text 2"/>
          <p:cNvSpPr txBox="1"/>
          <p:nvPr/>
        </p:nvSpPr>
        <p:spPr>
          <a:xfrm>
            <a:off x="822960" y="1901952"/>
            <a:ext cx="10515600" cy="457200"/>
          </a:xfrm>
          <a:prstGeom prst="rect">
            <a:avLst/>
          </a:prstGeom>
          <a:noFill/>
          <a:ln/>
        </p:spPr>
        <p:txBody>
          <a:bodyPr wrap="square" lIns="0" tIns="0" rIns="0" bIns="0" rtlCol="0" anchor="ctr"/>
          <a:lstStyle/>
          <a:p>
            <a:pPr indent="0" marL="0">
              <a:buNone/>
            </a:pPr>
            <a:r>
              <a:rPr lang="en-US" sz="2200" b="1" dirty="0">
                <a:solidFill>
                  <a:srgbClr val="1B2A41"/>
                </a:solidFill>
                <a:latin typeface="Cambria" pitchFamily="34" charset="0"/>
                <a:ea typeface="Cambria" pitchFamily="34" charset="-122"/>
                <a:cs typeface="Cambria" pitchFamily="34" charset="-120"/>
              </a:rPr>
              <a:t>Adverts are not hires</a:t>
            </a:r>
            <a:endParaRPr lang="en-US" sz="2200" dirty="0"/>
          </a:p>
        </p:txBody>
      </p:sp>
      <p:sp>
        <p:nvSpPr>
          <p:cNvPr id="5" name="Text 3"/>
          <p:cNvSpPr txBox="1"/>
          <p:nvPr/>
        </p:nvSpPr>
        <p:spPr>
          <a:xfrm>
            <a:off x="822960" y="2377440"/>
            <a:ext cx="10515600" cy="45720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The dashboard shows what employers advertised, not who was hired.</a:t>
            </a:r>
            <a:endParaRPr lang="en-US" sz="1700" dirty="0"/>
          </a:p>
        </p:txBody>
      </p:sp>
      <p:sp>
        <p:nvSpPr>
          <p:cNvPr id="6" name="Shape 4"/>
          <p:cNvSpPr/>
          <p:nvPr/>
        </p:nvSpPr>
        <p:spPr>
          <a:xfrm>
            <a:off x="548640" y="3200400"/>
            <a:ext cx="11064240" cy="1234440"/>
          </a:xfrm>
          <a:prstGeom prst="rect">
            <a:avLst/>
          </a:prstGeom>
          <a:solidFill>
            <a:srgbClr val="EEF3F6"/>
          </a:solidFill>
          <a:ln w="12700">
            <a:solidFill>
              <a:srgbClr val="EEF3F6"/>
            </a:solidFill>
            <a:prstDash val="solid"/>
          </a:ln>
        </p:spPr>
      </p:sp>
      <p:sp>
        <p:nvSpPr>
          <p:cNvPr id="7" name="Text 5"/>
          <p:cNvSpPr txBox="1"/>
          <p:nvPr/>
        </p:nvSpPr>
        <p:spPr>
          <a:xfrm>
            <a:off x="822960" y="3364992"/>
            <a:ext cx="10515600" cy="457200"/>
          </a:xfrm>
          <a:prstGeom prst="rect">
            <a:avLst/>
          </a:prstGeom>
          <a:noFill/>
          <a:ln/>
        </p:spPr>
        <p:txBody>
          <a:bodyPr wrap="square" lIns="0" tIns="0" rIns="0" bIns="0" rtlCol="0" anchor="ctr"/>
          <a:lstStyle/>
          <a:p>
            <a:pPr indent="0" marL="0">
              <a:buNone/>
            </a:pPr>
            <a:r>
              <a:rPr lang="en-US" sz="2200" b="1" dirty="0">
                <a:solidFill>
                  <a:srgbClr val="1B2A41"/>
                </a:solidFill>
                <a:latin typeface="Cambria" pitchFamily="34" charset="0"/>
                <a:ea typeface="Cambria" pitchFamily="34" charset="-122"/>
                <a:cs typeface="Cambria" pitchFamily="34" charset="-120"/>
              </a:rPr>
              <a:t>Some data was not clean</a:t>
            </a:r>
            <a:endParaRPr lang="en-US" sz="2200" dirty="0"/>
          </a:p>
        </p:txBody>
      </p:sp>
      <p:sp>
        <p:nvSpPr>
          <p:cNvPr id="8" name="Text 6"/>
          <p:cNvSpPr txBox="1"/>
          <p:nvPr/>
        </p:nvSpPr>
        <p:spPr>
          <a:xfrm>
            <a:off x="822960" y="3840480"/>
            <a:ext cx="10515600" cy="45720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Empty rows were removed, and many pay figures were zero or wrongly entered.</a:t>
            </a:r>
            <a:endParaRPr lang="en-US" sz="1700" dirty="0"/>
          </a:p>
        </p:txBody>
      </p:sp>
      <p:sp>
        <p:nvSpPr>
          <p:cNvPr id="9" name="Shape 7"/>
          <p:cNvSpPr/>
          <p:nvPr/>
        </p:nvSpPr>
        <p:spPr>
          <a:xfrm>
            <a:off x="548640" y="4663440"/>
            <a:ext cx="11064240" cy="1234440"/>
          </a:xfrm>
          <a:prstGeom prst="rect">
            <a:avLst/>
          </a:prstGeom>
          <a:solidFill>
            <a:srgbClr val="EEF3F6"/>
          </a:solidFill>
          <a:ln w="12700">
            <a:solidFill>
              <a:srgbClr val="EEF3F6"/>
            </a:solidFill>
            <a:prstDash val="solid"/>
          </a:ln>
        </p:spPr>
      </p:sp>
      <p:sp>
        <p:nvSpPr>
          <p:cNvPr id="10" name="Text 8"/>
          <p:cNvSpPr txBox="1"/>
          <p:nvPr/>
        </p:nvSpPr>
        <p:spPr>
          <a:xfrm>
            <a:off x="822960" y="4828032"/>
            <a:ext cx="10515600" cy="457200"/>
          </a:xfrm>
          <a:prstGeom prst="rect">
            <a:avLst/>
          </a:prstGeom>
          <a:noFill/>
          <a:ln/>
        </p:spPr>
        <p:txBody>
          <a:bodyPr wrap="square" lIns="0" tIns="0" rIns="0" bIns="0" rtlCol="0" anchor="ctr"/>
          <a:lstStyle/>
          <a:p>
            <a:pPr indent="0" marL="0">
              <a:buNone/>
            </a:pPr>
            <a:r>
              <a:rPr lang="en-US" sz="2200" b="1" dirty="0">
                <a:solidFill>
                  <a:srgbClr val="1B2A41"/>
                </a:solidFill>
                <a:latin typeface="Cambria" pitchFamily="34" charset="0"/>
                <a:ea typeface="Cambria" pitchFamily="34" charset="-122"/>
                <a:cs typeface="Cambria" pitchFamily="34" charset="-120"/>
              </a:rPr>
              <a:t>Trends start in May 2023</a:t>
            </a:r>
            <a:endParaRPr lang="en-US" sz="2200" dirty="0"/>
          </a:p>
        </p:txBody>
      </p:sp>
      <p:sp>
        <p:nvSpPr>
          <p:cNvPr id="11" name="Text 9"/>
          <p:cNvSpPr txBox="1"/>
          <p:nvPr/>
        </p:nvSpPr>
        <p:spPr>
          <a:xfrm>
            <a:off x="822960" y="5303520"/>
            <a:ext cx="10515600" cy="45720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Earlier view and application counts were recorded differently, and counts fall sharply after May 2024.</a:t>
            </a:r>
            <a:endParaRPr lang="en-US" sz="1700" dirty="0"/>
          </a:p>
        </p:txBody>
      </p:sp>
      <p:sp>
        <p:nvSpPr>
          <p:cNvPr id="12" name="Text 1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11480"/>
            <a:ext cx="11064240" cy="91440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What we would do next</a:t>
            </a:r>
            <a:endParaRPr lang="en-US" sz="3000" dirty="0"/>
          </a:p>
        </p:txBody>
      </p:sp>
      <p:sp>
        <p:nvSpPr>
          <p:cNvPr id="3" name="Shape 1"/>
          <p:cNvSpPr/>
          <p:nvPr/>
        </p:nvSpPr>
        <p:spPr>
          <a:xfrm>
            <a:off x="548640" y="1828800"/>
            <a:ext cx="731520" cy="731520"/>
          </a:xfrm>
          <a:prstGeom prst="ellipse">
            <a:avLst/>
          </a:prstGeom>
          <a:solidFill>
            <a:srgbClr val="2A9D8F"/>
          </a:solidFill>
          <a:ln w="12700">
            <a:solidFill>
              <a:srgbClr val="2A9D8F"/>
            </a:solidFill>
            <a:prstDash val="solid"/>
          </a:ln>
        </p:spPr>
      </p:sp>
      <p:sp>
        <p:nvSpPr>
          <p:cNvPr id="4" name="Text 2"/>
          <p:cNvSpPr txBox="1"/>
          <p:nvPr/>
        </p:nvSpPr>
        <p:spPr>
          <a:xfrm>
            <a:off x="548640"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645920" y="1920240"/>
            <a:ext cx="9966960" cy="6400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Confirm why posting counts fall after May 2024</a:t>
            </a:r>
            <a:endParaRPr lang="en-US" sz="2200" dirty="0"/>
          </a:p>
        </p:txBody>
      </p:sp>
      <p:sp>
        <p:nvSpPr>
          <p:cNvPr id="6" name="Shape 4"/>
          <p:cNvSpPr/>
          <p:nvPr/>
        </p:nvSpPr>
        <p:spPr>
          <a:xfrm>
            <a:off x="548640" y="3154680"/>
            <a:ext cx="731520" cy="731520"/>
          </a:xfrm>
          <a:prstGeom prst="ellipse">
            <a:avLst/>
          </a:prstGeom>
          <a:solidFill>
            <a:srgbClr val="2A9D8F"/>
          </a:solidFill>
          <a:ln w="12700">
            <a:solidFill>
              <a:srgbClr val="2A9D8F"/>
            </a:solidFill>
            <a:prstDash val="solid"/>
          </a:ln>
        </p:spPr>
      </p:sp>
      <p:sp>
        <p:nvSpPr>
          <p:cNvPr id="7" name="Text 5"/>
          <p:cNvSpPr txBox="1"/>
          <p:nvPr/>
        </p:nvSpPr>
        <p:spPr>
          <a:xfrm>
            <a:off x="548640" y="31546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645920" y="3246120"/>
            <a:ext cx="9966960" cy="6400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Review the very high salaries one by one</a:t>
            </a:r>
            <a:endParaRPr lang="en-US" sz="2200" dirty="0"/>
          </a:p>
        </p:txBody>
      </p:sp>
      <p:sp>
        <p:nvSpPr>
          <p:cNvPr id="9" name="Shape 7"/>
          <p:cNvSpPr/>
          <p:nvPr/>
        </p:nvSpPr>
        <p:spPr>
          <a:xfrm>
            <a:off x="548640" y="4480560"/>
            <a:ext cx="731520" cy="731520"/>
          </a:xfrm>
          <a:prstGeom prst="ellipse">
            <a:avLst/>
          </a:prstGeom>
          <a:solidFill>
            <a:srgbClr val="2A9D8F"/>
          </a:solidFill>
          <a:ln w="12700">
            <a:solidFill>
              <a:srgbClr val="2A9D8F"/>
            </a:solidFill>
            <a:prstDash val="solid"/>
          </a:ln>
        </p:spPr>
      </p:sp>
      <p:sp>
        <p:nvSpPr>
          <p:cNvPr id="10" name="Text 8"/>
          <p:cNvSpPr txBox="1"/>
          <p:nvPr/>
        </p:nvSpPr>
        <p:spPr>
          <a:xfrm>
            <a:off x="548640" y="44805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645920" y="4572000"/>
            <a:ext cx="9966960" cy="6400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Test the app on the full file and ask career coaches and job seekers to try it</a:t>
            </a:r>
            <a:endParaRPr lang="en-US" sz="2200" dirty="0"/>
          </a:p>
        </p:txBody>
      </p:sp>
      <p:sp>
        <p:nvSpPr>
          <p:cNvPr id="12" name="Text 1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Singapore Jobs Explorer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2103120"/>
            <a:ext cx="1069848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731520" y="3200400"/>
            <a:ext cx="1069848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 starting point for a better career conversation, not a replacement for one.</a:t>
            </a:r>
            <a:endParaRPr lang="en-US" sz="2200" dirty="0"/>
          </a:p>
        </p:txBody>
      </p:sp>
      <p:sp>
        <p:nvSpPr>
          <p:cNvPr id="4" name="Text 2"/>
          <p:cNvSpPr txBox="1"/>
          <p:nvPr/>
        </p:nvSpPr>
        <p:spPr>
          <a:xfrm>
            <a:off x="731520" y="4754880"/>
            <a:ext cx="1069848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Group 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Singapore Jobs Explorer</dc:title>
  <dc:subject>PptxGenJS Presentation</dc:subject>
  <dc:creator>PptxGenJS</dc:creator>
  <cp:lastModifiedBy>PptxGenJS</cp:lastModifiedBy>
  <cp:revision>1</cp:revision>
  <dcterms:created xsi:type="dcterms:W3CDTF">2026-10-29T07:05:01Z</dcterms:created>
  <dcterms:modified xsi:type="dcterms:W3CDTF">2026-10-29T07:05:01Z</dcterms:modified>
</cp:coreProperties>
</file>