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475d8a4-0d71-3408-5ff3-4218c76e035f}">
          <p14:sldIdLst>
            <p14:sldId id="256"/>
            <p14:sldId id="257"/>
            <p14:sldId id="258"/>
          </p14:sldIdLst>
        </p14:section>
        <p14:section name="Data" id="{51c2d37f-1337-df9c-7edf-4b70b7731ec8}">
          <p14:sldIdLst>
            <p14:sldId id="259"/>
            <p14:sldId id="260"/>
            <p14:sldId id="261"/>
            <p14:sldId id="262"/>
          </p14:sldIdLst>
        </p14:section>
        <p14:section name="Findings" id="{56b48e08-46ad-f218-6cf2-305bbd9f3d7a}">
          <p14:sldIdLst>
            <p14:sldId id="263"/>
            <p14:sldId id="264"/>
            <p14:sldId id="265"/>
          </p14:sldIdLst>
        </p14:section>
        <p14:section name="Dashboard" id="{4e0bc2ce-e52b-b6c5-51b3-6aeaadc00f71}">
          <p14:sldIdLst>
            <p14:sldId id="266"/>
            <p14:sldId id="267"/>
            <p14:sldId id="268"/>
            <p14:sldId id="269"/>
            <p14:sldId id="270"/>
          </p14:sldIdLst>
        </p14:section>
        <p14:section name="Close" id="{6ad0700e-0f2a-7889-b02c-d49cb6caedbf}">
          <p14:sldIdLst>
            <p14:sldId id="271"/>
            <p14:sldId id="272"/>
            <p14:sldId id="273"/>
          </p14:sldIdLst>
        </p14:section>
        <p14:section name="Appendix" id="{1e29cad3-e693-141b-f83b-b4510e29d043}">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D2A"/>
                </a:solidFill>
                <a:latin typeface="Arial"/>
              </a:defRPr>
            </a:pPr>
            <a:r>
              <a:rPr sz="1400" b="0" i="0" u="none" strike="noStrike">
                <a:solidFill>
                  <a:srgbClr val="1F2D2A"/>
                </a:solidFill>
                <a:latin typeface="Arial"/>
              </a:rPr>
              <a:t>Median advertised monthly salary, S$</a:t>
            </a:r>
          </a:p>
        </c:rich>
      </c:tx>
      <c:layout/>
      <c:overlay val="0"/>
    </c:title>
    <c:autoTitleDeleted val="0"/>
    <c:plotArea>
      <c:layout/>
      <c:barChart>
        <c:barDir val="bar"/>
        <c:grouping val="clustered"/>
        <c:varyColors val="0"/>
        <c:ser>
          <c:idx val="0"/>
          <c:order val="0"/>
          <c:tx>
            <c:strRef>
              <c:f>Sheet1!$B$1</c:f>
              <c:strCache>
                <c:ptCount val="1"/>
                <c:pt idx="0">
                  <c:v>Median advertised monthly salary, S$</c:v>
                </c:pt>
              </c:strCache>
            </c:strRef>
          </c:tx>
          <c:spPr>
            <a:solidFill>
              <a:srgbClr val="2F6B5F"/>
            </a:solidFill>
            <a:effectLst/>
          </c:spPr>
          <c:invertIfNegative val="0"/>
          <c:dLbls>
            <c:numFmt formatCode="#,##0" sourceLinked="0"/>
            <c:txPr>
              <a:bodyPr/>
              <a:lstStyle/>
              <a:p>
                <a:pPr>
                  <a:defRPr b="0" i="0" strike="noStrike" sz="1200" u="none">
                    <a:solidFill>
                      <a:srgbClr val="1F2D2A"/>
                    </a:solidFill>
                    <a:latin typeface="Arial"/>
                  </a:defRPr>
                </a:pPr>
              </a:p>
            </c:txPr>
            <c:showLegendKey val="0"/>
            <c:showVal val="1"/>
            <c:showCatName val="0"/>
            <c:showSerName val="0"/>
            <c:showPercent val="0"/>
            <c:showBubbleSize val="0"/>
            <c:showLeaderLines val="0"/>
          </c:dLbls>
          <c:cat>
            <c:multiLvlStrRef>
              <c:f>Sheet1!$A$2:$A$6</c:f>
              <c:multiLvlStrCache>
                <c:ptCount val="5"/>
                <c:lvl>
                  <c:pt idx="0">
                    <c:v>Entry</c:v>
                  </c:pt>
                  <c:pt idx="1">
                    <c:v>Junior</c:v>
                  </c:pt>
                  <c:pt idx="2">
                    <c:v>Mid</c:v>
                  </c:pt>
                  <c:pt idx="3">
                    <c:v>Senior</c:v>
                  </c:pt>
                  <c:pt idx="4">
                    <c:v>Management</c:v>
                  </c:pt>
                </c:lvl>
              </c:multiLvlStrCache>
            </c:multiLvlStrRef>
          </c:cat>
          <c:val>
            <c:numRef>
              <c:f>Sheet1!$B$2:$B$6</c:f>
              <c:numCache>
                <c:formatCode>General</c:formatCode>
                <c:ptCount val="5"/>
                <c:pt idx="0">
                  <c:v>2675</c:v>
                </c:pt>
                <c:pt idx="1">
                  <c:v>3150</c:v>
                </c:pt>
                <c:pt idx="2">
                  <c:v>4000</c:v>
                </c:pt>
                <c:pt idx="3">
                  <c:v>5000</c:v>
                </c:pt>
                <c:pt idx="4">
                  <c:v>6500</c:v>
                </c:pt>
              </c:numCache>
            </c:numRef>
          </c:val>
        </c:ser>
        <c:dLbls>
          <c:numFmt formatCode="#,##0" sourceLinked="0"/>
          <c:txPr>
            <a:bodyPr/>
            <a:lstStyle/>
            <a:p>
              <a:pPr>
                <a:defRPr b="0" i="0" strike="noStrike" sz="1200" u="none">
                  <a:solidFill>
                    <a:srgbClr val="1F2D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D2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D2A"/>
                </a:solidFill>
                <a:latin typeface="Arial"/>
              </a:defRPr>
            </a:pPr>
            <a:r>
              <a:rPr sz="1400" b="0" i="0" u="none" strike="noStrike">
                <a:solidFill>
                  <a:srgbClr val="1F2D2A"/>
                </a:solidFill>
                <a:latin typeface="Arial"/>
              </a:rPr>
              <a:t>Applications per vacancy</a:t>
            </a:r>
          </a:p>
        </c:rich>
      </c:tx>
      <c:layout/>
      <c:overlay val="0"/>
    </c:title>
    <c:autoTitleDeleted val="0"/>
    <c:plotArea>
      <c:layout/>
      <c:barChart>
        <c:barDir val="bar"/>
        <c:grouping val="clustered"/>
        <c:varyColors val="0"/>
        <c:ser>
          <c:idx val="0"/>
          <c:order val="0"/>
          <c:tx>
            <c:strRef>
              <c:f>Sheet1!$B$1</c:f>
              <c:strCache>
                <c:ptCount val="1"/>
                <c:pt idx="0">
                  <c:v>Applications per vacancy</c:v>
                </c:pt>
              </c:strCache>
            </c:strRef>
          </c:tx>
          <c:spPr>
            <a:solidFill>
              <a:srgbClr val="2F6B5F"/>
            </a:solidFill>
            <a:effectLst/>
          </c:spPr>
          <c:invertIfNegative val="0"/>
          <c:dLbls>
            <c:numFmt formatCode="0.00" sourceLinked="0"/>
            <c:txPr>
              <a:bodyPr/>
              <a:lstStyle/>
              <a:p>
                <a:pPr>
                  <a:defRPr b="0" i="0" strike="noStrike" sz="1200" u="none">
                    <a:solidFill>
                      <a:srgbClr val="1F2D2A"/>
                    </a:solidFill>
                    <a:latin typeface="Arial"/>
                  </a:defRPr>
                </a:pPr>
              </a:p>
            </c:txPr>
            <c:showLegendKey val="0"/>
            <c:showVal val="1"/>
            <c:showCatName val="0"/>
            <c:showSerName val="0"/>
            <c:showPercent val="0"/>
            <c:showBubbleSize val="0"/>
            <c:showLeaderLines val="0"/>
          </c:dLbls>
          <c:cat>
            <c:multiLvlStrRef>
              <c:f>Sheet1!$A$2:$A$5</c:f>
              <c:multiLvlStrCache>
                <c:ptCount val="4"/>
                <c:lvl>
                  <c:pt idx="0">
                    <c:v>Personal Care / Beauty</c:v>
                  </c:pt>
                  <c:pt idx="1">
                    <c:v>F&amp;B</c:v>
                  </c:pt>
                  <c:pt idx="2">
                    <c:v>Marketing / PR</c:v>
                  </c:pt>
                  <c:pt idx="3">
                    <c:v>Risk Management</c:v>
                  </c:pt>
                </c:lvl>
              </c:multiLvlStrCache>
            </c:multiLvlStrRef>
          </c:cat>
          <c:val>
            <c:numRef>
              <c:f>Sheet1!$B$2:$B$5</c:f>
              <c:numCache>
                <c:formatCode>General</c:formatCode>
                <c:ptCount val="4"/>
                <c:pt idx="0">
                  <c:v>0.15</c:v>
                </c:pt>
                <c:pt idx="1">
                  <c:v>0.21</c:v>
                </c:pt>
                <c:pt idx="2">
                  <c:v>1.48</c:v>
                </c:pt>
                <c:pt idx="3">
                  <c:v>2.16</c:v>
                </c:pt>
              </c:numCache>
            </c:numRef>
          </c:val>
        </c:ser>
        <c:dLbls>
          <c:numFmt formatCode="0.00" sourceLinked="0"/>
          <c:txPr>
            <a:bodyPr/>
            <a:lstStyle/>
            <a:p>
              <a:pPr>
                <a:defRPr b="0" i="0" strike="noStrike" sz="1200" u="none">
                  <a:solidFill>
                    <a:srgbClr val="1F2D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D2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D2A"/>
                </a:solidFill>
                <a:latin typeface="Arial"/>
              </a:defRPr>
            </a:pPr>
            <a:r>
              <a:rPr sz="1400" b="0" i="0" u="none" strike="noStrike">
                <a:solidFill>
                  <a:srgbClr val="1F2D2A"/>
                </a:solidFill>
                <a:latin typeface="Arial"/>
              </a:rPr>
              <a:t>Postings per month</a:t>
            </a:r>
          </a:p>
        </c:rich>
      </c:tx>
      <c:layout/>
      <c:overlay val="0"/>
    </c:title>
    <c:autoTitleDeleted val="0"/>
    <c:plotArea>
      <c:layout/>
      <c:lineChart>
        <c:varyColors val="0"/>
        <c:ser>
          <c:idx val="0"/>
          <c:order val="0"/>
          <c:tx>
            <c:strRef>
              <c:f>Sheet1!$B$1</c:f>
              <c:strCache>
                <c:ptCount val="1"/>
                <c:pt idx="0">
                  <c:v>Postings</c:v>
                </c:pt>
              </c:strCache>
            </c:strRef>
          </c:tx>
          <c:spPr>
            <a:solidFill>
              <a:srgbClr val="2F6B5F"/>
            </a:solidFill>
            <a:ln w="31750" cap="flat">
              <a:solidFill>
                <a:srgbClr val="2F6B5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F6B5F"/>
              </a:solidFill>
              <a:ln w="9525" cap="flat">
                <a:solidFill>
                  <a:srgbClr val="2F6B5F"/>
                </a:solidFill>
                <a:prstDash val="solid"/>
                <a:round/>
              </a:ln>
              <a:effectLst/>
            </c:spPr>
          </c:marker>
          <c:cat>
            <c:multiLvlStrRef>
              <c:f>Sheet1!$A$2:$A$21</c:f>
              <c:multiLvlStrCache>
                <c:ptCount val="20"/>
                <c:lvl>
                  <c:pt idx="0">
                    <c:v>May 23</c:v>
                  </c:pt>
                  <c:pt idx="1">
                    <c:v>Jun 23</c:v>
                  </c:pt>
                  <c:pt idx="2">
                    <c:v>Jul 23</c:v>
                  </c:pt>
                  <c:pt idx="3">
                    <c:v>Aug 23</c:v>
                  </c:pt>
                  <c:pt idx="4">
                    <c:v>Sep 23</c:v>
                  </c:pt>
                  <c:pt idx="5">
                    <c:v>Oct 23</c:v>
                  </c:pt>
                  <c:pt idx="6">
                    <c:v>Nov 23</c:v>
                  </c:pt>
                  <c:pt idx="7">
                    <c:v>Dec 23</c:v>
                  </c:pt>
                  <c:pt idx="8">
                    <c:v>Jan 24</c:v>
                  </c:pt>
                  <c:pt idx="9">
                    <c:v>Feb 24</c:v>
                  </c:pt>
                  <c:pt idx="10">
                    <c:v>Mar 24</c:v>
                  </c:pt>
                  <c:pt idx="11">
                    <c:v>Apr 24</c:v>
                  </c:pt>
                  <c:pt idx="12">
                    <c:v>May 24</c:v>
                  </c:pt>
                  <c:pt idx="13">
                    <c:v>Jun 24</c:v>
                  </c:pt>
                  <c:pt idx="14">
                    <c:v>Jul 24</c:v>
                  </c:pt>
                  <c:pt idx="15">
                    <c:v>Aug 24</c:v>
                  </c:pt>
                  <c:pt idx="16">
                    <c:v>Sep 24</c:v>
                  </c:pt>
                  <c:pt idx="17">
                    <c:v>Oct 24</c:v>
                  </c:pt>
                  <c:pt idx="18">
                    <c:v>Nov 24</c:v>
                  </c:pt>
                  <c:pt idx="19">
                    <c:v>Dec 24</c:v>
                  </c:pt>
                </c:lvl>
              </c:multiLvlStrCache>
            </c:multiLvlStrRef>
          </c:cat>
          <c:val>
            <c:numRef>
              <c:f>Sheet1!$B$2:$B$21</c:f>
              <c:numCache>
                <c:formatCode>General</c:formatCode>
                <c:ptCount val="20"/>
                <c:pt idx="0">
                  <c:v>70032</c:v>
                </c:pt>
                <c:pt idx="1">
                  <c:v>79027</c:v>
                </c:pt>
                <c:pt idx="2">
                  <c:v>77367</c:v>
                </c:pt>
                <c:pt idx="3">
                  <c:v>75556</c:v>
                </c:pt>
                <c:pt idx="4">
                  <c:v>66895</c:v>
                </c:pt>
                <c:pt idx="5">
                  <c:v>70010</c:v>
                </c:pt>
                <c:pt idx="6">
                  <c:v>69589</c:v>
                </c:pt>
                <c:pt idx="7">
                  <c:v>60707</c:v>
                </c:pt>
                <c:pt idx="8">
                  <c:v>57898</c:v>
                </c:pt>
                <c:pt idx="9">
                  <c:v>60282</c:v>
                </c:pt>
                <c:pt idx="10">
                  <c:v>60163</c:v>
                </c:pt>
                <c:pt idx="11">
                  <c:v>59507</c:v>
                </c:pt>
                <c:pt idx="12">
                  <c:v>59482</c:v>
                </c:pt>
                <c:pt idx="13">
                  <c:v>11657</c:v>
                </c:pt>
                <c:pt idx="14">
                  <c:v>11780</c:v>
                </c:pt>
                <c:pt idx="15">
                  <c:v>16836</c:v>
                </c:pt>
                <c:pt idx="16">
                  <c:v>13989</c:v>
                </c:pt>
                <c:pt idx="17">
                  <c:v>9554</c:v>
                </c:pt>
                <c:pt idx="18">
                  <c:v>11059</c:v>
                </c:pt>
                <c:pt idx="19">
                  <c:v>12033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D2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B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F2D2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D2A"/>
                </a:solidFill>
                <a:latin typeface="Arial"/>
              </a:defRPr>
            </a:pPr>
            <a:r>
              <a:rPr sz="1400" b="0" i="0" u="none" strike="noStrike">
                <a:solidFill>
                  <a:srgbClr val="1F2D2A"/>
                </a:solidFill>
                <a:latin typeface="Arial"/>
              </a:rPr>
              <a:t>Salary premium vs all postings (%)</a:t>
            </a:r>
          </a:p>
        </c:rich>
      </c:tx>
      <c:layout/>
      <c:overlay val="0"/>
    </c:title>
    <c:autoTitleDeleted val="0"/>
    <c:plotArea>
      <c:layout/>
      <c:barChart>
        <c:barDir val="bar"/>
        <c:grouping val="clustered"/>
        <c:varyColors val="0"/>
        <c:ser>
          <c:idx val="0"/>
          <c:order val="0"/>
          <c:tx>
            <c:strRef>
              <c:f>Sheet1!$B$1</c:f>
              <c:strCache>
                <c:ptCount val="1"/>
                <c:pt idx="0">
                  <c:v>Salary premium vs all postings (%)</c:v>
                </c:pt>
              </c:strCache>
            </c:strRef>
          </c:tx>
          <c:spPr>
            <a:solidFill>
              <a:srgbClr val="2F6B5F"/>
            </a:solidFill>
            <a:effectLst/>
          </c:spPr>
          <c:invertIfNegative val="0"/>
          <c:dLbls>
            <c:numFmt formatCode="0.0" sourceLinked="0"/>
            <c:txPr>
              <a:bodyPr/>
              <a:lstStyle/>
              <a:p>
                <a:pPr>
                  <a:defRPr b="0" i="0" strike="noStrike" sz="1200" u="none">
                    <a:solidFill>
                      <a:srgbClr val="1F2D2A"/>
                    </a:solidFill>
                    <a:latin typeface="Arial"/>
                  </a:defRPr>
                </a:pPr>
              </a:p>
            </c:txPr>
            <c:showLegendKey val="0"/>
            <c:showVal val="1"/>
            <c:showCatName val="0"/>
            <c:showSerName val="0"/>
            <c:showPercent val="0"/>
            <c:showBubbleSize val="0"/>
            <c:showLeaderLines val="0"/>
          </c:dLbls>
          <c:cat>
            <c:multiLvlStrRef>
              <c:f>Sheet1!$A$2:$A$7</c:f>
              <c:multiLvlStrCache>
                <c:ptCount val="6"/>
                <c:lvl>
                  <c:pt idx="0">
                    <c:v>Machine learning / AI</c:v>
                  </c:pt>
                  <c:pt idx="1">
                    <c:v>Salesforce</c:v>
                  </c:pt>
                  <c:pt idx="2">
                    <c:v>Cloud</c:v>
                  </c:pt>
                  <c:pt idx="3">
                    <c:v>Java</c:v>
                  </c:pt>
                  <c:pt idx="4">
                    <c:v>Accounting</c:v>
                  </c:pt>
                  <c:pt idx="5">
                    <c:v>AWS</c:v>
                  </c:pt>
                </c:lvl>
              </c:multiLvlStrCache>
            </c:multiLvlStrRef>
          </c:cat>
          <c:val>
            <c:numRef>
              <c:f>Sheet1!$B$2:$B$7</c:f>
              <c:numCache>
                <c:formatCode>General</c:formatCode>
                <c:ptCount val="6"/>
                <c:pt idx="0">
                  <c:v>123.7</c:v>
                </c:pt>
                <c:pt idx="1">
                  <c:v>119.7</c:v>
                </c:pt>
                <c:pt idx="2">
                  <c:v>110.5</c:v>
                </c:pt>
                <c:pt idx="3">
                  <c:v>97.4</c:v>
                </c:pt>
                <c:pt idx="4">
                  <c:v>-7.9</c:v>
                </c:pt>
                <c:pt idx="5">
                  <c:v>-7.9</c:v>
                </c:pt>
              </c:numCache>
            </c:numRef>
          </c:val>
        </c:ser>
        <c:dLbls>
          <c:numFmt formatCode="0.0" sourceLinked="0"/>
          <c:txPr>
            <a:bodyPr/>
            <a:lstStyle/>
            <a:p>
              <a:pPr>
                <a:defRPr b="0" i="0" strike="noStrike" sz="1200" u="none">
                  <a:solidFill>
                    <a:srgbClr val="1F2D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D2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opens. Say: Good [morning/afternoon]. We are Group 7, and we built the Singapore Jobs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Career coaches and job seekers in Singapore. We picked them because they need a first overview quickly and often do not have data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Say: This does not predict whether you will get hired. A job advert shows what an employer is offering. It does not show who was hired.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The file has 1,048,585 rows. Each row is one job advert, with about twenty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Three fixes: removed empty rows; treated zero salaries as missing and swapped reversed minimum and maximum; counted multi-category jobs once per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1,044,597 postings remained. No repeated job IDs were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Across 1,044,597 postings there are 2.7 million vacancies in 43 categories. One posting can have several vacancies.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Pay climbs with each level. Entry median S$2,675; Management S$6,500. Overall median S$3,850.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Where the most jobs are and where the best pay is are different questions. IT has many postings and high pay. Admin has many postings and low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Personal Care and Beauty has about 0.15 applications per seat; F&amp;B about 0.21. Marketing and PR has about 1.5, and Risk Management about 2.2. Use the same definition as the dashboard: total applications divided by total vacancies.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The app loads the full course file by default, so no data choice is needed. Keep the Overview and Salary screenshots ready in case the live app fails. Demo: choose Information Technology, then the most junior and a senior career level, then open Trends, Demand vs competition, Skills, Career recommender and Data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or 3. Trends use the posting date and start in May 2023, when the data collection changed. Monthly counts drop sharply after May 2024. The cause is not confirmed, so say so rather than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The chart shows postings on a log scale against applications per vacancy. Categories in the top-left are big and open. The app lets the user change the minimum posting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Keywords come from job titles, not full descriptions. Only keywords with at least 500 postings are shown. Premium = median of postings with the keyword divided by the overall median, minus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Default weights: demand 3, pay 3, low competition 2, easy to enter 2. Change a slider to show how the ranking shifts toward entry-level or higher-paid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Name three limits: adverts are not hires; some data was not clean; trends start in May 2023 and drop after May 2024. The main lesson: data quality decides how far you can trust a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Three next steps: confirm the post-May-2024 drop; review extreme salaries; test on the full file with real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Close with the final line, then say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Use only if asked about data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6B5F"/>
        </a:solidFill>
      </p:bgPr>
    </p:bg>
    <p:spTree>
      <p:nvGrpSpPr>
        <p:cNvPr id="1" name=""/>
        <p:cNvGrpSpPr/>
        <p:nvPr/>
      </p:nvGrpSpPr>
      <p:grpSpPr>
        <a:xfrm>
          <a:off x="0" y="0"/>
          <a:ext cx="0" cy="0"/>
          <a:chOff x="0" y="0"/>
          <a:chExt cx="0" cy="0"/>
        </a:xfrm>
      </p:grpSpPr>
      <p:sp>
        <p:nvSpPr>
          <p:cNvPr id="2" name="Text 0"/>
          <p:cNvSpPr txBox="1"/>
          <p:nvPr/>
        </p:nvSpPr>
        <p:spPr>
          <a:xfrm>
            <a:off x="548640" y="2194560"/>
            <a:ext cx="11094415" cy="1097280"/>
          </a:xfrm>
          <a:prstGeom prst="rect">
            <a:avLst/>
          </a:prstGeom>
          <a:noFill/>
          <a:ln/>
        </p:spPr>
        <p:txBody>
          <a:bodyPr wrap="square" lIns="0" tIns="0" rIns="0" bIns="0" rtlCol="0" anchor="t"/>
          <a:lstStyle/>
          <a:p>
            <a:pPr indent="0" marL="0">
              <a:buNone/>
            </a:pPr>
            <a:r>
              <a:rPr lang="en-US" sz="4800" b="1" dirty="0">
                <a:solidFill>
                  <a:srgbClr val="FFFFFF"/>
                </a:solidFill>
                <a:latin typeface="+mj-lt" pitchFamily="34" charset="0"/>
                <a:ea typeface="+mj-lt" pitchFamily="34" charset="-122"/>
                <a:cs typeface="+mj-lt" pitchFamily="34" charset="-120"/>
              </a:rPr>
              <a:t>Singapore Jobs Explorer</a:t>
            </a:r>
            <a:endParaRPr lang="en-US" sz="4800" dirty="0"/>
          </a:p>
        </p:txBody>
      </p:sp>
      <p:sp>
        <p:nvSpPr>
          <p:cNvPr id="3" name="Text 1"/>
          <p:cNvSpPr txBox="1"/>
          <p:nvPr/>
        </p:nvSpPr>
        <p:spPr>
          <a:xfrm>
            <a:off x="548640" y="3383280"/>
            <a:ext cx="11094415" cy="548640"/>
          </a:xfrm>
          <a:prstGeom prst="rect">
            <a:avLst/>
          </a:prstGeom>
          <a:noFill/>
          <a:ln/>
        </p:spPr>
        <p:txBody>
          <a:bodyPr wrap="square" lIns="0" tIns="0" rIns="0" bIns="0" rtlCol="0" anchor="ctr"/>
          <a:lstStyle/>
          <a:p>
            <a:pPr indent="0" marL="0">
              <a:buNone/>
            </a:pPr>
            <a:r>
              <a:rPr lang="en-US" sz="2400" dirty="0">
                <a:solidFill>
                  <a:srgbClr val="D9EBE6"/>
                </a:solidFill>
                <a:latin typeface="+mn-lt" pitchFamily="34" charset="0"/>
                <a:ea typeface="+mn-lt" pitchFamily="34" charset="-122"/>
                <a:cs typeface="+mn-lt" pitchFamily="34" charset="-120"/>
              </a:rPr>
              <a:t>What job adverts tell a career seeker</a:t>
            </a:r>
            <a:endParaRPr lang="en-US" sz="2400" dirty="0"/>
          </a:p>
        </p:txBody>
      </p:sp>
      <p:sp>
        <p:nvSpPr>
          <p:cNvPr id="4" name="Text 2"/>
          <p:cNvSpPr txBox="1"/>
          <p:nvPr/>
        </p:nvSpPr>
        <p:spPr>
          <a:xfrm>
            <a:off x="548640" y="4114800"/>
            <a:ext cx="11094415" cy="365760"/>
          </a:xfrm>
          <a:prstGeom prst="rect">
            <a:avLst/>
          </a:prstGeom>
          <a:noFill/>
          <a:ln/>
        </p:spPr>
        <p:txBody>
          <a:bodyPr wrap="square" lIns="0" tIns="0" rIns="0" bIns="0" rtlCol="0" anchor="ctr"/>
          <a:lstStyle/>
          <a:p>
            <a:pPr indent="0" marL="0">
              <a:buNone/>
            </a:pPr>
            <a:r>
              <a:rPr lang="en-US" sz="1600" dirty="0">
                <a:solidFill>
                  <a:srgbClr val="D9EBE6"/>
                </a:solidFill>
                <a:latin typeface="+mn-lt" pitchFamily="34" charset="0"/>
                <a:ea typeface="+mn-lt" pitchFamily="34" charset="-122"/>
                <a:cs typeface="+mn-lt" pitchFamily="34" charset="-120"/>
              </a:rPr>
              <a:t>Group 7  ·  10-minute presentation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WHO IT IS FOR</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Built for career coaches and job seekers</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2</a:t>
            </a:r>
            <a:endParaRPr lang="en-US" sz="1000" dirty="0"/>
          </a:p>
        </p:txBody>
      </p:sp>
      <p:sp>
        <p:nvSpPr>
          <p:cNvPr id="5" name="Shape 3"/>
          <p:cNvSpPr/>
          <p:nvPr/>
        </p:nvSpPr>
        <p:spPr>
          <a:xfrm>
            <a:off x="548640" y="1920240"/>
            <a:ext cx="5394960" cy="3108960"/>
          </a:xfrm>
          <a:prstGeom prst="roundRect">
            <a:avLst>
              <a:gd name="adj" fmla="val 3529"/>
            </a:avLst>
          </a:prstGeom>
          <a:solidFill>
            <a:srgbClr val="EEF4F2"/>
          </a:solidFill>
          <a:ln/>
        </p:spPr>
      </p:sp>
      <p:sp>
        <p:nvSpPr>
          <p:cNvPr id="6" name="Shape 4"/>
          <p:cNvSpPr/>
          <p:nvPr/>
        </p:nvSpPr>
        <p:spPr>
          <a:xfrm>
            <a:off x="960120" y="2331720"/>
            <a:ext cx="512064" cy="512064"/>
          </a:xfrm>
          <a:prstGeom prst="ellipse">
            <a:avLst/>
          </a:prstGeom>
          <a:solidFill>
            <a:srgbClr val="2F6B5F"/>
          </a:solidFill>
          <a:ln/>
        </p:spPr>
      </p:sp>
      <p:sp>
        <p:nvSpPr>
          <p:cNvPr id="7" name="Text 5"/>
          <p:cNvSpPr txBox="1"/>
          <p:nvPr/>
        </p:nvSpPr>
        <p:spPr>
          <a:xfrm>
            <a:off x="960120" y="233172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n-lt" pitchFamily="34" charset="0"/>
                <a:ea typeface="+mn-lt" pitchFamily="34" charset="-122"/>
                <a:cs typeface="+mn-lt" pitchFamily="34" charset="-120"/>
              </a:rPr>
              <a:t>1</a:t>
            </a:r>
            <a:endParaRPr lang="en-US" sz="1800" dirty="0"/>
          </a:p>
        </p:txBody>
      </p:sp>
      <p:sp>
        <p:nvSpPr>
          <p:cNvPr id="8" name="Text 6"/>
          <p:cNvSpPr txBox="1"/>
          <p:nvPr/>
        </p:nvSpPr>
        <p:spPr>
          <a:xfrm>
            <a:off x="960120" y="3108960"/>
            <a:ext cx="4572000" cy="548640"/>
          </a:xfrm>
          <a:prstGeom prst="rect">
            <a:avLst/>
          </a:prstGeom>
          <a:noFill/>
          <a:ln/>
        </p:spPr>
        <p:txBody>
          <a:bodyPr wrap="square" lIns="0" tIns="0" rIns="0" bIns="0" rtlCol="0" anchor="t"/>
          <a:lstStyle/>
          <a:p>
            <a:pPr indent="0" marL="0">
              <a:buNone/>
            </a:pPr>
            <a:r>
              <a:rPr lang="en-US" sz="2400" b="1" dirty="0">
                <a:solidFill>
                  <a:srgbClr val="1F2D2A"/>
                </a:solidFill>
                <a:latin typeface="+mj-lt" pitchFamily="34" charset="0"/>
                <a:ea typeface="+mj-lt" pitchFamily="34" charset="-122"/>
                <a:cs typeface="+mj-lt" pitchFamily="34" charset="-120"/>
              </a:rPr>
              <a:t>Career coaches</a:t>
            </a:r>
            <a:endParaRPr lang="en-US" sz="2400" dirty="0"/>
          </a:p>
        </p:txBody>
      </p:sp>
      <p:sp>
        <p:nvSpPr>
          <p:cNvPr id="9" name="Text 7"/>
          <p:cNvSpPr txBox="1"/>
          <p:nvPr/>
        </p:nvSpPr>
        <p:spPr>
          <a:xfrm>
            <a:off x="960120" y="3794760"/>
            <a:ext cx="4572000" cy="1005840"/>
          </a:xfrm>
          <a:prstGeom prst="rect">
            <a:avLst/>
          </a:prstGeom>
          <a:noFill/>
          <a:ln/>
        </p:spPr>
        <p:txBody>
          <a:bodyPr wrap="square" lIns="0" tIns="0" rIns="0" bIns="0" rtlCol="0" anchor="t"/>
          <a:lstStyle/>
          <a:p>
            <a:pPr indent="0" marL="0">
              <a:buNone/>
            </a:pPr>
            <a:r>
              <a:rPr lang="en-US" sz="1800" dirty="0">
                <a:solidFill>
                  <a:srgbClr val="5B6B67"/>
                </a:solidFill>
                <a:latin typeface="+mn-lt" pitchFamily="34" charset="0"/>
                <a:ea typeface="+mn-lt" pitchFamily="34" charset="-122"/>
                <a:cs typeface="+mn-lt" pitchFamily="34" charset="-120"/>
              </a:rPr>
              <a:t>Need a quick, evidence-based first conversation with a client about roles and pay.</a:t>
            </a:r>
            <a:endParaRPr lang="en-US" sz="1800" dirty="0"/>
          </a:p>
        </p:txBody>
      </p:sp>
      <p:sp>
        <p:nvSpPr>
          <p:cNvPr id="10" name="Shape 8"/>
          <p:cNvSpPr/>
          <p:nvPr/>
        </p:nvSpPr>
        <p:spPr>
          <a:xfrm>
            <a:off x="6217920" y="1920240"/>
            <a:ext cx="5394960" cy="3108960"/>
          </a:xfrm>
          <a:prstGeom prst="roundRect">
            <a:avLst>
              <a:gd name="adj" fmla="val 3529"/>
            </a:avLst>
          </a:prstGeom>
          <a:solidFill>
            <a:srgbClr val="EEF4F2"/>
          </a:solidFill>
          <a:ln/>
        </p:spPr>
      </p:sp>
      <p:sp>
        <p:nvSpPr>
          <p:cNvPr id="11" name="Shape 9"/>
          <p:cNvSpPr/>
          <p:nvPr/>
        </p:nvSpPr>
        <p:spPr>
          <a:xfrm>
            <a:off x="6629400" y="2331720"/>
            <a:ext cx="512064" cy="512064"/>
          </a:xfrm>
          <a:prstGeom prst="ellipse">
            <a:avLst/>
          </a:prstGeom>
          <a:solidFill>
            <a:srgbClr val="2F6B5F"/>
          </a:solidFill>
          <a:ln/>
        </p:spPr>
      </p:sp>
      <p:sp>
        <p:nvSpPr>
          <p:cNvPr id="12" name="Text 10"/>
          <p:cNvSpPr txBox="1"/>
          <p:nvPr/>
        </p:nvSpPr>
        <p:spPr>
          <a:xfrm>
            <a:off x="6629400" y="233172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n-lt" pitchFamily="34" charset="0"/>
                <a:ea typeface="+mn-lt" pitchFamily="34" charset="-122"/>
                <a:cs typeface="+mn-lt" pitchFamily="34" charset="-120"/>
              </a:rPr>
              <a:t>2</a:t>
            </a:r>
            <a:endParaRPr lang="en-US" sz="1800" dirty="0"/>
          </a:p>
        </p:txBody>
      </p:sp>
      <p:sp>
        <p:nvSpPr>
          <p:cNvPr id="13" name="Text 11"/>
          <p:cNvSpPr txBox="1"/>
          <p:nvPr/>
        </p:nvSpPr>
        <p:spPr>
          <a:xfrm>
            <a:off x="6629400" y="3108960"/>
            <a:ext cx="4572000" cy="548640"/>
          </a:xfrm>
          <a:prstGeom prst="rect">
            <a:avLst/>
          </a:prstGeom>
          <a:noFill/>
          <a:ln/>
        </p:spPr>
        <p:txBody>
          <a:bodyPr wrap="square" lIns="0" tIns="0" rIns="0" bIns="0" rtlCol="0" anchor="t"/>
          <a:lstStyle/>
          <a:p>
            <a:pPr indent="0" marL="0">
              <a:buNone/>
            </a:pPr>
            <a:r>
              <a:rPr lang="en-US" sz="2400" b="1" dirty="0">
                <a:solidFill>
                  <a:srgbClr val="1F2D2A"/>
                </a:solidFill>
                <a:latin typeface="+mj-lt" pitchFamily="34" charset="0"/>
                <a:ea typeface="+mj-lt" pitchFamily="34" charset="-122"/>
                <a:cs typeface="+mj-lt" pitchFamily="34" charset="-120"/>
              </a:rPr>
              <a:t>Job seekers</a:t>
            </a:r>
            <a:endParaRPr lang="en-US" sz="2400" dirty="0"/>
          </a:p>
        </p:txBody>
      </p:sp>
      <p:sp>
        <p:nvSpPr>
          <p:cNvPr id="14" name="Text 12"/>
          <p:cNvSpPr txBox="1"/>
          <p:nvPr/>
        </p:nvSpPr>
        <p:spPr>
          <a:xfrm>
            <a:off x="6629400" y="3794760"/>
            <a:ext cx="4572000" cy="1005840"/>
          </a:xfrm>
          <a:prstGeom prst="rect">
            <a:avLst/>
          </a:prstGeom>
          <a:noFill/>
          <a:ln/>
        </p:spPr>
        <p:txBody>
          <a:bodyPr wrap="square" lIns="0" tIns="0" rIns="0" bIns="0" rtlCol="0" anchor="t"/>
          <a:lstStyle/>
          <a:p>
            <a:pPr indent="0" marL="0">
              <a:buNone/>
            </a:pPr>
            <a:r>
              <a:rPr lang="en-US" sz="1800" dirty="0">
                <a:solidFill>
                  <a:srgbClr val="5B6B67"/>
                </a:solidFill>
                <a:latin typeface="+mn-lt" pitchFamily="34" charset="0"/>
                <a:ea typeface="+mn-lt" pitchFamily="34" charset="-122"/>
                <a:cs typeface="+mn-lt" pitchFamily="34" charset="-120"/>
              </a:rPr>
              <a:t>Want to see which roles are advertised, what they pay, and how competitive they are.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THE QUESTION</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The question we set out to answer</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3</a:t>
            </a:r>
            <a:endParaRPr lang="en-US" sz="1000" dirty="0"/>
          </a:p>
        </p:txBody>
      </p:sp>
      <p:sp>
        <p:nvSpPr>
          <p:cNvPr id="5" name="Text 3"/>
          <p:cNvSpPr txBox="1"/>
          <p:nvPr/>
        </p:nvSpPr>
        <p:spPr>
          <a:xfrm>
            <a:off x="548640" y="1828800"/>
            <a:ext cx="10515600" cy="1828800"/>
          </a:xfrm>
          <a:prstGeom prst="rect">
            <a:avLst/>
          </a:prstGeom>
          <a:noFill/>
          <a:ln/>
        </p:spPr>
        <p:txBody>
          <a:bodyPr wrap="square" lIns="0" tIns="0" rIns="0" bIns="0" rtlCol="0" anchor="t"/>
          <a:lstStyle/>
          <a:p>
            <a:pPr indent="0" marL="0">
              <a:buNone/>
            </a:pPr>
            <a:r>
              <a:rPr lang="en-US" sz="3000" dirty="0">
                <a:solidFill>
                  <a:srgbClr val="2F6B5F"/>
                </a:solidFill>
                <a:latin typeface="+mn-lt" pitchFamily="34" charset="0"/>
                <a:ea typeface="+mn-lt" pitchFamily="34" charset="-122"/>
                <a:cs typeface="+mn-lt" pitchFamily="34" charset="-120"/>
              </a:rPr>
              <a:t>How can someone compare how many jobs are advertised, and what pay is listed, across industries, career levels, and time?</a:t>
            </a:r>
            <a:endParaRPr lang="en-US" sz="3000" dirty="0"/>
          </a:p>
        </p:txBody>
      </p:sp>
      <p:sp>
        <p:nvSpPr>
          <p:cNvPr id="6" name="Shape 4"/>
          <p:cNvSpPr/>
          <p:nvPr/>
        </p:nvSpPr>
        <p:spPr>
          <a:xfrm>
            <a:off x="548640" y="4206240"/>
            <a:ext cx="11094415" cy="1371600"/>
          </a:xfrm>
          <a:prstGeom prst="roundRect">
            <a:avLst>
              <a:gd name="adj" fmla="val 8000"/>
            </a:avLst>
          </a:prstGeom>
          <a:solidFill>
            <a:srgbClr val="EEF4F2"/>
          </a:solidFill>
          <a:ln/>
        </p:spPr>
      </p:sp>
      <p:sp>
        <p:nvSpPr>
          <p:cNvPr id="7" name="Text 5"/>
          <p:cNvSpPr txBox="1"/>
          <p:nvPr/>
        </p:nvSpPr>
        <p:spPr>
          <a:xfrm>
            <a:off x="914400" y="4434840"/>
            <a:ext cx="10362895" cy="914400"/>
          </a:xfrm>
          <a:prstGeom prst="rect">
            <a:avLst/>
          </a:prstGeom>
          <a:noFill/>
          <a:ln/>
        </p:spPr>
        <p:txBody>
          <a:bodyPr wrap="square" lIns="0" tIns="0" rIns="0" bIns="0" rtlCol="0" anchor="ctr"/>
          <a:lstStyle/>
          <a:p>
            <a:pPr indent="0" marL="0">
              <a:buNone/>
            </a:pPr>
            <a:r>
              <a:rPr lang="en-US" sz="1800" dirty="0">
                <a:solidFill>
                  <a:srgbClr val="1F2D2A"/>
                </a:solidFill>
                <a:latin typeface="+mn-lt" pitchFamily="34" charset="0"/>
                <a:ea typeface="+mn-lt" pitchFamily="34" charset="-122"/>
                <a:cs typeface="+mn-lt" pitchFamily="34" charset="-120"/>
              </a:rPr>
              <a:t>This does not predict whether you will get hired. A job advert shows what an employer offers, not who was hired.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THE DATA</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One file, 1,048,585 job adverts</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4</a:t>
            </a:r>
            <a:endParaRPr lang="en-US" sz="1000" dirty="0"/>
          </a:p>
        </p:txBody>
      </p:sp>
      <p:sp>
        <p:nvSpPr>
          <p:cNvPr id="5" name="Shape 3"/>
          <p:cNvSpPr/>
          <p:nvPr/>
        </p:nvSpPr>
        <p:spPr>
          <a:xfrm>
            <a:off x="548640" y="1920240"/>
            <a:ext cx="3520440" cy="3291840"/>
          </a:xfrm>
          <a:prstGeom prst="roundRect">
            <a:avLst>
              <a:gd name="adj" fmla="val 3333"/>
            </a:avLst>
          </a:prstGeom>
          <a:solidFill>
            <a:srgbClr val="EEF4F2"/>
          </a:solidFill>
          <a:ln/>
        </p:spPr>
      </p:sp>
      <p:sp>
        <p:nvSpPr>
          <p:cNvPr id="6" name="Text 4"/>
          <p:cNvSpPr txBox="1"/>
          <p:nvPr/>
        </p:nvSpPr>
        <p:spPr>
          <a:xfrm>
            <a:off x="914400" y="2377440"/>
            <a:ext cx="2834640" cy="731520"/>
          </a:xfrm>
          <a:prstGeom prst="rect">
            <a:avLst/>
          </a:prstGeom>
          <a:noFill/>
          <a:ln/>
        </p:spPr>
        <p:txBody>
          <a:bodyPr wrap="square" lIns="0" tIns="0" rIns="0" bIns="0" rtlCol="0" anchor="t"/>
          <a:lstStyle/>
          <a:p>
            <a:pPr indent="0" marL="0">
              <a:buNone/>
            </a:pPr>
            <a:r>
              <a:rPr lang="en-US" sz="4000" b="1" dirty="0">
                <a:solidFill>
                  <a:srgbClr val="2F6B5F"/>
                </a:solidFill>
                <a:latin typeface="+mj-lt" pitchFamily="34" charset="0"/>
                <a:ea typeface="+mj-lt" pitchFamily="34" charset="-122"/>
                <a:cs typeface="+mj-lt" pitchFamily="34" charset="-120"/>
              </a:rPr>
              <a:t>1,048,585</a:t>
            </a:r>
            <a:endParaRPr lang="en-US" sz="4000" dirty="0"/>
          </a:p>
        </p:txBody>
      </p:sp>
      <p:sp>
        <p:nvSpPr>
          <p:cNvPr id="7" name="Text 5"/>
          <p:cNvSpPr txBox="1"/>
          <p:nvPr/>
        </p:nvSpPr>
        <p:spPr>
          <a:xfrm>
            <a:off x="914400" y="3200400"/>
            <a:ext cx="2834640" cy="82296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Rows: one row is one job advert</a:t>
            </a:r>
            <a:endParaRPr lang="en-US" sz="1400" dirty="0"/>
          </a:p>
        </p:txBody>
      </p:sp>
      <p:sp>
        <p:nvSpPr>
          <p:cNvPr id="8" name="Shape 6"/>
          <p:cNvSpPr/>
          <p:nvPr/>
        </p:nvSpPr>
        <p:spPr>
          <a:xfrm>
            <a:off x="4297680" y="1920240"/>
            <a:ext cx="3520440" cy="3291840"/>
          </a:xfrm>
          <a:prstGeom prst="roundRect">
            <a:avLst>
              <a:gd name="adj" fmla="val 3333"/>
            </a:avLst>
          </a:prstGeom>
          <a:solidFill>
            <a:srgbClr val="EEF4F2"/>
          </a:solidFill>
          <a:ln/>
        </p:spPr>
      </p:sp>
      <p:sp>
        <p:nvSpPr>
          <p:cNvPr id="9" name="Text 7"/>
          <p:cNvSpPr txBox="1"/>
          <p:nvPr/>
        </p:nvSpPr>
        <p:spPr>
          <a:xfrm>
            <a:off x="4663440" y="2377440"/>
            <a:ext cx="2834640" cy="731520"/>
          </a:xfrm>
          <a:prstGeom prst="rect">
            <a:avLst/>
          </a:prstGeom>
          <a:noFill/>
          <a:ln/>
        </p:spPr>
        <p:txBody>
          <a:bodyPr wrap="square" lIns="0" tIns="0" rIns="0" bIns="0" rtlCol="0" anchor="t"/>
          <a:lstStyle/>
          <a:p>
            <a:pPr indent="0" marL="0">
              <a:buNone/>
            </a:pPr>
            <a:r>
              <a:rPr lang="en-US" sz="4000" b="1" dirty="0">
                <a:solidFill>
                  <a:srgbClr val="2F6B5F"/>
                </a:solidFill>
                <a:latin typeface="+mj-lt" pitchFamily="34" charset="0"/>
                <a:ea typeface="+mj-lt" pitchFamily="34" charset="-122"/>
                <a:cs typeface="+mj-lt" pitchFamily="34" charset="-120"/>
              </a:rPr>
              <a:t>22</a:t>
            </a:r>
            <a:endParaRPr lang="en-US" sz="4000" dirty="0"/>
          </a:p>
        </p:txBody>
      </p:sp>
      <p:sp>
        <p:nvSpPr>
          <p:cNvPr id="10" name="Text 8"/>
          <p:cNvSpPr txBox="1"/>
          <p:nvPr/>
        </p:nvSpPr>
        <p:spPr>
          <a:xfrm>
            <a:off x="4663440" y="3200400"/>
            <a:ext cx="2834640" cy="82296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Columns: title, pay range, industry, seniority, dates and more</a:t>
            </a:r>
            <a:endParaRPr lang="en-US" sz="1400" dirty="0"/>
          </a:p>
        </p:txBody>
      </p:sp>
      <p:sp>
        <p:nvSpPr>
          <p:cNvPr id="11" name="Shape 9"/>
          <p:cNvSpPr/>
          <p:nvPr/>
        </p:nvSpPr>
        <p:spPr>
          <a:xfrm>
            <a:off x="8046720" y="1920240"/>
            <a:ext cx="3520440" cy="3291840"/>
          </a:xfrm>
          <a:prstGeom prst="roundRect">
            <a:avLst>
              <a:gd name="adj" fmla="val 3333"/>
            </a:avLst>
          </a:prstGeom>
          <a:solidFill>
            <a:srgbClr val="EEF4F2"/>
          </a:solidFill>
          <a:ln/>
        </p:spPr>
      </p:sp>
      <p:sp>
        <p:nvSpPr>
          <p:cNvPr id="12" name="Text 10"/>
          <p:cNvSpPr txBox="1"/>
          <p:nvPr/>
        </p:nvSpPr>
        <p:spPr>
          <a:xfrm>
            <a:off x="8412480" y="2377440"/>
            <a:ext cx="2834640" cy="731520"/>
          </a:xfrm>
          <a:prstGeom prst="rect">
            <a:avLst/>
          </a:prstGeom>
          <a:noFill/>
          <a:ln/>
        </p:spPr>
        <p:txBody>
          <a:bodyPr wrap="square" lIns="0" tIns="0" rIns="0" bIns="0" rtlCol="0" anchor="t"/>
          <a:lstStyle/>
          <a:p>
            <a:pPr indent="0" marL="0">
              <a:buNone/>
            </a:pPr>
            <a:r>
              <a:rPr lang="en-US" sz="4000" b="1" dirty="0">
                <a:solidFill>
                  <a:srgbClr val="2F6B5F"/>
                </a:solidFill>
                <a:latin typeface="+mj-lt" pitchFamily="34" charset="0"/>
                <a:ea typeface="+mj-lt" pitchFamily="34" charset="-122"/>
                <a:cs typeface="+mj-lt" pitchFamily="34" charset="-120"/>
              </a:rPr>
              <a:t>50,000</a:t>
            </a:r>
            <a:endParaRPr lang="en-US" sz="4000" dirty="0"/>
          </a:p>
        </p:txBody>
      </p:sp>
      <p:sp>
        <p:nvSpPr>
          <p:cNvPr id="13" name="Text 11"/>
          <p:cNvSpPr txBox="1"/>
          <p:nvPr/>
        </p:nvSpPr>
        <p:spPr>
          <a:xfrm>
            <a:off x="8412480" y="3200400"/>
            <a:ext cx="2834640" cy="82296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Rows the dashboard opens with by default, for speed. The full file is one click away.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DATA PREPARATION</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Three things we fixed before analysis</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5</a:t>
            </a:r>
            <a:endParaRPr lang="en-US" sz="1000" dirty="0"/>
          </a:p>
        </p:txBody>
      </p:sp>
      <p:sp>
        <p:nvSpPr>
          <p:cNvPr id="5" name="Shape 3"/>
          <p:cNvSpPr/>
          <p:nvPr/>
        </p:nvSpPr>
        <p:spPr>
          <a:xfrm>
            <a:off x="548640" y="2011680"/>
            <a:ext cx="512064" cy="512064"/>
          </a:xfrm>
          <a:prstGeom prst="ellipse">
            <a:avLst/>
          </a:prstGeom>
          <a:solidFill>
            <a:srgbClr val="2F6B5F"/>
          </a:solidFill>
          <a:ln/>
        </p:spPr>
      </p:sp>
      <p:sp>
        <p:nvSpPr>
          <p:cNvPr id="6" name="Text 4"/>
          <p:cNvSpPr txBox="1"/>
          <p:nvPr/>
        </p:nvSpPr>
        <p:spPr>
          <a:xfrm>
            <a:off x="548640" y="201168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n-lt" pitchFamily="34" charset="0"/>
                <a:ea typeface="+mn-lt" pitchFamily="34" charset="-122"/>
                <a:cs typeface="+mn-lt" pitchFamily="34" charset="-120"/>
              </a:rPr>
              <a:t>1</a:t>
            </a:r>
            <a:endParaRPr lang="en-US" sz="1800" dirty="0"/>
          </a:p>
        </p:txBody>
      </p:sp>
      <p:sp>
        <p:nvSpPr>
          <p:cNvPr id="7" name="Text 5"/>
          <p:cNvSpPr txBox="1"/>
          <p:nvPr/>
        </p:nvSpPr>
        <p:spPr>
          <a:xfrm>
            <a:off x="1371600" y="1920240"/>
            <a:ext cx="10058400" cy="411480"/>
          </a:xfrm>
          <a:prstGeom prst="rect">
            <a:avLst/>
          </a:prstGeom>
          <a:noFill/>
          <a:ln/>
        </p:spPr>
        <p:txBody>
          <a:bodyPr wrap="square" lIns="0" tIns="0" rIns="0" bIns="0" rtlCol="0" anchor="t"/>
          <a:lstStyle/>
          <a:p>
            <a:pPr indent="0" marL="0">
              <a:buNone/>
            </a:pPr>
            <a:r>
              <a:rPr lang="en-US" sz="2200" b="1" dirty="0">
                <a:solidFill>
                  <a:srgbClr val="1F2D2A"/>
                </a:solidFill>
                <a:latin typeface="+mj-lt" pitchFamily="34" charset="0"/>
                <a:ea typeface="+mj-lt" pitchFamily="34" charset="-122"/>
                <a:cs typeface="+mj-lt" pitchFamily="34" charset="-120"/>
              </a:rPr>
              <a:t>Empty rows</a:t>
            </a:r>
            <a:endParaRPr lang="en-US" sz="2200" dirty="0"/>
          </a:p>
        </p:txBody>
      </p:sp>
      <p:sp>
        <p:nvSpPr>
          <p:cNvPr id="8" name="Text 6"/>
          <p:cNvSpPr txBox="1"/>
          <p:nvPr/>
        </p:nvSpPr>
        <p:spPr>
          <a:xfrm>
            <a:off x="1371600" y="2377440"/>
            <a:ext cx="10058400" cy="457200"/>
          </a:xfrm>
          <a:prstGeom prst="rect">
            <a:avLst/>
          </a:prstGeom>
          <a:noFill/>
          <a:ln/>
        </p:spPr>
        <p:txBody>
          <a:bodyPr wrap="square" lIns="0" tIns="0" rIns="0" bIns="0" rtlCol="0" anchor="ctr"/>
          <a:lstStyle/>
          <a:p>
            <a:pPr indent="0" marL="0">
              <a:buNone/>
            </a:pPr>
            <a:r>
              <a:rPr lang="en-US" sz="1600" dirty="0">
                <a:solidFill>
                  <a:srgbClr val="5B6B67"/>
                </a:solidFill>
                <a:latin typeface="+mn-lt" pitchFamily="34" charset="0"/>
                <a:ea typeface="+mn-lt" pitchFamily="34" charset="-122"/>
                <a:cs typeface="+mn-lt" pitchFamily="34" charset="-120"/>
              </a:rPr>
              <a:t>Blank except for a zero salary. Not real adverts, so removed.</a:t>
            </a:r>
            <a:endParaRPr lang="en-US" sz="1600" dirty="0"/>
          </a:p>
        </p:txBody>
      </p:sp>
      <p:sp>
        <p:nvSpPr>
          <p:cNvPr id="9" name="Shape 7"/>
          <p:cNvSpPr/>
          <p:nvPr/>
        </p:nvSpPr>
        <p:spPr>
          <a:xfrm>
            <a:off x="548640" y="3291840"/>
            <a:ext cx="512064" cy="512064"/>
          </a:xfrm>
          <a:prstGeom prst="ellipse">
            <a:avLst/>
          </a:prstGeom>
          <a:solidFill>
            <a:srgbClr val="2F6B5F"/>
          </a:solidFill>
          <a:ln/>
        </p:spPr>
      </p:sp>
      <p:sp>
        <p:nvSpPr>
          <p:cNvPr id="10" name="Text 8"/>
          <p:cNvSpPr txBox="1"/>
          <p:nvPr/>
        </p:nvSpPr>
        <p:spPr>
          <a:xfrm>
            <a:off x="548640" y="329184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n-lt" pitchFamily="34" charset="0"/>
                <a:ea typeface="+mn-lt" pitchFamily="34" charset="-122"/>
                <a:cs typeface="+mn-lt" pitchFamily="34" charset="-120"/>
              </a:rPr>
              <a:t>2</a:t>
            </a:r>
            <a:endParaRPr lang="en-US" sz="1800" dirty="0"/>
          </a:p>
        </p:txBody>
      </p:sp>
      <p:sp>
        <p:nvSpPr>
          <p:cNvPr id="11" name="Text 9"/>
          <p:cNvSpPr txBox="1"/>
          <p:nvPr/>
        </p:nvSpPr>
        <p:spPr>
          <a:xfrm>
            <a:off x="1371600" y="3200400"/>
            <a:ext cx="10058400" cy="411480"/>
          </a:xfrm>
          <a:prstGeom prst="rect">
            <a:avLst/>
          </a:prstGeom>
          <a:noFill/>
          <a:ln/>
        </p:spPr>
        <p:txBody>
          <a:bodyPr wrap="square" lIns="0" tIns="0" rIns="0" bIns="0" rtlCol="0" anchor="t"/>
          <a:lstStyle/>
          <a:p>
            <a:pPr indent="0" marL="0">
              <a:buNone/>
            </a:pPr>
            <a:r>
              <a:rPr lang="en-US" sz="2200" b="1" dirty="0">
                <a:solidFill>
                  <a:srgbClr val="1F2D2A"/>
                </a:solidFill>
                <a:latin typeface="+mj-lt" pitchFamily="34" charset="0"/>
                <a:ea typeface="+mj-lt" pitchFamily="34" charset="-122"/>
                <a:cs typeface="+mj-lt" pitchFamily="34" charset="-120"/>
              </a:rPr>
              <a:t>Zero and impossible salaries</a:t>
            </a:r>
            <a:endParaRPr lang="en-US" sz="2200" dirty="0"/>
          </a:p>
        </p:txBody>
      </p:sp>
      <p:sp>
        <p:nvSpPr>
          <p:cNvPr id="12" name="Text 10"/>
          <p:cNvSpPr txBox="1"/>
          <p:nvPr/>
        </p:nvSpPr>
        <p:spPr>
          <a:xfrm>
            <a:off x="1371600" y="3657600"/>
            <a:ext cx="10058400" cy="457200"/>
          </a:xfrm>
          <a:prstGeom prst="rect">
            <a:avLst/>
          </a:prstGeom>
          <a:noFill/>
          <a:ln/>
        </p:spPr>
        <p:txBody>
          <a:bodyPr wrap="square" lIns="0" tIns="0" rIns="0" bIns="0" rtlCol="0" anchor="ctr"/>
          <a:lstStyle/>
          <a:p>
            <a:pPr indent="0" marL="0">
              <a:buNone/>
            </a:pPr>
            <a:r>
              <a:rPr lang="en-US" sz="1600" dirty="0">
                <a:solidFill>
                  <a:srgbClr val="5B6B67"/>
                </a:solidFill>
                <a:latin typeface="+mn-lt" pitchFamily="34" charset="0"/>
                <a:ea typeface="+mn-lt" pitchFamily="34" charset="-122"/>
                <a:cs typeface="+mn-lt" pitchFamily="34" charset="-120"/>
              </a:rPr>
              <a:t>Zero means no salary was given, so it is treated as missing, not as pay of zero.</a:t>
            </a:r>
            <a:endParaRPr lang="en-US" sz="1600" dirty="0"/>
          </a:p>
        </p:txBody>
      </p:sp>
      <p:sp>
        <p:nvSpPr>
          <p:cNvPr id="13" name="Shape 11"/>
          <p:cNvSpPr/>
          <p:nvPr/>
        </p:nvSpPr>
        <p:spPr>
          <a:xfrm>
            <a:off x="548640" y="4572000"/>
            <a:ext cx="512064" cy="512064"/>
          </a:xfrm>
          <a:prstGeom prst="ellipse">
            <a:avLst/>
          </a:prstGeom>
          <a:solidFill>
            <a:srgbClr val="2F6B5F"/>
          </a:solidFill>
          <a:ln/>
        </p:spPr>
      </p:sp>
      <p:sp>
        <p:nvSpPr>
          <p:cNvPr id="14" name="Text 12"/>
          <p:cNvSpPr txBox="1"/>
          <p:nvPr/>
        </p:nvSpPr>
        <p:spPr>
          <a:xfrm>
            <a:off x="548640" y="457200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n-lt" pitchFamily="34" charset="0"/>
                <a:ea typeface="+mn-lt" pitchFamily="34" charset="-122"/>
                <a:cs typeface="+mn-lt" pitchFamily="34" charset="-120"/>
              </a:rPr>
              <a:t>3</a:t>
            </a:r>
            <a:endParaRPr lang="en-US" sz="1800" dirty="0"/>
          </a:p>
        </p:txBody>
      </p:sp>
      <p:sp>
        <p:nvSpPr>
          <p:cNvPr id="15" name="Text 13"/>
          <p:cNvSpPr txBox="1"/>
          <p:nvPr/>
        </p:nvSpPr>
        <p:spPr>
          <a:xfrm>
            <a:off x="1371600" y="4480560"/>
            <a:ext cx="10058400" cy="411480"/>
          </a:xfrm>
          <a:prstGeom prst="rect">
            <a:avLst/>
          </a:prstGeom>
          <a:noFill/>
          <a:ln/>
        </p:spPr>
        <p:txBody>
          <a:bodyPr wrap="square" lIns="0" tIns="0" rIns="0" bIns="0" rtlCol="0" anchor="t"/>
          <a:lstStyle/>
          <a:p>
            <a:pPr indent="0" marL="0">
              <a:buNone/>
            </a:pPr>
            <a:r>
              <a:rPr lang="en-US" sz="2200" b="1" dirty="0">
                <a:solidFill>
                  <a:srgbClr val="1F2D2A"/>
                </a:solidFill>
                <a:latin typeface="+mj-lt" pitchFamily="34" charset="0"/>
                <a:ea typeface="+mj-lt" pitchFamily="34" charset="-122"/>
                <a:cs typeface="+mj-lt" pitchFamily="34" charset="-120"/>
              </a:rPr>
              <a:t>Jobs in several categories</a:t>
            </a:r>
            <a:endParaRPr lang="en-US" sz="2200" dirty="0"/>
          </a:p>
        </p:txBody>
      </p:sp>
      <p:sp>
        <p:nvSpPr>
          <p:cNvPr id="16" name="Text 14"/>
          <p:cNvSpPr txBox="1"/>
          <p:nvPr/>
        </p:nvSpPr>
        <p:spPr>
          <a:xfrm>
            <a:off x="1371600" y="4937760"/>
            <a:ext cx="10058400" cy="457200"/>
          </a:xfrm>
          <a:prstGeom prst="rect">
            <a:avLst/>
          </a:prstGeom>
          <a:noFill/>
          <a:ln/>
        </p:spPr>
        <p:txBody>
          <a:bodyPr wrap="square" lIns="0" tIns="0" rIns="0" bIns="0" rtlCol="0" anchor="ctr"/>
          <a:lstStyle/>
          <a:p>
            <a:pPr indent="0" marL="0">
              <a:buNone/>
            </a:pPr>
            <a:r>
              <a:rPr lang="en-US" sz="1600" dirty="0">
                <a:solidFill>
                  <a:srgbClr val="5B6B67"/>
                </a:solidFill>
                <a:latin typeface="+mn-lt" pitchFamily="34" charset="0"/>
                <a:ea typeface="+mn-lt" pitchFamily="34" charset="-122"/>
                <a:cs typeface="+mn-lt" pitchFamily="34" charset="-120"/>
              </a:rPr>
              <a:t>One job can sit in more than one industry. Each category is counted once per job.</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DATA PREPARATION</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3,988 empty rows removed; 1,044,597 postings kept</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6</a:t>
            </a:r>
            <a:endParaRPr lang="en-US" sz="1000" dirty="0"/>
          </a:p>
        </p:txBody>
      </p:sp>
      <p:sp>
        <p:nvSpPr>
          <p:cNvPr id="5" name="Shape 3"/>
          <p:cNvSpPr/>
          <p:nvPr/>
        </p:nvSpPr>
        <p:spPr>
          <a:xfrm>
            <a:off x="548640" y="1920240"/>
            <a:ext cx="5394960" cy="2743200"/>
          </a:xfrm>
          <a:prstGeom prst="roundRect">
            <a:avLst>
              <a:gd name="adj" fmla="val 4000"/>
            </a:avLst>
          </a:prstGeom>
          <a:solidFill>
            <a:srgbClr val="EEF4F2"/>
          </a:solidFill>
          <a:ln/>
        </p:spPr>
      </p:sp>
      <p:sp>
        <p:nvSpPr>
          <p:cNvPr id="6" name="Text 4"/>
          <p:cNvSpPr txBox="1"/>
          <p:nvPr/>
        </p:nvSpPr>
        <p:spPr>
          <a:xfrm>
            <a:off x="914400" y="2286000"/>
            <a:ext cx="4663440" cy="731520"/>
          </a:xfrm>
          <a:prstGeom prst="rect">
            <a:avLst/>
          </a:prstGeom>
          <a:noFill/>
          <a:ln/>
        </p:spPr>
        <p:txBody>
          <a:bodyPr wrap="square" lIns="0" tIns="0" rIns="0" bIns="0" rtlCol="0" anchor="t"/>
          <a:lstStyle/>
          <a:p>
            <a:pPr indent="0" marL="0">
              <a:buNone/>
            </a:pPr>
            <a:r>
              <a:rPr lang="en-US" sz="4000" b="1" dirty="0">
                <a:solidFill>
                  <a:srgbClr val="2F6B5F"/>
                </a:solidFill>
                <a:latin typeface="+mj-lt" pitchFamily="34" charset="0"/>
                <a:ea typeface="+mj-lt" pitchFamily="34" charset="-122"/>
                <a:cs typeface="+mj-lt" pitchFamily="34" charset="-120"/>
              </a:rPr>
              <a:t>1,044,597</a:t>
            </a:r>
            <a:endParaRPr lang="en-US" sz="4000" dirty="0"/>
          </a:p>
        </p:txBody>
      </p:sp>
      <p:sp>
        <p:nvSpPr>
          <p:cNvPr id="7" name="Text 5"/>
          <p:cNvSpPr txBox="1"/>
          <p:nvPr/>
        </p:nvSpPr>
        <p:spPr>
          <a:xfrm>
            <a:off x="914400" y="3108960"/>
            <a:ext cx="4663440" cy="82296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postings kept for analysis (99.62% of rows)</a:t>
            </a:r>
            <a:endParaRPr lang="en-US" sz="1400" dirty="0"/>
          </a:p>
        </p:txBody>
      </p:sp>
      <p:sp>
        <p:nvSpPr>
          <p:cNvPr id="8" name="Shape 6"/>
          <p:cNvSpPr/>
          <p:nvPr/>
        </p:nvSpPr>
        <p:spPr>
          <a:xfrm>
            <a:off x="6217920" y="1920240"/>
            <a:ext cx="5394960" cy="2743200"/>
          </a:xfrm>
          <a:prstGeom prst="roundRect">
            <a:avLst>
              <a:gd name="adj" fmla="val 4000"/>
            </a:avLst>
          </a:prstGeom>
          <a:solidFill>
            <a:srgbClr val="EEF4F2"/>
          </a:solidFill>
          <a:ln/>
        </p:spPr>
      </p:sp>
      <p:sp>
        <p:nvSpPr>
          <p:cNvPr id="9" name="Text 7"/>
          <p:cNvSpPr txBox="1"/>
          <p:nvPr/>
        </p:nvSpPr>
        <p:spPr>
          <a:xfrm>
            <a:off x="6583680" y="2286000"/>
            <a:ext cx="4663440" cy="731520"/>
          </a:xfrm>
          <a:prstGeom prst="rect">
            <a:avLst/>
          </a:prstGeom>
          <a:noFill/>
          <a:ln/>
        </p:spPr>
        <p:txBody>
          <a:bodyPr wrap="square" lIns="0" tIns="0" rIns="0" bIns="0" rtlCol="0" anchor="t"/>
          <a:lstStyle/>
          <a:p>
            <a:pPr indent="0" marL="0">
              <a:buNone/>
            </a:pPr>
            <a:r>
              <a:rPr lang="en-US" sz="4000" b="1" dirty="0">
                <a:solidFill>
                  <a:srgbClr val="D18B47"/>
                </a:solidFill>
                <a:latin typeface="+mj-lt" pitchFamily="34" charset="0"/>
                <a:ea typeface="+mj-lt" pitchFamily="34" charset="-122"/>
                <a:cs typeface="+mj-lt" pitchFamily="34" charset="-120"/>
              </a:rPr>
              <a:t>3,988</a:t>
            </a:r>
            <a:endParaRPr lang="en-US" sz="4000" dirty="0"/>
          </a:p>
        </p:txBody>
      </p:sp>
      <p:sp>
        <p:nvSpPr>
          <p:cNvPr id="10" name="Text 8"/>
          <p:cNvSpPr txBox="1"/>
          <p:nvPr/>
        </p:nvSpPr>
        <p:spPr>
          <a:xfrm>
            <a:off x="6583680" y="3108960"/>
            <a:ext cx="4663440" cy="82296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empty rows removed (0.38% of rows)</a:t>
            </a:r>
            <a:endParaRPr lang="en-US" sz="1400" dirty="0"/>
          </a:p>
        </p:txBody>
      </p:sp>
      <p:sp>
        <p:nvSpPr>
          <p:cNvPr id="11" name="Text 9"/>
          <p:cNvSpPr txBox="1"/>
          <p:nvPr/>
        </p:nvSpPr>
        <p:spPr>
          <a:xfrm>
            <a:off x="548640" y="4983480"/>
            <a:ext cx="11094415" cy="457200"/>
          </a:xfrm>
          <a:prstGeom prst="rect">
            <a:avLst/>
          </a:prstGeom>
          <a:noFill/>
          <a:ln/>
        </p:spPr>
        <p:txBody>
          <a:bodyPr wrap="square" lIns="0" tIns="0" rIns="0" bIns="0" rtlCol="0" anchor="ctr"/>
          <a:lstStyle/>
          <a:p>
            <a:pPr indent="0" marL="0">
              <a:buNone/>
            </a:pPr>
            <a:r>
              <a:rPr lang="en-US" sz="1600" dirty="0">
                <a:solidFill>
                  <a:srgbClr val="5B6B67"/>
                </a:solidFill>
                <a:latin typeface="+mn-lt" pitchFamily="34" charset="0"/>
                <a:ea typeface="+mn-lt" pitchFamily="34" charset="-122"/>
                <a:cs typeface="+mn-lt" pitchFamily="34" charset="-120"/>
              </a:rPr>
              <a:t>No repeated job IDs were found. Every posting in the cleaned file is unique.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SCALE</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1,044,597 postings, 2.7 million vacancies</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7</a:t>
            </a:r>
            <a:endParaRPr lang="en-US" sz="1000" dirty="0"/>
          </a:p>
        </p:txBody>
      </p:sp>
      <p:sp>
        <p:nvSpPr>
          <p:cNvPr id="5" name="Shape 3"/>
          <p:cNvSpPr/>
          <p:nvPr/>
        </p:nvSpPr>
        <p:spPr>
          <a:xfrm>
            <a:off x="548640" y="1920240"/>
            <a:ext cx="2606040" cy="2651760"/>
          </a:xfrm>
          <a:prstGeom prst="roundRect">
            <a:avLst>
              <a:gd name="adj" fmla="val 4211"/>
            </a:avLst>
          </a:prstGeom>
          <a:solidFill>
            <a:srgbClr val="EEF4F2"/>
          </a:solidFill>
          <a:ln/>
        </p:spPr>
      </p:sp>
      <p:sp>
        <p:nvSpPr>
          <p:cNvPr id="6" name="Text 4"/>
          <p:cNvSpPr txBox="1"/>
          <p:nvPr/>
        </p:nvSpPr>
        <p:spPr>
          <a:xfrm>
            <a:off x="822960" y="2286000"/>
            <a:ext cx="2194560" cy="731520"/>
          </a:xfrm>
          <a:prstGeom prst="rect">
            <a:avLst/>
          </a:prstGeom>
          <a:noFill/>
          <a:ln/>
        </p:spPr>
        <p:txBody>
          <a:bodyPr wrap="square" lIns="0" tIns="0" rIns="0" bIns="0" rtlCol="0" anchor="t"/>
          <a:lstStyle/>
          <a:p>
            <a:pPr indent="0" marL="0">
              <a:buNone/>
            </a:pPr>
            <a:r>
              <a:rPr lang="en-US" sz="4000" b="1" dirty="0">
                <a:solidFill>
                  <a:srgbClr val="2F6B5F"/>
                </a:solidFill>
                <a:latin typeface="+mj-lt" pitchFamily="34" charset="0"/>
                <a:ea typeface="+mj-lt" pitchFamily="34" charset="-122"/>
                <a:cs typeface="+mj-lt" pitchFamily="34" charset="-120"/>
              </a:rPr>
              <a:t>1.04M</a:t>
            </a:r>
            <a:endParaRPr lang="en-US" sz="4000" dirty="0"/>
          </a:p>
        </p:txBody>
      </p:sp>
      <p:sp>
        <p:nvSpPr>
          <p:cNvPr id="7" name="Text 5"/>
          <p:cNvSpPr txBox="1"/>
          <p:nvPr/>
        </p:nvSpPr>
        <p:spPr>
          <a:xfrm>
            <a:off x="822960" y="3108960"/>
            <a:ext cx="2194560" cy="82296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postings</a:t>
            </a:r>
            <a:endParaRPr lang="en-US" sz="1400" dirty="0"/>
          </a:p>
        </p:txBody>
      </p:sp>
      <p:sp>
        <p:nvSpPr>
          <p:cNvPr id="8" name="Shape 6"/>
          <p:cNvSpPr/>
          <p:nvPr/>
        </p:nvSpPr>
        <p:spPr>
          <a:xfrm>
            <a:off x="3337560" y="1920240"/>
            <a:ext cx="2606040" cy="2651760"/>
          </a:xfrm>
          <a:prstGeom prst="roundRect">
            <a:avLst>
              <a:gd name="adj" fmla="val 4211"/>
            </a:avLst>
          </a:prstGeom>
          <a:solidFill>
            <a:srgbClr val="EEF4F2"/>
          </a:solidFill>
          <a:ln/>
        </p:spPr>
      </p:sp>
      <p:sp>
        <p:nvSpPr>
          <p:cNvPr id="9" name="Text 7"/>
          <p:cNvSpPr txBox="1"/>
          <p:nvPr/>
        </p:nvSpPr>
        <p:spPr>
          <a:xfrm>
            <a:off x="3611880" y="2286000"/>
            <a:ext cx="2194560" cy="731520"/>
          </a:xfrm>
          <a:prstGeom prst="rect">
            <a:avLst/>
          </a:prstGeom>
          <a:noFill/>
          <a:ln/>
        </p:spPr>
        <p:txBody>
          <a:bodyPr wrap="square" lIns="0" tIns="0" rIns="0" bIns="0" rtlCol="0" anchor="t"/>
          <a:lstStyle/>
          <a:p>
            <a:pPr indent="0" marL="0">
              <a:buNone/>
            </a:pPr>
            <a:r>
              <a:rPr lang="en-US" sz="4000" b="1" dirty="0">
                <a:solidFill>
                  <a:srgbClr val="2F6B5F"/>
                </a:solidFill>
                <a:latin typeface="+mj-lt" pitchFamily="34" charset="0"/>
                <a:ea typeface="+mj-lt" pitchFamily="34" charset="-122"/>
                <a:cs typeface="+mj-lt" pitchFamily="34" charset="-120"/>
              </a:rPr>
              <a:t>2.73M</a:t>
            </a:r>
            <a:endParaRPr lang="en-US" sz="4000" dirty="0"/>
          </a:p>
        </p:txBody>
      </p:sp>
      <p:sp>
        <p:nvSpPr>
          <p:cNvPr id="10" name="Text 8"/>
          <p:cNvSpPr txBox="1"/>
          <p:nvPr/>
        </p:nvSpPr>
        <p:spPr>
          <a:xfrm>
            <a:off x="3611880" y="3108960"/>
            <a:ext cx="2194560" cy="82296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vacancies (open seats)</a:t>
            </a:r>
            <a:endParaRPr lang="en-US" sz="1400" dirty="0"/>
          </a:p>
        </p:txBody>
      </p:sp>
      <p:sp>
        <p:nvSpPr>
          <p:cNvPr id="11" name="Shape 9"/>
          <p:cNvSpPr/>
          <p:nvPr/>
        </p:nvSpPr>
        <p:spPr>
          <a:xfrm>
            <a:off x="6126480" y="1920240"/>
            <a:ext cx="2606040" cy="2651760"/>
          </a:xfrm>
          <a:prstGeom prst="roundRect">
            <a:avLst>
              <a:gd name="adj" fmla="val 4211"/>
            </a:avLst>
          </a:prstGeom>
          <a:solidFill>
            <a:srgbClr val="EEF4F2"/>
          </a:solidFill>
          <a:ln/>
        </p:spPr>
      </p:sp>
      <p:sp>
        <p:nvSpPr>
          <p:cNvPr id="12" name="Text 10"/>
          <p:cNvSpPr txBox="1"/>
          <p:nvPr/>
        </p:nvSpPr>
        <p:spPr>
          <a:xfrm>
            <a:off x="6400800" y="2286000"/>
            <a:ext cx="2194560" cy="731520"/>
          </a:xfrm>
          <a:prstGeom prst="rect">
            <a:avLst/>
          </a:prstGeom>
          <a:noFill/>
          <a:ln/>
        </p:spPr>
        <p:txBody>
          <a:bodyPr wrap="square" lIns="0" tIns="0" rIns="0" bIns="0" rtlCol="0" anchor="t"/>
          <a:lstStyle/>
          <a:p>
            <a:pPr indent="0" marL="0">
              <a:buNone/>
            </a:pPr>
            <a:r>
              <a:rPr lang="en-US" sz="4000" b="1" dirty="0">
                <a:solidFill>
                  <a:srgbClr val="2F6B5F"/>
                </a:solidFill>
                <a:latin typeface="+mj-lt" pitchFamily="34" charset="0"/>
                <a:ea typeface="+mj-lt" pitchFamily="34" charset="-122"/>
                <a:cs typeface="+mj-lt" pitchFamily="34" charset="-120"/>
              </a:rPr>
              <a:t>53,150</a:t>
            </a:r>
            <a:endParaRPr lang="en-US" sz="4000" dirty="0"/>
          </a:p>
        </p:txBody>
      </p:sp>
      <p:sp>
        <p:nvSpPr>
          <p:cNvPr id="13" name="Text 11"/>
          <p:cNvSpPr txBox="1"/>
          <p:nvPr/>
        </p:nvSpPr>
        <p:spPr>
          <a:xfrm>
            <a:off x="6400800" y="3108960"/>
            <a:ext cx="2194560" cy="82296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organisations posting</a:t>
            </a:r>
            <a:endParaRPr lang="en-US" sz="1400" dirty="0"/>
          </a:p>
        </p:txBody>
      </p:sp>
      <p:sp>
        <p:nvSpPr>
          <p:cNvPr id="14" name="Shape 12"/>
          <p:cNvSpPr/>
          <p:nvPr/>
        </p:nvSpPr>
        <p:spPr>
          <a:xfrm>
            <a:off x="8915400" y="1920240"/>
            <a:ext cx="2606040" cy="2651760"/>
          </a:xfrm>
          <a:prstGeom prst="roundRect">
            <a:avLst>
              <a:gd name="adj" fmla="val 4211"/>
            </a:avLst>
          </a:prstGeom>
          <a:solidFill>
            <a:srgbClr val="EEF4F2"/>
          </a:solidFill>
          <a:ln/>
        </p:spPr>
      </p:sp>
      <p:sp>
        <p:nvSpPr>
          <p:cNvPr id="15" name="Text 13"/>
          <p:cNvSpPr txBox="1"/>
          <p:nvPr/>
        </p:nvSpPr>
        <p:spPr>
          <a:xfrm>
            <a:off x="9189720" y="2286000"/>
            <a:ext cx="2194560" cy="731520"/>
          </a:xfrm>
          <a:prstGeom prst="rect">
            <a:avLst/>
          </a:prstGeom>
          <a:noFill/>
          <a:ln/>
        </p:spPr>
        <p:txBody>
          <a:bodyPr wrap="square" lIns="0" tIns="0" rIns="0" bIns="0" rtlCol="0" anchor="t"/>
          <a:lstStyle/>
          <a:p>
            <a:pPr indent="0" marL="0">
              <a:buNone/>
            </a:pPr>
            <a:r>
              <a:rPr lang="en-US" sz="4000" b="1" dirty="0">
                <a:solidFill>
                  <a:srgbClr val="2F6B5F"/>
                </a:solidFill>
                <a:latin typeface="+mj-lt" pitchFamily="34" charset="0"/>
                <a:ea typeface="+mj-lt" pitchFamily="34" charset="-122"/>
                <a:cs typeface="+mj-lt" pitchFamily="34" charset="-120"/>
              </a:rPr>
              <a:t>43</a:t>
            </a:r>
            <a:endParaRPr lang="en-US" sz="4000" dirty="0"/>
          </a:p>
        </p:txBody>
      </p:sp>
      <p:sp>
        <p:nvSpPr>
          <p:cNvPr id="16" name="Text 14"/>
          <p:cNvSpPr txBox="1"/>
          <p:nvPr/>
        </p:nvSpPr>
        <p:spPr>
          <a:xfrm>
            <a:off x="9189720" y="3108960"/>
            <a:ext cx="2194560" cy="82296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industry categories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FINDINGS: PAY</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Pay rises with seniority</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8</a:t>
            </a:r>
            <a:endParaRPr lang="en-US" sz="1000" dirty="0"/>
          </a:p>
        </p:txBody>
      </p:sp>
      <p:graphicFrame>
        <p:nvGraphicFramePr>
          <p:cNvPr id="5" name="Chart 0" descr=""/>
          <p:cNvGraphicFramePr/>
          <p:nvPr/>
        </p:nvGraphicFramePr>
        <p:xfrm>
          <a:off x="548640" y="18288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863840" y="1920240"/>
            <a:ext cx="3749040" cy="3931920"/>
          </a:xfrm>
          <a:prstGeom prst="roundRect">
            <a:avLst>
              <a:gd name="adj" fmla="val 2927"/>
            </a:avLst>
          </a:prstGeom>
          <a:solidFill>
            <a:srgbClr val="EEF4F2"/>
          </a:solidFill>
          <a:ln/>
        </p:spPr>
      </p:sp>
      <p:sp>
        <p:nvSpPr>
          <p:cNvPr id="7" name="Text 4"/>
          <p:cNvSpPr txBox="1"/>
          <p:nvPr/>
        </p:nvSpPr>
        <p:spPr>
          <a:xfrm>
            <a:off x="8183880" y="2286000"/>
            <a:ext cx="3200400" cy="914400"/>
          </a:xfrm>
          <a:prstGeom prst="rect">
            <a:avLst/>
          </a:prstGeom>
          <a:noFill/>
          <a:ln/>
        </p:spPr>
        <p:txBody>
          <a:bodyPr wrap="square" lIns="0" tIns="0" rIns="0" bIns="0" rtlCol="0" anchor="t"/>
          <a:lstStyle/>
          <a:p>
            <a:pPr indent="0" marL="0">
              <a:buNone/>
            </a:pPr>
            <a:r>
              <a:rPr lang="en-US" sz="1800" dirty="0">
                <a:solidFill>
                  <a:srgbClr val="1F2D2A"/>
                </a:solidFill>
                <a:latin typeface="+mn-lt" pitchFamily="34" charset="0"/>
                <a:ea typeface="+mn-lt" pitchFamily="34" charset="-122"/>
                <a:cs typeface="+mn-lt" pitchFamily="34" charset="-120"/>
              </a:rPr>
              <a:t>The median (the middle value) is S$3,850 overall.</a:t>
            </a:r>
            <a:endParaRPr lang="en-US" sz="1800" dirty="0"/>
          </a:p>
        </p:txBody>
      </p:sp>
      <p:sp>
        <p:nvSpPr>
          <p:cNvPr id="8" name="Text 5"/>
          <p:cNvSpPr txBox="1"/>
          <p:nvPr/>
        </p:nvSpPr>
        <p:spPr>
          <a:xfrm>
            <a:off x="8183880" y="3383280"/>
            <a:ext cx="3200400" cy="914400"/>
          </a:xfrm>
          <a:prstGeom prst="rect">
            <a:avLst/>
          </a:prstGeom>
          <a:noFill/>
          <a:ln/>
        </p:spPr>
        <p:txBody>
          <a:bodyPr wrap="square" lIns="0" tIns="0" rIns="0" bIns="0" rtlCol="0" anchor="t"/>
          <a:lstStyle/>
          <a:p>
            <a:pPr indent="0" marL="0">
              <a:buNone/>
            </a:pPr>
            <a:r>
              <a:rPr lang="en-US" sz="1800" dirty="0">
                <a:solidFill>
                  <a:srgbClr val="1F2D2A"/>
                </a:solidFill>
                <a:latin typeface="+mn-lt" pitchFamily="34" charset="0"/>
                <a:ea typeface="+mn-lt" pitchFamily="34" charset="-122"/>
                <a:cs typeface="+mn-lt" pitchFamily="34" charset="-120"/>
              </a:rPr>
              <a:t>The middle half runs from S$2,950 to S$5,500.</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FINDINGS: CATEGORY</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The biggest category is not always the best paid</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9</a:t>
            </a:r>
            <a:endParaRPr lang="en-US" sz="1000" dirty="0"/>
          </a:p>
        </p:txBody>
      </p:sp>
      <p:sp>
        <p:nvSpPr>
          <p:cNvPr id="5" name="Shape 3"/>
          <p:cNvSpPr/>
          <p:nvPr/>
        </p:nvSpPr>
        <p:spPr>
          <a:xfrm>
            <a:off x="548640" y="1920240"/>
            <a:ext cx="5394960" cy="3291840"/>
          </a:xfrm>
          <a:prstGeom prst="roundRect">
            <a:avLst>
              <a:gd name="adj" fmla="val 3333"/>
            </a:avLst>
          </a:prstGeom>
          <a:solidFill>
            <a:srgbClr val="EEF4F2"/>
          </a:solidFill>
          <a:ln/>
        </p:spPr>
      </p:sp>
      <p:sp>
        <p:nvSpPr>
          <p:cNvPr id="6" name="Text 4"/>
          <p:cNvSpPr txBox="1"/>
          <p:nvPr/>
        </p:nvSpPr>
        <p:spPr>
          <a:xfrm>
            <a:off x="914400" y="2286000"/>
            <a:ext cx="4663440" cy="365760"/>
          </a:xfrm>
          <a:prstGeom prst="rect">
            <a:avLst/>
          </a:prstGeom>
          <a:noFill/>
          <a:ln/>
        </p:spPr>
        <p:txBody>
          <a:bodyPr wrap="square" lIns="0" tIns="0" rIns="0" bIns="0" rtlCol="0" anchor="ctr"/>
          <a:lstStyle/>
          <a:p>
            <a:pPr indent="0" marL="0">
              <a:buNone/>
            </a:pPr>
            <a:r>
              <a:rPr lang="en-US" sz="1800" b="1" dirty="0">
                <a:solidFill>
                  <a:srgbClr val="5B6B67"/>
                </a:solidFill>
                <a:latin typeface="+mn-lt" pitchFamily="34" charset="0"/>
                <a:ea typeface="+mn-lt" pitchFamily="34" charset="-122"/>
                <a:cs typeface="+mn-lt" pitchFamily="34" charset="-120"/>
              </a:rPr>
              <a:t>Information Technology</a:t>
            </a:r>
            <a:endParaRPr lang="en-US" sz="1800" dirty="0"/>
          </a:p>
        </p:txBody>
      </p:sp>
      <p:sp>
        <p:nvSpPr>
          <p:cNvPr id="7" name="Text 5"/>
          <p:cNvSpPr txBox="1"/>
          <p:nvPr/>
        </p:nvSpPr>
        <p:spPr>
          <a:xfrm>
            <a:off x="914400" y="2743200"/>
            <a:ext cx="4663440" cy="731520"/>
          </a:xfrm>
          <a:prstGeom prst="rect">
            <a:avLst/>
          </a:prstGeom>
          <a:noFill/>
          <a:ln/>
        </p:spPr>
        <p:txBody>
          <a:bodyPr wrap="square" lIns="0" tIns="0" rIns="0" bIns="0" rtlCol="0" anchor="t"/>
          <a:lstStyle/>
          <a:p>
            <a:pPr indent="0" marL="0">
              <a:buNone/>
            </a:pPr>
            <a:r>
              <a:rPr lang="en-US" sz="4000" b="1" dirty="0">
                <a:solidFill>
                  <a:srgbClr val="2F6B5F"/>
                </a:solidFill>
                <a:latin typeface="+mj-lt" pitchFamily="34" charset="0"/>
                <a:ea typeface="+mj-lt" pitchFamily="34" charset="-122"/>
                <a:cs typeface="+mj-lt" pitchFamily="34" charset="-120"/>
              </a:rPr>
              <a:t>S$6,500</a:t>
            </a:r>
            <a:endParaRPr lang="en-US" sz="4000" dirty="0"/>
          </a:p>
        </p:txBody>
      </p:sp>
      <p:sp>
        <p:nvSpPr>
          <p:cNvPr id="8" name="Text 6"/>
          <p:cNvSpPr txBox="1"/>
          <p:nvPr/>
        </p:nvSpPr>
        <p:spPr>
          <a:xfrm>
            <a:off x="914400" y="3566160"/>
            <a:ext cx="4663440" cy="82296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median advertised salary, from 140,866 postings</a:t>
            </a:r>
            <a:endParaRPr lang="en-US" sz="1400" dirty="0"/>
          </a:p>
        </p:txBody>
      </p:sp>
      <p:sp>
        <p:nvSpPr>
          <p:cNvPr id="9" name="Shape 7"/>
          <p:cNvSpPr/>
          <p:nvPr/>
        </p:nvSpPr>
        <p:spPr>
          <a:xfrm>
            <a:off x="6217920" y="1920240"/>
            <a:ext cx="5394960" cy="3291840"/>
          </a:xfrm>
          <a:prstGeom prst="roundRect">
            <a:avLst>
              <a:gd name="adj" fmla="val 3333"/>
            </a:avLst>
          </a:prstGeom>
          <a:solidFill>
            <a:srgbClr val="EEF4F2"/>
          </a:solidFill>
          <a:ln/>
        </p:spPr>
      </p:sp>
      <p:sp>
        <p:nvSpPr>
          <p:cNvPr id="10" name="Text 8"/>
          <p:cNvSpPr txBox="1"/>
          <p:nvPr/>
        </p:nvSpPr>
        <p:spPr>
          <a:xfrm>
            <a:off x="6583680" y="2286000"/>
            <a:ext cx="4663440" cy="365760"/>
          </a:xfrm>
          <a:prstGeom prst="rect">
            <a:avLst/>
          </a:prstGeom>
          <a:noFill/>
          <a:ln/>
        </p:spPr>
        <p:txBody>
          <a:bodyPr wrap="square" lIns="0" tIns="0" rIns="0" bIns="0" rtlCol="0" anchor="ctr"/>
          <a:lstStyle/>
          <a:p>
            <a:pPr indent="0" marL="0">
              <a:buNone/>
            </a:pPr>
            <a:r>
              <a:rPr lang="en-US" sz="1800" b="1" dirty="0">
                <a:solidFill>
                  <a:srgbClr val="5B6B67"/>
                </a:solidFill>
                <a:latin typeface="+mn-lt" pitchFamily="34" charset="0"/>
                <a:ea typeface="+mn-lt" pitchFamily="34" charset="-122"/>
                <a:cs typeface="+mn-lt" pitchFamily="34" charset="-120"/>
              </a:rPr>
              <a:t>Admin / Secretarial</a:t>
            </a:r>
            <a:endParaRPr lang="en-US" sz="1800" dirty="0"/>
          </a:p>
        </p:txBody>
      </p:sp>
      <p:sp>
        <p:nvSpPr>
          <p:cNvPr id="11" name="Text 9"/>
          <p:cNvSpPr txBox="1"/>
          <p:nvPr/>
        </p:nvSpPr>
        <p:spPr>
          <a:xfrm>
            <a:off x="6583680" y="2743200"/>
            <a:ext cx="4663440" cy="731520"/>
          </a:xfrm>
          <a:prstGeom prst="rect">
            <a:avLst/>
          </a:prstGeom>
          <a:noFill/>
          <a:ln/>
        </p:spPr>
        <p:txBody>
          <a:bodyPr wrap="square" lIns="0" tIns="0" rIns="0" bIns="0" rtlCol="0" anchor="t"/>
          <a:lstStyle/>
          <a:p>
            <a:pPr indent="0" marL="0">
              <a:buNone/>
            </a:pPr>
            <a:r>
              <a:rPr lang="en-US" sz="4000" b="1" dirty="0">
                <a:solidFill>
                  <a:srgbClr val="D18B47"/>
                </a:solidFill>
                <a:latin typeface="+mj-lt" pitchFamily="34" charset="0"/>
                <a:ea typeface="+mj-lt" pitchFamily="34" charset="-122"/>
                <a:cs typeface="+mj-lt" pitchFamily="34" charset="-120"/>
              </a:rPr>
              <a:t>S$2,900</a:t>
            </a:r>
            <a:endParaRPr lang="en-US" sz="4000" dirty="0"/>
          </a:p>
        </p:txBody>
      </p:sp>
      <p:sp>
        <p:nvSpPr>
          <p:cNvPr id="12" name="Text 10"/>
          <p:cNvSpPr txBox="1"/>
          <p:nvPr/>
        </p:nvSpPr>
        <p:spPr>
          <a:xfrm>
            <a:off x="6583680" y="3566160"/>
            <a:ext cx="4663440" cy="82296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median advertised salary, from 117,854 postings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FINDINGS: COMPETITION</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Competition: applications per vacancy vary widely</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10</a:t>
            </a:r>
            <a:endParaRPr lang="en-US" sz="1000" dirty="0"/>
          </a:p>
        </p:txBody>
      </p:sp>
      <p:graphicFrame>
        <p:nvGraphicFramePr>
          <p:cNvPr id="5" name="Chart 0" descr=""/>
          <p:cNvGraphicFramePr/>
          <p:nvPr/>
        </p:nvGraphicFramePr>
        <p:xfrm>
          <a:off x="548640" y="18288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863840" y="1920240"/>
            <a:ext cx="3749040" cy="3931920"/>
          </a:xfrm>
          <a:prstGeom prst="roundRect">
            <a:avLst>
              <a:gd name="adj" fmla="val 2927"/>
            </a:avLst>
          </a:prstGeom>
          <a:solidFill>
            <a:srgbClr val="EEF4F2"/>
          </a:solidFill>
          <a:ln/>
        </p:spPr>
      </p:sp>
      <p:sp>
        <p:nvSpPr>
          <p:cNvPr id="7" name="Text 4"/>
          <p:cNvSpPr txBox="1"/>
          <p:nvPr/>
        </p:nvSpPr>
        <p:spPr>
          <a:xfrm>
            <a:off x="8183880" y="2286000"/>
            <a:ext cx="3200400" cy="1463040"/>
          </a:xfrm>
          <a:prstGeom prst="rect">
            <a:avLst/>
          </a:prstGeom>
          <a:noFill/>
          <a:ln/>
        </p:spPr>
        <p:txBody>
          <a:bodyPr wrap="square" lIns="0" tIns="0" rIns="0" bIns="0" rtlCol="0" anchor="t"/>
          <a:lstStyle/>
          <a:p>
            <a:pPr indent="0" marL="0">
              <a:buNone/>
            </a:pPr>
            <a:r>
              <a:rPr lang="en-US" sz="1600" dirty="0">
                <a:solidFill>
                  <a:srgbClr val="1F2D2A"/>
                </a:solidFill>
                <a:latin typeface="+mn-lt" pitchFamily="34" charset="0"/>
                <a:ea typeface="+mn-lt" pitchFamily="34" charset="-122"/>
                <a:cs typeface="+mn-lt" pitchFamily="34" charset="-120"/>
              </a:rPr>
              <a:t>Applications per vacancy = total applications ÷ total open seats, within each category.</a:t>
            </a:r>
            <a:endParaRPr lang="en-US" sz="1600" dirty="0"/>
          </a:p>
        </p:txBody>
      </p:sp>
      <p:sp>
        <p:nvSpPr>
          <p:cNvPr id="8" name="Text 5"/>
          <p:cNvSpPr txBox="1"/>
          <p:nvPr/>
        </p:nvSpPr>
        <p:spPr>
          <a:xfrm>
            <a:off x="8183880" y="3931920"/>
            <a:ext cx="3200400" cy="1463040"/>
          </a:xfrm>
          <a:prstGeom prst="rect">
            <a:avLst/>
          </a:prstGeom>
          <a:noFill/>
          <a:ln/>
        </p:spPr>
        <p:txBody>
          <a:bodyPr wrap="square" lIns="0" tIns="0" rIns="0" bIns="0" rtlCol="0" anchor="t"/>
          <a:lstStyle/>
          <a:p>
            <a:pPr indent="0" marL="0">
              <a:buNone/>
            </a:pPr>
            <a:r>
              <a:rPr lang="en-US" sz="1600" dirty="0">
                <a:solidFill>
                  <a:srgbClr val="5B6B67"/>
                </a:solidFill>
                <a:latin typeface="+mn-lt" pitchFamily="34" charset="0"/>
                <a:ea typeface="+mn-lt" pitchFamily="34" charset="-122"/>
                <a:cs typeface="+mn-lt" pitchFamily="34" charset="-120"/>
              </a:rPr>
              <a:t>A rough guide to competition, based on the counts recorded on each advert.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LIVE DEMO</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Live dashboard: seven views</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11</a:t>
            </a:r>
            <a:endParaRPr lang="en-US" sz="1000" dirty="0"/>
          </a:p>
        </p:txBody>
      </p:sp>
      <p:sp>
        <p:nvSpPr>
          <p:cNvPr id="5" name="Shape 3"/>
          <p:cNvSpPr/>
          <p:nvPr/>
        </p:nvSpPr>
        <p:spPr>
          <a:xfrm>
            <a:off x="548640" y="1828800"/>
            <a:ext cx="2606040" cy="1920240"/>
          </a:xfrm>
          <a:prstGeom prst="roundRect">
            <a:avLst>
              <a:gd name="adj" fmla="val 5714"/>
            </a:avLst>
          </a:prstGeom>
          <a:solidFill>
            <a:srgbClr val="2F6B5F"/>
          </a:solidFill>
          <a:ln/>
        </p:spPr>
      </p:sp>
      <p:sp>
        <p:nvSpPr>
          <p:cNvPr id="6" name="Text 4"/>
          <p:cNvSpPr txBox="1"/>
          <p:nvPr/>
        </p:nvSpPr>
        <p:spPr>
          <a:xfrm>
            <a:off x="777240" y="2057400"/>
            <a:ext cx="2194560" cy="640080"/>
          </a:xfrm>
          <a:prstGeom prst="rect">
            <a:avLst/>
          </a:prstGeom>
          <a:noFill/>
          <a:ln/>
        </p:spPr>
        <p:txBody>
          <a:bodyPr wrap="square" lIns="0" tIns="0" rIns="0" bIns="0" rtlCol="0" anchor="t"/>
          <a:lstStyle/>
          <a:p>
            <a:pPr indent="0" marL="0">
              <a:buNone/>
            </a:pPr>
            <a:r>
              <a:rPr lang="en-US" sz="1700" b="1" dirty="0">
                <a:solidFill>
                  <a:srgbClr val="FFFFFF"/>
                </a:solidFill>
                <a:latin typeface="+mj-lt" pitchFamily="34" charset="0"/>
                <a:ea typeface="+mj-lt" pitchFamily="34" charset="-122"/>
                <a:cs typeface="+mj-lt" pitchFamily="34" charset="-120"/>
              </a:rPr>
              <a:t>Sidebar filters</a:t>
            </a:r>
            <a:endParaRPr lang="en-US" sz="1700" dirty="0"/>
          </a:p>
        </p:txBody>
      </p:sp>
      <p:sp>
        <p:nvSpPr>
          <p:cNvPr id="7" name="Text 5"/>
          <p:cNvSpPr txBox="1"/>
          <p:nvPr/>
        </p:nvSpPr>
        <p:spPr>
          <a:xfrm>
            <a:off x="777240" y="2743200"/>
            <a:ext cx="2194560" cy="868680"/>
          </a:xfrm>
          <a:prstGeom prst="rect">
            <a:avLst/>
          </a:prstGeom>
          <a:noFill/>
          <a:ln/>
        </p:spPr>
        <p:txBody>
          <a:bodyPr wrap="square" lIns="0" tIns="0" rIns="0" bIns="0" rtlCol="0" anchor="t"/>
          <a:lstStyle/>
          <a:p>
            <a:pPr indent="0" marL="0">
              <a:buNone/>
            </a:pPr>
            <a:r>
              <a:rPr lang="en-US" sz="1300" dirty="0">
                <a:solidFill>
                  <a:srgbClr val="D9EBE6"/>
                </a:solidFill>
                <a:latin typeface="+mn-lt" pitchFamily="34" charset="0"/>
                <a:ea typeface="+mn-lt" pitchFamily="34" charset="-122"/>
                <a:cs typeface="+mn-lt" pitchFamily="34" charset="-120"/>
              </a:rPr>
              <a:t>Industry, career level, employment type</a:t>
            </a:r>
            <a:endParaRPr lang="en-US" sz="1300" dirty="0"/>
          </a:p>
        </p:txBody>
      </p:sp>
      <p:sp>
        <p:nvSpPr>
          <p:cNvPr id="8" name="Shape 6"/>
          <p:cNvSpPr/>
          <p:nvPr/>
        </p:nvSpPr>
        <p:spPr>
          <a:xfrm>
            <a:off x="3337560" y="1828800"/>
            <a:ext cx="2606040" cy="1920240"/>
          </a:xfrm>
          <a:prstGeom prst="roundRect">
            <a:avLst>
              <a:gd name="adj" fmla="val 5714"/>
            </a:avLst>
          </a:prstGeom>
          <a:solidFill>
            <a:srgbClr val="EEF4F2"/>
          </a:solidFill>
          <a:ln/>
        </p:spPr>
      </p:sp>
      <p:sp>
        <p:nvSpPr>
          <p:cNvPr id="9" name="Text 7"/>
          <p:cNvSpPr txBox="1"/>
          <p:nvPr/>
        </p:nvSpPr>
        <p:spPr>
          <a:xfrm>
            <a:off x="3566160" y="2057400"/>
            <a:ext cx="2194560" cy="640080"/>
          </a:xfrm>
          <a:prstGeom prst="rect">
            <a:avLst/>
          </a:prstGeom>
          <a:noFill/>
          <a:ln/>
        </p:spPr>
        <p:txBody>
          <a:bodyPr wrap="square" lIns="0" tIns="0" rIns="0" bIns="0" rtlCol="0" anchor="t"/>
          <a:lstStyle/>
          <a:p>
            <a:pPr indent="0" marL="0">
              <a:buNone/>
            </a:pPr>
            <a:r>
              <a:rPr lang="en-US" sz="1700" b="1" dirty="0">
                <a:solidFill>
                  <a:srgbClr val="2F6B5F"/>
                </a:solidFill>
                <a:latin typeface="+mj-lt" pitchFamily="34" charset="0"/>
                <a:ea typeface="+mj-lt" pitchFamily="34" charset="-122"/>
                <a:cs typeface="+mj-lt" pitchFamily="34" charset="-120"/>
              </a:rPr>
              <a:t>Overview</a:t>
            </a:r>
            <a:endParaRPr lang="en-US" sz="1700" dirty="0"/>
          </a:p>
        </p:txBody>
      </p:sp>
      <p:sp>
        <p:nvSpPr>
          <p:cNvPr id="10" name="Text 8"/>
          <p:cNvSpPr txBox="1"/>
          <p:nvPr/>
        </p:nvSpPr>
        <p:spPr>
          <a:xfrm>
            <a:off x="3566160" y="2743200"/>
            <a:ext cx="2194560" cy="868680"/>
          </a:xfrm>
          <a:prstGeom prst="rect">
            <a:avLst/>
          </a:prstGeom>
          <a:noFill/>
          <a:ln/>
        </p:spPr>
        <p:txBody>
          <a:bodyPr wrap="square" lIns="0" tIns="0" rIns="0" bIns="0" rtlCol="0" anchor="t"/>
          <a:lstStyle/>
          <a:p>
            <a:pPr indent="0" marL="0">
              <a:buNone/>
            </a:pPr>
            <a:r>
              <a:rPr lang="en-US" sz="1300" dirty="0">
                <a:solidFill>
                  <a:srgbClr val="5B6B67"/>
                </a:solidFill>
                <a:latin typeface="+mn-lt" pitchFamily="34" charset="0"/>
                <a:ea typeface="+mn-lt" pitchFamily="34" charset="-122"/>
                <a:cs typeface="+mn-lt" pitchFamily="34" charset="-120"/>
              </a:rPr>
              <a:t>Four summary cards, top titles, postings by category</a:t>
            </a:r>
            <a:endParaRPr lang="en-US" sz="1300" dirty="0"/>
          </a:p>
        </p:txBody>
      </p:sp>
      <p:sp>
        <p:nvSpPr>
          <p:cNvPr id="11" name="Shape 9"/>
          <p:cNvSpPr/>
          <p:nvPr/>
        </p:nvSpPr>
        <p:spPr>
          <a:xfrm>
            <a:off x="6126480" y="1828800"/>
            <a:ext cx="2606040" cy="1920240"/>
          </a:xfrm>
          <a:prstGeom prst="roundRect">
            <a:avLst>
              <a:gd name="adj" fmla="val 5714"/>
            </a:avLst>
          </a:prstGeom>
          <a:solidFill>
            <a:srgbClr val="EEF4F2"/>
          </a:solidFill>
          <a:ln/>
        </p:spPr>
      </p:sp>
      <p:sp>
        <p:nvSpPr>
          <p:cNvPr id="12" name="Text 10"/>
          <p:cNvSpPr txBox="1"/>
          <p:nvPr/>
        </p:nvSpPr>
        <p:spPr>
          <a:xfrm>
            <a:off x="6355080" y="2057400"/>
            <a:ext cx="2194560" cy="640080"/>
          </a:xfrm>
          <a:prstGeom prst="rect">
            <a:avLst/>
          </a:prstGeom>
          <a:noFill/>
          <a:ln/>
        </p:spPr>
        <p:txBody>
          <a:bodyPr wrap="square" lIns="0" tIns="0" rIns="0" bIns="0" rtlCol="0" anchor="t"/>
          <a:lstStyle/>
          <a:p>
            <a:pPr indent="0" marL="0">
              <a:buNone/>
            </a:pPr>
            <a:r>
              <a:rPr lang="en-US" sz="1700" b="1" dirty="0">
                <a:solidFill>
                  <a:srgbClr val="2F6B5F"/>
                </a:solidFill>
                <a:latin typeface="+mj-lt" pitchFamily="34" charset="0"/>
                <a:ea typeface="+mj-lt" pitchFamily="34" charset="-122"/>
                <a:cs typeface="+mj-lt" pitchFamily="34" charset="-120"/>
              </a:rPr>
              <a:t>Salary</a:t>
            </a:r>
            <a:endParaRPr lang="en-US" sz="1700" dirty="0"/>
          </a:p>
        </p:txBody>
      </p:sp>
      <p:sp>
        <p:nvSpPr>
          <p:cNvPr id="13" name="Text 11"/>
          <p:cNvSpPr txBox="1"/>
          <p:nvPr/>
        </p:nvSpPr>
        <p:spPr>
          <a:xfrm>
            <a:off x="6355080" y="2743200"/>
            <a:ext cx="2194560" cy="868680"/>
          </a:xfrm>
          <a:prstGeom prst="rect">
            <a:avLst/>
          </a:prstGeom>
          <a:noFill/>
          <a:ln/>
        </p:spPr>
        <p:txBody>
          <a:bodyPr wrap="square" lIns="0" tIns="0" rIns="0" bIns="0" rtlCol="0" anchor="t"/>
          <a:lstStyle/>
          <a:p>
            <a:pPr indent="0" marL="0">
              <a:buNone/>
            </a:pPr>
            <a:r>
              <a:rPr lang="en-US" sz="1300" dirty="0">
                <a:solidFill>
                  <a:srgbClr val="5B6B67"/>
                </a:solidFill>
                <a:latin typeface="+mn-lt" pitchFamily="34" charset="0"/>
                <a:ea typeface="+mn-lt" pitchFamily="34" charset="-122"/>
                <a:cs typeface="+mn-lt" pitchFamily="34" charset="-120"/>
              </a:rPr>
              <a:t>Median advertised pay by category</a:t>
            </a:r>
            <a:endParaRPr lang="en-US" sz="1300" dirty="0"/>
          </a:p>
        </p:txBody>
      </p:sp>
      <p:sp>
        <p:nvSpPr>
          <p:cNvPr id="14" name="Shape 12"/>
          <p:cNvSpPr/>
          <p:nvPr/>
        </p:nvSpPr>
        <p:spPr>
          <a:xfrm>
            <a:off x="8915400" y="1828800"/>
            <a:ext cx="2606040" cy="1920240"/>
          </a:xfrm>
          <a:prstGeom prst="roundRect">
            <a:avLst>
              <a:gd name="adj" fmla="val 5714"/>
            </a:avLst>
          </a:prstGeom>
          <a:solidFill>
            <a:srgbClr val="EEF4F2"/>
          </a:solidFill>
          <a:ln/>
        </p:spPr>
      </p:sp>
      <p:sp>
        <p:nvSpPr>
          <p:cNvPr id="15" name="Text 13"/>
          <p:cNvSpPr txBox="1"/>
          <p:nvPr/>
        </p:nvSpPr>
        <p:spPr>
          <a:xfrm>
            <a:off x="9144000" y="2057400"/>
            <a:ext cx="2194560" cy="640080"/>
          </a:xfrm>
          <a:prstGeom prst="rect">
            <a:avLst/>
          </a:prstGeom>
          <a:noFill/>
          <a:ln/>
        </p:spPr>
        <p:txBody>
          <a:bodyPr wrap="square" lIns="0" tIns="0" rIns="0" bIns="0" rtlCol="0" anchor="t"/>
          <a:lstStyle/>
          <a:p>
            <a:pPr indent="0" marL="0">
              <a:buNone/>
            </a:pPr>
            <a:r>
              <a:rPr lang="en-US" sz="1700" b="1" dirty="0">
                <a:solidFill>
                  <a:srgbClr val="2F6B5F"/>
                </a:solidFill>
                <a:latin typeface="+mj-lt" pitchFamily="34" charset="0"/>
                <a:ea typeface="+mj-lt" pitchFamily="34" charset="-122"/>
                <a:cs typeface="+mj-lt" pitchFamily="34" charset="-120"/>
              </a:rPr>
              <a:t>Trends</a:t>
            </a:r>
            <a:endParaRPr lang="en-US" sz="1700" dirty="0"/>
          </a:p>
        </p:txBody>
      </p:sp>
      <p:sp>
        <p:nvSpPr>
          <p:cNvPr id="16" name="Text 14"/>
          <p:cNvSpPr txBox="1"/>
          <p:nvPr/>
        </p:nvSpPr>
        <p:spPr>
          <a:xfrm>
            <a:off x="9144000" y="2743200"/>
            <a:ext cx="2194560" cy="868680"/>
          </a:xfrm>
          <a:prstGeom prst="rect">
            <a:avLst/>
          </a:prstGeom>
          <a:noFill/>
          <a:ln/>
        </p:spPr>
        <p:txBody>
          <a:bodyPr wrap="square" lIns="0" tIns="0" rIns="0" bIns="0" rtlCol="0" anchor="t"/>
          <a:lstStyle/>
          <a:p>
            <a:pPr indent="0" marL="0">
              <a:buNone/>
            </a:pPr>
            <a:r>
              <a:rPr lang="en-US" sz="1300" dirty="0">
                <a:solidFill>
                  <a:srgbClr val="5B6B67"/>
                </a:solidFill>
                <a:latin typeface="+mn-lt" pitchFamily="34" charset="0"/>
                <a:ea typeface="+mn-lt" pitchFamily="34" charset="-122"/>
                <a:cs typeface="+mn-lt" pitchFamily="34" charset="-120"/>
              </a:rPr>
              <a:t>Postings by month, from May 2023 onward</a:t>
            </a:r>
            <a:endParaRPr lang="en-US" sz="1300" dirty="0"/>
          </a:p>
        </p:txBody>
      </p:sp>
      <p:sp>
        <p:nvSpPr>
          <p:cNvPr id="17" name="Shape 15"/>
          <p:cNvSpPr/>
          <p:nvPr/>
        </p:nvSpPr>
        <p:spPr>
          <a:xfrm>
            <a:off x="548640" y="3977640"/>
            <a:ext cx="2606040" cy="1920240"/>
          </a:xfrm>
          <a:prstGeom prst="roundRect">
            <a:avLst>
              <a:gd name="adj" fmla="val 5714"/>
            </a:avLst>
          </a:prstGeom>
          <a:solidFill>
            <a:srgbClr val="EEF4F2"/>
          </a:solidFill>
          <a:ln/>
        </p:spPr>
      </p:sp>
      <p:sp>
        <p:nvSpPr>
          <p:cNvPr id="18" name="Text 16"/>
          <p:cNvSpPr txBox="1"/>
          <p:nvPr/>
        </p:nvSpPr>
        <p:spPr>
          <a:xfrm>
            <a:off x="777240" y="4206240"/>
            <a:ext cx="2194560" cy="640080"/>
          </a:xfrm>
          <a:prstGeom prst="rect">
            <a:avLst/>
          </a:prstGeom>
          <a:noFill/>
          <a:ln/>
        </p:spPr>
        <p:txBody>
          <a:bodyPr wrap="square" lIns="0" tIns="0" rIns="0" bIns="0" rtlCol="0" anchor="t"/>
          <a:lstStyle/>
          <a:p>
            <a:pPr indent="0" marL="0">
              <a:buNone/>
            </a:pPr>
            <a:r>
              <a:rPr lang="en-US" sz="1700" b="1" dirty="0">
                <a:solidFill>
                  <a:srgbClr val="2F6B5F"/>
                </a:solidFill>
                <a:latin typeface="+mj-lt" pitchFamily="34" charset="0"/>
                <a:ea typeface="+mj-lt" pitchFamily="34" charset="-122"/>
                <a:cs typeface="+mj-lt" pitchFamily="34" charset="-120"/>
              </a:rPr>
              <a:t>Demand vs competition</a:t>
            </a:r>
            <a:endParaRPr lang="en-US" sz="1700" dirty="0"/>
          </a:p>
        </p:txBody>
      </p:sp>
      <p:sp>
        <p:nvSpPr>
          <p:cNvPr id="19" name="Text 17"/>
          <p:cNvSpPr txBox="1"/>
          <p:nvPr/>
        </p:nvSpPr>
        <p:spPr>
          <a:xfrm>
            <a:off x="777240" y="4892040"/>
            <a:ext cx="2194560" cy="868680"/>
          </a:xfrm>
          <a:prstGeom prst="rect">
            <a:avLst/>
          </a:prstGeom>
          <a:noFill/>
          <a:ln/>
        </p:spPr>
        <p:txBody>
          <a:bodyPr wrap="square" lIns="0" tIns="0" rIns="0" bIns="0" rtlCol="0" anchor="t"/>
          <a:lstStyle/>
          <a:p>
            <a:pPr indent="0" marL="0">
              <a:buNone/>
            </a:pPr>
            <a:r>
              <a:rPr lang="en-US" sz="1300" dirty="0">
                <a:solidFill>
                  <a:srgbClr val="5B6B67"/>
                </a:solidFill>
                <a:latin typeface="+mn-lt" pitchFamily="34" charset="0"/>
                <a:ea typeface="+mn-lt" pitchFamily="34" charset="-122"/>
                <a:cs typeface="+mn-lt" pitchFamily="34" charset="-120"/>
              </a:rPr>
              <a:t>Postings against applications per vacancy</a:t>
            </a:r>
            <a:endParaRPr lang="en-US" sz="1300" dirty="0"/>
          </a:p>
        </p:txBody>
      </p:sp>
      <p:sp>
        <p:nvSpPr>
          <p:cNvPr id="20" name="Shape 18"/>
          <p:cNvSpPr/>
          <p:nvPr/>
        </p:nvSpPr>
        <p:spPr>
          <a:xfrm>
            <a:off x="3337560" y="3977640"/>
            <a:ext cx="2606040" cy="1920240"/>
          </a:xfrm>
          <a:prstGeom prst="roundRect">
            <a:avLst>
              <a:gd name="adj" fmla="val 5714"/>
            </a:avLst>
          </a:prstGeom>
          <a:solidFill>
            <a:srgbClr val="EEF4F2"/>
          </a:solidFill>
          <a:ln/>
        </p:spPr>
      </p:sp>
      <p:sp>
        <p:nvSpPr>
          <p:cNvPr id="21" name="Text 19"/>
          <p:cNvSpPr txBox="1"/>
          <p:nvPr/>
        </p:nvSpPr>
        <p:spPr>
          <a:xfrm>
            <a:off x="3566160" y="4206240"/>
            <a:ext cx="2194560" cy="640080"/>
          </a:xfrm>
          <a:prstGeom prst="rect">
            <a:avLst/>
          </a:prstGeom>
          <a:noFill/>
          <a:ln/>
        </p:spPr>
        <p:txBody>
          <a:bodyPr wrap="square" lIns="0" tIns="0" rIns="0" bIns="0" rtlCol="0" anchor="t"/>
          <a:lstStyle/>
          <a:p>
            <a:pPr indent="0" marL="0">
              <a:buNone/>
            </a:pPr>
            <a:r>
              <a:rPr lang="en-US" sz="1700" b="1" dirty="0">
                <a:solidFill>
                  <a:srgbClr val="2F6B5F"/>
                </a:solidFill>
                <a:latin typeface="+mj-lt" pitchFamily="34" charset="0"/>
                <a:ea typeface="+mj-lt" pitchFamily="34" charset="-122"/>
                <a:cs typeface="+mj-lt" pitchFamily="34" charset="-120"/>
              </a:rPr>
              <a:t>Skills</a:t>
            </a:r>
            <a:endParaRPr lang="en-US" sz="1700" dirty="0"/>
          </a:p>
        </p:txBody>
      </p:sp>
      <p:sp>
        <p:nvSpPr>
          <p:cNvPr id="22" name="Text 20"/>
          <p:cNvSpPr txBox="1"/>
          <p:nvPr/>
        </p:nvSpPr>
        <p:spPr>
          <a:xfrm>
            <a:off x="3566160" y="4892040"/>
            <a:ext cx="2194560" cy="868680"/>
          </a:xfrm>
          <a:prstGeom prst="rect">
            <a:avLst/>
          </a:prstGeom>
          <a:noFill/>
          <a:ln/>
        </p:spPr>
        <p:txBody>
          <a:bodyPr wrap="square" lIns="0" tIns="0" rIns="0" bIns="0" rtlCol="0" anchor="t"/>
          <a:lstStyle/>
          <a:p>
            <a:pPr indent="0" marL="0">
              <a:buNone/>
            </a:pPr>
            <a:r>
              <a:rPr lang="en-US" sz="1300" dirty="0">
                <a:solidFill>
                  <a:srgbClr val="5B6B67"/>
                </a:solidFill>
                <a:latin typeface="+mn-lt" pitchFamily="34" charset="0"/>
                <a:ea typeface="+mn-lt" pitchFamily="34" charset="-122"/>
                <a:cs typeface="+mn-lt" pitchFamily="34" charset="-120"/>
              </a:rPr>
              <a:t>Salary premium for title keywords</a:t>
            </a:r>
            <a:endParaRPr lang="en-US" sz="1300" dirty="0"/>
          </a:p>
        </p:txBody>
      </p:sp>
      <p:sp>
        <p:nvSpPr>
          <p:cNvPr id="23" name="Shape 21"/>
          <p:cNvSpPr/>
          <p:nvPr/>
        </p:nvSpPr>
        <p:spPr>
          <a:xfrm>
            <a:off x="6126480" y="3977640"/>
            <a:ext cx="2606040" cy="1920240"/>
          </a:xfrm>
          <a:prstGeom prst="roundRect">
            <a:avLst>
              <a:gd name="adj" fmla="val 5714"/>
            </a:avLst>
          </a:prstGeom>
          <a:solidFill>
            <a:srgbClr val="EEF4F2"/>
          </a:solidFill>
          <a:ln/>
        </p:spPr>
      </p:sp>
      <p:sp>
        <p:nvSpPr>
          <p:cNvPr id="24" name="Text 22"/>
          <p:cNvSpPr txBox="1"/>
          <p:nvPr/>
        </p:nvSpPr>
        <p:spPr>
          <a:xfrm>
            <a:off x="6355080" y="4206240"/>
            <a:ext cx="2194560" cy="640080"/>
          </a:xfrm>
          <a:prstGeom prst="rect">
            <a:avLst/>
          </a:prstGeom>
          <a:noFill/>
          <a:ln/>
        </p:spPr>
        <p:txBody>
          <a:bodyPr wrap="square" lIns="0" tIns="0" rIns="0" bIns="0" rtlCol="0" anchor="t"/>
          <a:lstStyle/>
          <a:p>
            <a:pPr indent="0" marL="0">
              <a:buNone/>
            </a:pPr>
            <a:r>
              <a:rPr lang="en-US" sz="1700" b="1" dirty="0">
                <a:solidFill>
                  <a:srgbClr val="2F6B5F"/>
                </a:solidFill>
                <a:latin typeface="+mj-lt" pitchFamily="34" charset="0"/>
                <a:ea typeface="+mj-lt" pitchFamily="34" charset="-122"/>
                <a:cs typeface="+mj-lt" pitchFamily="34" charset="-120"/>
              </a:rPr>
              <a:t>Career recommender</a:t>
            </a:r>
            <a:endParaRPr lang="en-US" sz="1700" dirty="0"/>
          </a:p>
        </p:txBody>
      </p:sp>
      <p:sp>
        <p:nvSpPr>
          <p:cNvPr id="25" name="Text 23"/>
          <p:cNvSpPr txBox="1"/>
          <p:nvPr/>
        </p:nvSpPr>
        <p:spPr>
          <a:xfrm>
            <a:off x="6355080" y="4892040"/>
            <a:ext cx="2194560" cy="868680"/>
          </a:xfrm>
          <a:prstGeom prst="rect">
            <a:avLst/>
          </a:prstGeom>
          <a:noFill/>
          <a:ln/>
        </p:spPr>
        <p:txBody>
          <a:bodyPr wrap="square" lIns="0" tIns="0" rIns="0" bIns="0" rtlCol="0" anchor="t"/>
          <a:lstStyle/>
          <a:p>
            <a:pPr indent="0" marL="0">
              <a:buNone/>
            </a:pPr>
            <a:r>
              <a:rPr lang="en-US" sz="1300" dirty="0">
                <a:solidFill>
                  <a:srgbClr val="5B6B67"/>
                </a:solidFill>
                <a:latin typeface="+mn-lt" pitchFamily="34" charset="0"/>
                <a:ea typeface="+mn-lt" pitchFamily="34" charset="-122"/>
                <a:cs typeface="+mn-lt" pitchFamily="34" charset="-120"/>
              </a:rPr>
              <a:t>Rank career tracks by the weights you set</a:t>
            </a:r>
            <a:endParaRPr lang="en-US" sz="1300" dirty="0"/>
          </a:p>
        </p:txBody>
      </p:sp>
      <p:sp>
        <p:nvSpPr>
          <p:cNvPr id="26" name="Shape 24"/>
          <p:cNvSpPr/>
          <p:nvPr/>
        </p:nvSpPr>
        <p:spPr>
          <a:xfrm>
            <a:off x="8915400" y="3977640"/>
            <a:ext cx="2606040" cy="1920240"/>
          </a:xfrm>
          <a:prstGeom prst="roundRect">
            <a:avLst>
              <a:gd name="adj" fmla="val 5714"/>
            </a:avLst>
          </a:prstGeom>
          <a:solidFill>
            <a:srgbClr val="EEF4F2"/>
          </a:solidFill>
          <a:ln/>
        </p:spPr>
      </p:sp>
      <p:sp>
        <p:nvSpPr>
          <p:cNvPr id="27" name="Text 25"/>
          <p:cNvSpPr txBox="1"/>
          <p:nvPr/>
        </p:nvSpPr>
        <p:spPr>
          <a:xfrm>
            <a:off x="9144000" y="4206240"/>
            <a:ext cx="2194560" cy="640080"/>
          </a:xfrm>
          <a:prstGeom prst="rect">
            <a:avLst/>
          </a:prstGeom>
          <a:noFill/>
          <a:ln/>
        </p:spPr>
        <p:txBody>
          <a:bodyPr wrap="square" lIns="0" tIns="0" rIns="0" bIns="0" rtlCol="0" anchor="t"/>
          <a:lstStyle/>
          <a:p>
            <a:pPr indent="0" marL="0">
              <a:buNone/>
            </a:pPr>
            <a:r>
              <a:rPr lang="en-US" sz="1700" b="1" dirty="0">
                <a:solidFill>
                  <a:srgbClr val="2F6B5F"/>
                </a:solidFill>
                <a:latin typeface="+mj-lt" pitchFamily="34" charset="0"/>
                <a:ea typeface="+mj-lt" pitchFamily="34" charset="-122"/>
                <a:cs typeface="+mj-lt" pitchFamily="34" charset="-120"/>
              </a:rPr>
              <a:t>Data quality</a:t>
            </a:r>
            <a:endParaRPr lang="en-US" sz="1700" dirty="0"/>
          </a:p>
        </p:txBody>
      </p:sp>
      <p:sp>
        <p:nvSpPr>
          <p:cNvPr id="28" name="Text 26"/>
          <p:cNvSpPr txBox="1"/>
          <p:nvPr/>
        </p:nvSpPr>
        <p:spPr>
          <a:xfrm>
            <a:off x="9144000" y="4892040"/>
            <a:ext cx="2194560" cy="868680"/>
          </a:xfrm>
          <a:prstGeom prst="rect">
            <a:avLst/>
          </a:prstGeom>
          <a:noFill/>
          <a:ln/>
        </p:spPr>
        <p:txBody>
          <a:bodyPr wrap="square" lIns="0" tIns="0" rIns="0" bIns="0" rtlCol="0" anchor="t"/>
          <a:lstStyle/>
          <a:p>
            <a:pPr indent="0" marL="0">
              <a:buNone/>
            </a:pPr>
            <a:r>
              <a:rPr lang="en-US" sz="1300" dirty="0">
                <a:solidFill>
                  <a:srgbClr val="5B6B67"/>
                </a:solidFill>
                <a:latin typeface="+mn-lt" pitchFamily="34" charset="0"/>
                <a:ea typeface="+mn-lt" pitchFamily="34" charset="-122"/>
                <a:cs typeface="+mn-lt" pitchFamily="34" charset="-120"/>
              </a:rPr>
              <a:t>Missing salaries, unreadable dates, duplicates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TRENDS</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Trends: steady volume from May 2023, then a sharp drop</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12</a:t>
            </a:r>
            <a:endParaRPr lang="en-US" sz="1000" dirty="0"/>
          </a:p>
        </p:txBody>
      </p:sp>
      <p:graphicFrame>
        <p:nvGraphicFramePr>
          <p:cNvPr id="5" name="Chart 0" descr=""/>
          <p:cNvGraphicFramePr/>
          <p:nvPr/>
        </p:nvGraphicFramePr>
        <p:xfrm>
          <a:off x="548640" y="1828800"/>
          <a:ext cx="749808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412480" y="1920240"/>
            <a:ext cx="3200400" cy="1828800"/>
          </a:xfrm>
          <a:prstGeom prst="roundRect">
            <a:avLst>
              <a:gd name="adj" fmla="val 6000"/>
            </a:avLst>
          </a:prstGeom>
          <a:solidFill>
            <a:srgbClr val="EEF4F2"/>
          </a:solidFill>
          <a:ln/>
        </p:spPr>
      </p:sp>
      <p:sp>
        <p:nvSpPr>
          <p:cNvPr id="7" name="Text 4"/>
          <p:cNvSpPr txBox="1"/>
          <p:nvPr/>
        </p:nvSpPr>
        <p:spPr>
          <a:xfrm>
            <a:off x="8686800" y="2057400"/>
            <a:ext cx="2743200" cy="731520"/>
          </a:xfrm>
          <a:prstGeom prst="rect">
            <a:avLst/>
          </a:prstGeom>
          <a:noFill/>
          <a:ln/>
        </p:spPr>
        <p:txBody>
          <a:bodyPr wrap="square" lIns="0" tIns="0" rIns="0" bIns="0" rtlCol="0" anchor="t"/>
          <a:lstStyle/>
          <a:p>
            <a:pPr indent="0" marL="0">
              <a:buNone/>
            </a:pPr>
            <a:r>
              <a:rPr lang="en-US" sz="4000" b="1" dirty="0">
                <a:solidFill>
                  <a:srgbClr val="2F6B5F"/>
                </a:solidFill>
                <a:latin typeface="+mj-lt" pitchFamily="34" charset="0"/>
                <a:ea typeface="+mj-lt" pitchFamily="34" charset="-122"/>
                <a:cs typeface="+mj-lt" pitchFamily="34" charset="-120"/>
              </a:rPr>
              <a:t>58k–79k</a:t>
            </a:r>
            <a:endParaRPr lang="en-US" sz="4000" dirty="0"/>
          </a:p>
        </p:txBody>
      </p:sp>
      <p:sp>
        <p:nvSpPr>
          <p:cNvPr id="8" name="Text 5"/>
          <p:cNvSpPr txBox="1"/>
          <p:nvPr/>
        </p:nvSpPr>
        <p:spPr>
          <a:xfrm>
            <a:off x="8686800" y="2880360"/>
            <a:ext cx="2743200" cy="82296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postings a month, May 2023 to May 2024</a:t>
            </a:r>
            <a:endParaRPr lang="en-US" sz="1400" dirty="0"/>
          </a:p>
        </p:txBody>
      </p:sp>
      <p:sp>
        <p:nvSpPr>
          <p:cNvPr id="9" name="Shape 6"/>
          <p:cNvSpPr/>
          <p:nvPr/>
        </p:nvSpPr>
        <p:spPr>
          <a:xfrm>
            <a:off x="8412480" y="4023360"/>
            <a:ext cx="3200400" cy="2103120"/>
          </a:xfrm>
          <a:prstGeom prst="roundRect">
            <a:avLst>
              <a:gd name="adj" fmla="val 5217"/>
            </a:avLst>
          </a:prstGeom>
          <a:solidFill>
            <a:srgbClr val="EEF4F2"/>
          </a:solidFill>
          <a:ln/>
        </p:spPr>
      </p:sp>
      <p:sp>
        <p:nvSpPr>
          <p:cNvPr id="10" name="Text 7"/>
          <p:cNvSpPr txBox="1"/>
          <p:nvPr/>
        </p:nvSpPr>
        <p:spPr>
          <a:xfrm>
            <a:off x="8686800" y="4160520"/>
            <a:ext cx="2743200" cy="731520"/>
          </a:xfrm>
          <a:prstGeom prst="rect">
            <a:avLst/>
          </a:prstGeom>
          <a:noFill/>
          <a:ln/>
        </p:spPr>
        <p:txBody>
          <a:bodyPr wrap="square" lIns="0" tIns="0" rIns="0" bIns="0" rtlCol="0" anchor="t"/>
          <a:lstStyle/>
          <a:p>
            <a:pPr indent="0" marL="0">
              <a:buNone/>
            </a:pPr>
            <a:r>
              <a:rPr lang="en-US" sz="4000" b="1" dirty="0">
                <a:solidFill>
                  <a:srgbClr val="D18B47"/>
                </a:solidFill>
                <a:latin typeface="+mj-lt" pitchFamily="34" charset="0"/>
                <a:ea typeface="+mj-lt" pitchFamily="34" charset="-122"/>
                <a:cs typeface="+mj-lt" pitchFamily="34" charset="-120"/>
              </a:rPr>
              <a:t>10k–17k</a:t>
            </a:r>
            <a:endParaRPr lang="en-US" sz="4000" dirty="0"/>
          </a:p>
        </p:txBody>
      </p:sp>
      <p:sp>
        <p:nvSpPr>
          <p:cNvPr id="11" name="Text 8"/>
          <p:cNvSpPr txBox="1"/>
          <p:nvPr/>
        </p:nvSpPr>
        <p:spPr>
          <a:xfrm>
            <a:off x="8686800" y="4983480"/>
            <a:ext cx="2743200" cy="82296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postings a month from June 2024</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DEMAND VS COMPETITION</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Where to look first</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13</a:t>
            </a:r>
            <a:endParaRPr lang="en-US" sz="1000" dirty="0"/>
          </a:p>
        </p:txBody>
      </p:sp>
      <p:sp>
        <p:nvSpPr>
          <p:cNvPr id="5" name="Shape 3"/>
          <p:cNvSpPr/>
          <p:nvPr/>
        </p:nvSpPr>
        <p:spPr>
          <a:xfrm>
            <a:off x="548640" y="1920240"/>
            <a:ext cx="5394960" cy="3566160"/>
          </a:xfrm>
          <a:prstGeom prst="roundRect">
            <a:avLst>
              <a:gd name="adj" fmla="val 3077"/>
            </a:avLst>
          </a:prstGeom>
          <a:solidFill>
            <a:srgbClr val="EEF4F2"/>
          </a:solidFill>
          <a:ln/>
        </p:spPr>
      </p:sp>
      <p:sp>
        <p:nvSpPr>
          <p:cNvPr id="6" name="Shape 4"/>
          <p:cNvSpPr/>
          <p:nvPr/>
        </p:nvSpPr>
        <p:spPr>
          <a:xfrm>
            <a:off x="960120" y="2286000"/>
            <a:ext cx="274320" cy="274320"/>
          </a:xfrm>
          <a:prstGeom prst="ellipse">
            <a:avLst/>
          </a:prstGeom>
          <a:solidFill>
            <a:srgbClr val="2F6B5F"/>
          </a:solidFill>
          <a:ln/>
        </p:spPr>
      </p:sp>
      <p:sp>
        <p:nvSpPr>
          <p:cNvPr id="7" name="Text 5"/>
          <p:cNvSpPr txBox="1"/>
          <p:nvPr/>
        </p:nvSpPr>
        <p:spPr>
          <a:xfrm>
            <a:off x="1417320" y="2194560"/>
            <a:ext cx="4206240" cy="457200"/>
          </a:xfrm>
          <a:prstGeom prst="rect">
            <a:avLst/>
          </a:prstGeom>
          <a:noFill/>
          <a:ln/>
        </p:spPr>
        <p:txBody>
          <a:bodyPr wrap="square" lIns="0" tIns="0" rIns="0" bIns="0" rtlCol="0" anchor="t"/>
          <a:lstStyle/>
          <a:p>
            <a:pPr indent="0" marL="0">
              <a:buNone/>
            </a:pPr>
            <a:r>
              <a:rPr lang="en-US" sz="2200" b="1" dirty="0">
                <a:solidFill>
                  <a:srgbClr val="2F6B5F"/>
                </a:solidFill>
                <a:latin typeface="+mj-lt" pitchFamily="34" charset="0"/>
                <a:ea typeface="+mj-lt" pitchFamily="34" charset="-122"/>
                <a:cs typeface="+mj-lt" pitchFamily="34" charset="-120"/>
              </a:rPr>
              <a:t>Big and open</a:t>
            </a:r>
            <a:endParaRPr lang="en-US" sz="2200" dirty="0"/>
          </a:p>
        </p:txBody>
      </p:sp>
      <p:sp>
        <p:nvSpPr>
          <p:cNvPr id="8" name="Text 6"/>
          <p:cNvSpPr txBox="1"/>
          <p:nvPr/>
        </p:nvSpPr>
        <p:spPr>
          <a:xfrm>
            <a:off x="960120" y="2743200"/>
            <a:ext cx="4572000" cy="365760"/>
          </a:xfrm>
          <a:prstGeom prst="rect">
            <a:avLst/>
          </a:prstGeom>
          <a:noFill/>
          <a:ln/>
        </p:spPr>
        <p:txBody>
          <a:bodyPr wrap="square" lIns="0" tIns="0" rIns="0" bIns="0" rtlCol="0" anchor="ctr"/>
          <a:lstStyle/>
          <a:p>
            <a:pPr indent="0" marL="0">
              <a:buNone/>
            </a:pPr>
            <a:r>
              <a:rPr lang="en-US" sz="1500" dirty="0">
                <a:solidFill>
                  <a:srgbClr val="5B6B67"/>
                </a:solidFill>
                <a:latin typeface="+mn-lt" pitchFamily="34" charset="0"/>
                <a:ea typeface="+mn-lt" pitchFamily="34" charset="-122"/>
                <a:cs typeface="+mn-lt" pitchFamily="34" charset="-120"/>
              </a:rPr>
              <a:t>Many postings, few applicants per seat</a:t>
            </a:r>
            <a:endParaRPr lang="en-US" sz="1500" dirty="0"/>
          </a:p>
        </p:txBody>
      </p:sp>
      <p:sp>
        <p:nvSpPr>
          <p:cNvPr id="9" name="Text 7"/>
          <p:cNvSpPr txBox="1"/>
          <p:nvPr/>
        </p:nvSpPr>
        <p:spPr>
          <a:xfrm>
            <a:off x="960120" y="3291840"/>
            <a:ext cx="4572000" cy="2011680"/>
          </a:xfrm>
          <a:prstGeom prst="rect">
            <a:avLst/>
          </a:prstGeom>
          <a:noFill/>
          <a:ln/>
        </p:spPr>
        <p:txBody>
          <a:bodyPr wrap="square" lIns="0" tIns="0" rIns="0" bIns="0" rtlCol="0" anchor="t"/>
          <a:lstStyle/>
          <a:p>
            <a:pPr indent="0" marL="0">
              <a:spcAft>
                <a:spcPts val="800"/>
              </a:spcAft>
              <a:buNone/>
            </a:pPr>
            <a:r>
              <a:rPr lang="en-US" sz="1500" dirty="0">
                <a:solidFill>
                  <a:srgbClr val="1F2D2A"/>
                </a:solidFill>
                <a:latin typeface="+mn-lt" pitchFamily="34" charset="0"/>
                <a:ea typeface="+mn-lt" pitchFamily="34" charset="-122"/>
                <a:cs typeface="+mn-lt" pitchFamily="34" charset="-120"/>
              </a:rPr>
              <a:t>Customer Service: 111,785 postings, 0.48 per seat</a:t>
            </a:r>
            <a:endParaRPr lang="en-US" sz="1500" dirty="0"/>
          </a:p>
          <a:p>
            <a:pPr indent="0" marL="0">
              <a:spcAft>
                <a:spcPts val="800"/>
              </a:spcAft>
              <a:buNone/>
            </a:pPr>
            <a:r>
              <a:rPr lang="en-US" sz="1500" dirty="0">
                <a:solidFill>
                  <a:srgbClr val="1F2D2A"/>
                </a:solidFill>
                <a:latin typeface="+mn-lt" pitchFamily="34" charset="0"/>
                <a:ea typeface="+mn-lt" pitchFamily="34" charset="-122"/>
                <a:cs typeface="+mn-lt" pitchFamily="34" charset="-120"/>
              </a:rPr>
              <a:t>Sales / Retail: 105,067 postings, 0.52 per seat</a:t>
            </a:r>
            <a:endParaRPr lang="en-US" sz="1500" dirty="0"/>
          </a:p>
          <a:p>
            <a:pPr indent="0" marL="0">
              <a:spcAft>
                <a:spcPts val="800"/>
              </a:spcAft>
              <a:buNone/>
            </a:pPr>
            <a:r>
              <a:rPr lang="en-US" sz="1500" dirty="0">
                <a:solidFill>
                  <a:srgbClr val="1F2D2A"/>
                </a:solidFill>
                <a:latin typeface="+mn-lt" pitchFamily="34" charset="0"/>
                <a:ea typeface="+mn-lt" pitchFamily="34" charset="-122"/>
                <a:cs typeface="+mn-lt" pitchFamily="34" charset="-120"/>
              </a:rPr>
              <a:t>Healthcare / Pharmaceutical: 52,741 postings, 0.39 per seat</a:t>
            </a:r>
            <a:endParaRPr lang="en-US" sz="1500" dirty="0"/>
          </a:p>
        </p:txBody>
      </p:sp>
      <p:sp>
        <p:nvSpPr>
          <p:cNvPr id="10" name="Shape 8"/>
          <p:cNvSpPr/>
          <p:nvPr/>
        </p:nvSpPr>
        <p:spPr>
          <a:xfrm>
            <a:off x="6217920" y="1920240"/>
            <a:ext cx="5394960" cy="3566160"/>
          </a:xfrm>
          <a:prstGeom prst="roundRect">
            <a:avLst>
              <a:gd name="adj" fmla="val 3077"/>
            </a:avLst>
          </a:prstGeom>
          <a:solidFill>
            <a:srgbClr val="EEF4F2"/>
          </a:solidFill>
          <a:ln/>
        </p:spPr>
      </p:sp>
      <p:sp>
        <p:nvSpPr>
          <p:cNvPr id="11" name="Shape 9"/>
          <p:cNvSpPr/>
          <p:nvPr/>
        </p:nvSpPr>
        <p:spPr>
          <a:xfrm>
            <a:off x="6629400" y="2286000"/>
            <a:ext cx="274320" cy="274320"/>
          </a:xfrm>
          <a:prstGeom prst="ellipse">
            <a:avLst/>
          </a:prstGeom>
          <a:solidFill>
            <a:srgbClr val="D18B47"/>
          </a:solidFill>
          <a:ln/>
        </p:spPr>
      </p:sp>
      <p:sp>
        <p:nvSpPr>
          <p:cNvPr id="12" name="Text 10"/>
          <p:cNvSpPr txBox="1"/>
          <p:nvPr/>
        </p:nvSpPr>
        <p:spPr>
          <a:xfrm>
            <a:off x="7086600" y="2194560"/>
            <a:ext cx="4206240" cy="457200"/>
          </a:xfrm>
          <a:prstGeom prst="rect">
            <a:avLst/>
          </a:prstGeom>
          <a:noFill/>
          <a:ln/>
        </p:spPr>
        <p:txBody>
          <a:bodyPr wrap="square" lIns="0" tIns="0" rIns="0" bIns="0" rtlCol="0" anchor="t"/>
          <a:lstStyle/>
          <a:p>
            <a:pPr indent="0" marL="0">
              <a:buNone/>
            </a:pPr>
            <a:r>
              <a:rPr lang="en-US" sz="2200" b="1" dirty="0">
                <a:solidFill>
                  <a:srgbClr val="D18B47"/>
                </a:solidFill>
                <a:latin typeface="+mj-lt" pitchFamily="34" charset="0"/>
                <a:ea typeface="+mj-lt" pitchFamily="34" charset="-122"/>
                <a:cs typeface="+mj-lt" pitchFamily="34" charset="-120"/>
              </a:rPr>
              <a:t>Big and crowded</a:t>
            </a:r>
            <a:endParaRPr lang="en-US" sz="2200" dirty="0"/>
          </a:p>
        </p:txBody>
      </p:sp>
      <p:sp>
        <p:nvSpPr>
          <p:cNvPr id="13" name="Text 11"/>
          <p:cNvSpPr txBox="1"/>
          <p:nvPr/>
        </p:nvSpPr>
        <p:spPr>
          <a:xfrm>
            <a:off x="6629400" y="2743200"/>
            <a:ext cx="4572000" cy="365760"/>
          </a:xfrm>
          <a:prstGeom prst="rect">
            <a:avLst/>
          </a:prstGeom>
          <a:noFill/>
          <a:ln/>
        </p:spPr>
        <p:txBody>
          <a:bodyPr wrap="square" lIns="0" tIns="0" rIns="0" bIns="0" rtlCol="0" anchor="ctr"/>
          <a:lstStyle/>
          <a:p>
            <a:pPr indent="0" marL="0">
              <a:buNone/>
            </a:pPr>
            <a:r>
              <a:rPr lang="en-US" sz="1500" dirty="0">
                <a:solidFill>
                  <a:srgbClr val="5B6B67"/>
                </a:solidFill>
                <a:latin typeface="+mn-lt" pitchFamily="34" charset="0"/>
                <a:ea typeface="+mn-lt" pitchFamily="34" charset="-122"/>
                <a:cs typeface="+mn-lt" pitchFamily="34" charset="-120"/>
              </a:rPr>
              <a:t>Many postings, many applicants per seat</a:t>
            </a:r>
            <a:endParaRPr lang="en-US" sz="1500" dirty="0"/>
          </a:p>
        </p:txBody>
      </p:sp>
      <p:sp>
        <p:nvSpPr>
          <p:cNvPr id="14" name="Text 12"/>
          <p:cNvSpPr txBox="1"/>
          <p:nvPr/>
        </p:nvSpPr>
        <p:spPr>
          <a:xfrm>
            <a:off x="6629400" y="3291840"/>
            <a:ext cx="4572000" cy="2011680"/>
          </a:xfrm>
          <a:prstGeom prst="rect">
            <a:avLst/>
          </a:prstGeom>
          <a:noFill/>
          <a:ln/>
        </p:spPr>
        <p:txBody>
          <a:bodyPr wrap="square" lIns="0" tIns="0" rIns="0" bIns="0" rtlCol="0" anchor="t"/>
          <a:lstStyle/>
          <a:p>
            <a:pPr indent="0" marL="0">
              <a:spcAft>
                <a:spcPts val="800"/>
              </a:spcAft>
              <a:buNone/>
            </a:pPr>
            <a:r>
              <a:rPr lang="en-US" sz="1500" dirty="0">
                <a:solidFill>
                  <a:srgbClr val="1F2D2A"/>
                </a:solidFill>
                <a:latin typeface="+mn-lt" pitchFamily="34" charset="0"/>
                <a:ea typeface="+mn-lt" pitchFamily="34" charset="-122"/>
                <a:cs typeface="+mn-lt" pitchFamily="34" charset="-120"/>
              </a:rPr>
              <a:t>Banking and Finance: 62,000 postings, 1.70 per seat</a:t>
            </a:r>
            <a:endParaRPr lang="en-US" sz="1500" dirty="0"/>
          </a:p>
          <a:p>
            <a:pPr indent="0" marL="0">
              <a:spcAft>
                <a:spcPts val="800"/>
              </a:spcAft>
              <a:buNone/>
            </a:pPr>
            <a:r>
              <a:rPr lang="en-US" sz="1500" dirty="0">
                <a:solidFill>
                  <a:srgbClr val="1F2D2A"/>
                </a:solidFill>
                <a:latin typeface="+mn-lt" pitchFamily="34" charset="0"/>
                <a:ea typeface="+mn-lt" pitchFamily="34" charset="-122"/>
                <a:cs typeface="+mn-lt" pitchFamily="34" charset="-120"/>
              </a:rPr>
              <a:t>Marketing / Public Relations: 53,442 postings, 1.48 per seat</a:t>
            </a:r>
            <a:endParaRPr lang="en-US" sz="1500" dirty="0"/>
          </a:p>
          <a:p>
            <a:pPr indent="0" marL="0">
              <a:spcAft>
                <a:spcPts val="800"/>
              </a:spcAft>
              <a:buNone/>
            </a:pPr>
            <a:r>
              <a:rPr lang="en-US" sz="1500" dirty="0">
                <a:solidFill>
                  <a:srgbClr val="1F2D2A"/>
                </a:solidFill>
                <a:latin typeface="+mn-lt" pitchFamily="34" charset="0"/>
                <a:ea typeface="+mn-lt" pitchFamily="34" charset="-122"/>
                <a:cs typeface="+mn-lt" pitchFamily="34" charset="-120"/>
              </a:rPr>
              <a:t>Information Technology: 140,866 postings, 1.12 per seat</a:t>
            </a:r>
            <a:endParaRPr lang="en-US" sz="1500" dirty="0"/>
          </a:p>
        </p:txBody>
      </p:sp>
      <p:sp>
        <p:nvSpPr>
          <p:cNvPr id="15" name="Text 13"/>
          <p:cNvSpPr txBox="1"/>
          <p:nvPr/>
        </p:nvSpPr>
        <p:spPr>
          <a:xfrm>
            <a:off x="548640" y="5669280"/>
            <a:ext cx="11094415" cy="548640"/>
          </a:xfrm>
          <a:prstGeom prst="rect">
            <a:avLst/>
          </a:prstGeom>
          <a:noFill/>
          <a:ln/>
        </p:spPr>
        <p:txBody>
          <a:bodyPr wrap="square" lIns="0" tIns="0" rIns="0" bIns="0" rtlCol="0" anchor="ctr"/>
          <a:lstStyle/>
          <a:p>
            <a:pPr indent="0" marL="0">
              <a:buNone/>
            </a:pPr>
            <a:r>
              <a:rPr lang="en-US" sz="1200" dirty="0">
                <a:solidFill>
                  <a:srgbClr val="5B6B67"/>
                </a:solidFill>
                <a:latin typeface="+mn-lt" pitchFamily="34" charset="0"/>
                <a:ea typeface="+mn-lt" pitchFamily="34" charset="-122"/>
                <a:cs typeface="+mn-lt" pitchFamily="34" charset="-120"/>
              </a:rPr>
              <a:t>Splits are the medians of categories with at least 2,000 postings: 0.80 applications per vacancy and 20,221 postings. Categories with fewer postings are left out of the chart.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SKILLS</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Skills: title keywords linked to pay</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14</a:t>
            </a:r>
            <a:endParaRPr lang="en-US" sz="1000" dirty="0"/>
          </a:p>
        </p:txBody>
      </p:sp>
      <p:graphicFrame>
        <p:nvGraphicFramePr>
          <p:cNvPr id="5" name="Chart 0" descr=""/>
          <p:cNvGraphicFramePr/>
          <p:nvPr/>
        </p:nvGraphicFramePr>
        <p:xfrm>
          <a:off x="548640" y="18288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863840" y="1920240"/>
            <a:ext cx="3749040" cy="3931920"/>
          </a:xfrm>
          <a:prstGeom prst="roundRect">
            <a:avLst>
              <a:gd name="adj" fmla="val 2927"/>
            </a:avLst>
          </a:prstGeom>
          <a:solidFill>
            <a:srgbClr val="EEF4F2"/>
          </a:solidFill>
          <a:ln/>
        </p:spPr>
      </p:sp>
      <p:sp>
        <p:nvSpPr>
          <p:cNvPr id="7" name="Text 4"/>
          <p:cNvSpPr txBox="1"/>
          <p:nvPr/>
        </p:nvSpPr>
        <p:spPr>
          <a:xfrm>
            <a:off x="8183880" y="2194560"/>
            <a:ext cx="3200400" cy="731520"/>
          </a:xfrm>
          <a:prstGeom prst="rect">
            <a:avLst/>
          </a:prstGeom>
          <a:noFill/>
          <a:ln/>
        </p:spPr>
        <p:txBody>
          <a:bodyPr wrap="square" lIns="0" tIns="0" rIns="0" bIns="0" rtlCol="0" anchor="t"/>
          <a:lstStyle/>
          <a:p>
            <a:pPr indent="0" marL="0">
              <a:buNone/>
            </a:pPr>
            <a:r>
              <a:rPr lang="en-US" sz="4000" b="1" dirty="0">
                <a:solidFill>
                  <a:srgbClr val="2F6B5F"/>
                </a:solidFill>
                <a:latin typeface="+mj-lt" pitchFamily="34" charset="0"/>
                <a:ea typeface="+mj-lt" pitchFamily="34" charset="-122"/>
                <a:cs typeface="+mj-lt" pitchFamily="34" charset="-120"/>
              </a:rPr>
              <a:t>+124%</a:t>
            </a:r>
            <a:endParaRPr lang="en-US" sz="4000" dirty="0"/>
          </a:p>
        </p:txBody>
      </p:sp>
      <p:sp>
        <p:nvSpPr>
          <p:cNvPr id="8" name="Text 5"/>
          <p:cNvSpPr txBox="1"/>
          <p:nvPr/>
        </p:nvSpPr>
        <p:spPr>
          <a:xfrm>
            <a:off x="8183880" y="3017520"/>
            <a:ext cx="3200400" cy="82296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Machine learning / AI titles: median S$8,500, against the all-posting median.</a:t>
            </a:r>
            <a:endParaRPr lang="en-US" sz="1400" dirty="0"/>
          </a:p>
        </p:txBody>
      </p:sp>
      <p:sp>
        <p:nvSpPr>
          <p:cNvPr id="9" name="Text 6"/>
          <p:cNvSpPr txBox="1"/>
          <p:nvPr/>
        </p:nvSpPr>
        <p:spPr>
          <a:xfrm>
            <a:off x="8183880" y="4206240"/>
            <a:ext cx="3200400" cy="1463040"/>
          </a:xfrm>
          <a:prstGeom prst="rect">
            <a:avLst/>
          </a:prstGeom>
          <a:noFill/>
          <a:ln/>
        </p:spPr>
        <p:txBody>
          <a:bodyPr wrap="square" lIns="0" tIns="0" rIns="0" bIns="0" rtlCol="0" anchor="t"/>
          <a:lstStyle/>
          <a:p>
            <a:pPr indent="0" marL="0">
              <a:buNone/>
            </a:pPr>
            <a:r>
              <a:rPr lang="en-US" sz="1400" dirty="0">
                <a:solidFill>
                  <a:srgbClr val="5B6B67"/>
                </a:solidFill>
                <a:latin typeface="+mn-lt" pitchFamily="34" charset="0"/>
                <a:ea typeface="+mn-lt" pitchFamily="34" charset="-122"/>
                <a:cs typeface="+mn-lt" pitchFamily="34" charset="-120"/>
              </a:rPr>
              <a:t>Skills are read from job titles only, so this is an association, not proof that learning the skill raises pay.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CAREER RECOMMENDER</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Example tracks at default weights</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15</a:t>
            </a:r>
            <a:endParaRPr lang="en-US" sz="1000" dirty="0"/>
          </a:p>
        </p:txBody>
      </p:sp>
      <p:sp>
        <p:nvSpPr>
          <p:cNvPr id="5" name="Shape 3"/>
          <p:cNvSpPr/>
          <p:nvPr/>
        </p:nvSpPr>
        <p:spPr>
          <a:xfrm>
            <a:off x="548640" y="1920240"/>
            <a:ext cx="8229600" cy="960120"/>
          </a:xfrm>
          <a:prstGeom prst="roundRect">
            <a:avLst>
              <a:gd name="adj" fmla="val 11429"/>
            </a:avLst>
          </a:prstGeom>
          <a:solidFill>
            <a:srgbClr val="EEF4F2"/>
          </a:solidFill>
          <a:ln/>
        </p:spPr>
      </p:sp>
      <p:sp>
        <p:nvSpPr>
          <p:cNvPr id="6" name="Text 4"/>
          <p:cNvSpPr txBox="1"/>
          <p:nvPr/>
        </p:nvSpPr>
        <p:spPr>
          <a:xfrm>
            <a:off x="868680" y="2084832"/>
            <a:ext cx="7589520" cy="365760"/>
          </a:xfrm>
          <a:prstGeom prst="rect">
            <a:avLst/>
          </a:prstGeom>
          <a:noFill/>
          <a:ln/>
        </p:spPr>
        <p:txBody>
          <a:bodyPr wrap="square" lIns="0" tIns="0" rIns="0" bIns="0" rtlCol="0" anchor="t"/>
          <a:lstStyle/>
          <a:p>
            <a:pPr indent="0" marL="0">
              <a:buNone/>
            </a:pPr>
            <a:r>
              <a:rPr lang="en-US" sz="1900" b="1" dirty="0">
                <a:solidFill>
                  <a:srgbClr val="1F2D2A"/>
                </a:solidFill>
                <a:latin typeface="+mj-lt" pitchFamily="34" charset="0"/>
                <a:ea typeface="+mj-lt" pitchFamily="34" charset="-122"/>
                <a:cs typeface="+mj-lt" pitchFamily="34" charset="-120"/>
              </a:rPr>
              <a:t>Information Technology · Mid</a:t>
            </a:r>
            <a:endParaRPr lang="en-US" sz="1900" dirty="0"/>
          </a:p>
        </p:txBody>
      </p:sp>
      <p:sp>
        <p:nvSpPr>
          <p:cNvPr id="7" name="Text 5"/>
          <p:cNvSpPr txBox="1"/>
          <p:nvPr/>
        </p:nvSpPr>
        <p:spPr>
          <a:xfrm>
            <a:off x="868680" y="2468880"/>
            <a:ext cx="7589520" cy="320040"/>
          </a:xfrm>
          <a:prstGeom prst="rect">
            <a:avLst/>
          </a:prstGeom>
          <a:noFill/>
          <a:ln/>
        </p:spPr>
        <p:txBody>
          <a:bodyPr wrap="square" lIns="0" tIns="0" rIns="0" bIns="0" rtlCol="0" anchor="ctr"/>
          <a:lstStyle/>
          <a:p>
            <a:pPr indent="0" marL="0">
              <a:buNone/>
            </a:pPr>
            <a:r>
              <a:rPr lang="en-US" sz="1400" dirty="0">
                <a:solidFill>
                  <a:srgbClr val="5B6B67"/>
                </a:solidFill>
                <a:latin typeface="+mn-lt" pitchFamily="34" charset="0"/>
                <a:ea typeface="+mn-lt" pitchFamily="34" charset="-122"/>
                <a:cs typeface="+mn-lt" pitchFamily="34" charset="-120"/>
              </a:rPr>
              <a:t>72,757 postings · median S$6,500 · 0.91 applications per seat</a:t>
            </a:r>
            <a:endParaRPr lang="en-US" sz="1400" dirty="0"/>
          </a:p>
        </p:txBody>
      </p:sp>
      <p:sp>
        <p:nvSpPr>
          <p:cNvPr id="8" name="Shape 6"/>
          <p:cNvSpPr/>
          <p:nvPr/>
        </p:nvSpPr>
        <p:spPr>
          <a:xfrm>
            <a:off x="9144000" y="1920240"/>
            <a:ext cx="2499055" cy="960120"/>
          </a:xfrm>
          <a:prstGeom prst="roundRect">
            <a:avLst>
              <a:gd name="adj" fmla="val 11429"/>
            </a:avLst>
          </a:prstGeom>
          <a:solidFill>
            <a:srgbClr val="2F6B5F"/>
          </a:solidFill>
          <a:ln/>
        </p:spPr>
      </p:sp>
      <p:sp>
        <p:nvSpPr>
          <p:cNvPr id="9" name="Text 7"/>
          <p:cNvSpPr txBox="1"/>
          <p:nvPr/>
        </p:nvSpPr>
        <p:spPr>
          <a:xfrm>
            <a:off x="9144000" y="1920240"/>
            <a:ext cx="2499055" cy="960120"/>
          </a:xfrm>
          <a:prstGeom prst="rect">
            <a:avLst/>
          </a:prstGeom>
          <a:noFill/>
          <a:ln/>
        </p:spPr>
        <p:txBody>
          <a:bodyPr wrap="square" lIns="0" tIns="0" rIns="0" bIns="0" rtlCol="0" anchor="ctr"/>
          <a:lstStyle/>
          <a:p>
            <a:pPr algn="ctr" indent="0" marL="0">
              <a:buNone/>
            </a:pPr>
            <a:r>
              <a:rPr lang="en-US" sz="2200" b="1" dirty="0">
                <a:solidFill>
                  <a:srgbClr val="FFFFFF"/>
                </a:solidFill>
                <a:latin typeface="+mn-lt" pitchFamily="34" charset="0"/>
                <a:ea typeface="+mn-lt" pitchFamily="34" charset="-122"/>
                <a:cs typeface="+mn-lt" pitchFamily="34" charset="-120"/>
              </a:rPr>
              <a:t>Fit 73</a:t>
            </a:r>
            <a:endParaRPr lang="en-US" sz="2200" dirty="0"/>
          </a:p>
        </p:txBody>
      </p:sp>
      <p:sp>
        <p:nvSpPr>
          <p:cNvPr id="10" name="Shape 8"/>
          <p:cNvSpPr/>
          <p:nvPr/>
        </p:nvSpPr>
        <p:spPr>
          <a:xfrm>
            <a:off x="548640" y="3063240"/>
            <a:ext cx="8229600" cy="960120"/>
          </a:xfrm>
          <a:prstGeom prst="roundRect">
            <a:avLst>
              <a:gd name="adj" fmla="val 11429"/>
            </a:avLst>
          </a:prstGeom>
          <a:solidFill>
            <a:srgbClr val="EEF4F2"/>
          </a:solidFill>
          <a:ln/>
        </p:spPr>
      </p:sp>
      <p:sp>
        <p:nvSpPr>
          <p:cNvPr id="11" name="Text 9"/>
          <p:cNvSpPr txBox="1"/>
          <p:nvPr/>
        </p:nvSpPr>
        <p:spPr>
          <a:xfrm>
            <a:off x="868680" y="3227832"/>
            <a:ext cx="7589520" cy="365760"/>
          </a:xfrm>
          <a:prstGeom prst="rect">
            <a:avLst/>
          </a:prstGeom>
          <a:noFill/>
          <a:ln/>
        </p:spPr>
        <p:txBody>
          <a:bodyPr wrap="square" lIns="0" tIns="0" rIns="0" bIns="0" rtlCol="0" anchor="t"/>
          <a:lstStyle/>
          <a:p>
            <a:pPr indent="0" marL="0">
              <a:buNone/>
            </a:pPr>
            <a:r>
              <a:rPr lang="en-US" sz="1900" b="1" dirty="0">
                <a:solidFill>
                  <a:srgbClr val="1F2D2A"/>
                </a:solidFill>
                <a:latin typeface="+mj-lt" pitchFamily="34" charset="0"/>
                <a:ea typeface="+mj-lt" pitchFamily="34" charset="-122"/>
                <a:cs typeface="+mj-lt" pitchFamily="34" charset="-120"/>
              </a:rPr>
              <a:t>Sales / Retail · Junior</a:t>
            </a:r>
            <a:endParaRPr lang="en-US" sz="1900" dirty="0"/>
          </a:p>
        </p:txBody>
      </p:sp>
      <p:sp>
        <p:nvSpPr>
          <p:cNvPr id="12" name="Text 10"/>
          <p:cNvSpPr txBox="1"/>
          <p:nvPr/>
        </p:nvSpPr>
        <p:spPr>
          <a:xfrm>
            <a:off x="868680" y="3611880"/>
            <a:ext cx="7589520" cy="320040"/>
          </a:xfrm>
          <a:prstGeom prst="rect">
            <a:avLst/>
          </a:prstGeom>
          <a:noFill/>
          <a:ln/>
        </p:spPr>
        <p:txBody>
          <a:bodyPr wrap="square" lIns="0" tIns="0" rIns="0" bIns="0" rtlCol="0" anchor="ctr"/>
          <a:lstStyle/>
          <a:p>
            <a:pPr indent="0" marL="0">
              <a:buNone/>
            </a:pPr>
            <a:r>
              <a:rPr lang="en-US" sz="1400" dirty="0">
                <a:solidFill>
                  <a:srgbClr val="5B6B67"/>
                </a:solidFill>
                <a:latin typeface="+mn-lt" pitchFamily="34" charset="0"/>
                <a:ea typeface="+mn-lt" pitchFamily="34" charset="-122"/>
                <a:cs typeface="+mn-lt" pitchFamily="34" charset="-120"/>
              </a:rPr>
              <a:t>18,967 postings · median S$3,250 · 98% ask for 3 years or less</a:t>
            </a:r>
            <a:endParaRPr lang="en-US" sz="1400" dirty="0"/>
          </a:p>
        </p:txBody>
      </p:sp>
      <p:sp>
        <p:nvSpPr>
          <p:cNvPr id="13" name="Shape 11"/>
          <p:cNvSpPr/>
          <p:nvPr/>
        </p:nvSpPr>
        <p:spPr>
          <a:xfrm>
            <a:off x="9144000" y="3063240"/>
            <a:ext cx="2499055" cy="960120"/>
          </a:xfrm>
          <a:prstGeom prst="roundRect">
            <a:avLst>
              <a:gd name="adj" fmla="val 11429"/>
            </a:avLst>
          </a:prstGeom>
          <a:solidFill>
            <a:srgbClr val="2F6B5F"/>
          </a:solidFill>
          <a:ln/>
        </p:spPr>
      </p:sp>
      <p:sp>
        <p:nvSpPr>
          <p:cNvPr id="14" name="Text 12"/>
          <p:cNvSpPr txBox="1"/>
          <p:nvPr/>
        </p:nvSpPr>
        <p:spPr>
          <a:xfrm>
            <a:off x="9144000" y="3063240"/>
            <a:ext cx="2499055" cy="960120"/>
          </a:xfrm>
          <a:prstGeom prst="rect">
            <a:avLst/>
          </a:prstGeom>
          <a:noFill/>
          <a:ln/>
        </p:spPr>
        <p:txBody>
          <a:bodyPr wrap="square" lIns="0" tIns="0" rIns="0" bIns="0" rtlCol="0" anchor="ctr"/>
          <a:lstStyle/>
          <a:p>
            <a:pPr algn="ctr" indent="0" marL="0">
              <a:buNone/>
            </a:pPr>
            <a:r>
              <a:rPr lang="en-US" sz="2200" b="1" dirty="0">
                <a:solidFill>
                  <a:srgbClr val="FFFFFF"/>
                </a:solidFill>
                <a:latin typeface="+mn-lt" pitchFamily="34" charset="0"/>
                <a:ea typeface="+mn-lt" pitchFamily="34" charset="-122"/>
                <a:cs typeface="+mn-lt" pitchFamily="34" charset="-120"/>
              </a:rPr>
              <a:t>Fit 72</a:t>
            </a:r>
            <a:endParaRPr lang="en-US" sz="2200" dirty="0"/>
          </a:p>
        </p:txBody>
      </p:sp>
      <p:sp>
        <p:nvSpPr>
          <p:cNvPr id="15" name="Shape 13"/>
          <p:cNvSpPr/>
          <p:nvPr/>
        </p:nvSpPr>
        <p:spPr>
          <a:xfrm>
            <a:off x="548640" y="4206240"/>
            <a:ext cx="8229600" cy="960120"/>
          </a:xfrm>
          <a:prstGeom prst="roundRect">
            <a:avLst>
              <a:gd name="adj" fmla="val 11429"/>
            </a:avLst>
          </a:prstGeom>
          <a:solidFill>
            <a:srgbClr val="EEF4F2"/>
          </a:solidFill>
          <a:ln/>
        </p:spPr>
      </p:sp>
      <p:sp>
        <p:nvSpPr>
          <p:cNvPr id="16" name="Text 14"/>
          <p:cNvSpPr txBox="1"/>
          <p:nvPr/>
        </p:nvSpPr>
        <p:spPr>
          <a:xfrm>
            <a:off x="868680" y="4370832"/>
            <a:ext cx="7589520" cy="365760"/>
          </a:xfrm>
          <a:prstGeom prst="rect">
            <a:avLst/>
          </a:prstGeom>
          <a:noFill/>
          <a:ln/>
        </p:spPr>
        <p:txBody>
          <a:bodyPr wrap="square" lIns="0" tIns="0" rIns="0" bIns="0" rtlCol="0" anchor="t"/>
          <a:lstStyle/>
          <a:p>
            <a:pPr indent="0" marL="0">
              <a:buNone/>
            </a:pPr>
            <a:r>
              <a:rPr lang="en-US" sz="1900" b="1" dirty="0">
                <a:solidFill>
                  <a:srgbClr val="1F2D2A"/>
                </a:solidFill>
                <a:latin typeface="+mj-lt" pitchFamily="34" charset="0"/>
                <a:ea typeface="+mj-lt" pitchFamily="34" charset="-122"/>
                <a:cs typeface="+mj-lt" pitchFamily="34" charset="-120"/>
              </a:rPr>
              <a:t>Healthcare / Pharmaceutical · Mid</a:t>
            </a:r>
            <a:endParaRPr lang="en-US" sz="1900" dirty="0"/>
          </a:p>
        </p:txBody>
      </p:sp>
      <p:sp>
        <p:nvSpPr>
          <p:cNvPr id="17" name="Text 15"/>
          <p:cNvSpPr txBox="1"/>
          <p:nvPr/>
        </p:nvSpPr>
        <p:spPr>
          <a:xfrm>
            <a:off x="868680" y="4754880"/>
            <a:ext cx="7589520" cy="320040"/>
          </a:xfrm>
          <a:prstGeom prst="rect">
            <a:avLst/>
          </a:prstGeom>
          <a:noFill/>
          <a:ln/>
        </p:spPr>
        <p:txBody>
          <a:bodyPr wrap="square" lIns="0" tIns="0" rIns="0" bIns="0" rtlCol="0" anchor="ctr"/>
          <a:lstStyle/>
          <a:p>
            <a:pPr indent="0" marL="0">
              <a:buNone/>
            </a:pPr>
            <a:r>
              <a:rPr lang="en-US" sz="1400" dirty="0">
                <a:solidFill>
                  <a:srgbClr val="5B6B67"/>
                </a:solidFill>
                <a:latin typeface="+mn-lt" pitchFamily="34" charset="0"/>
                <a:ea typeface="+mn-lt" pitchFamily="34" charset="-122"/>
                <a:cs typeface="+mn-lt" pitchFamily="34" charset="-120"/>
              </a:rPr>
              <a:t>17,715 postings · median S$4,000 · 87% ask for 3 years or less</a:t>
            </a:r>
            <a:endParaRPr lang="en-US" sz="1400" dirty="0"/>
          </a:p>
        </p:txBody>
      </p:sp>
      <p:sp>
        <p:nvSpPr>
          <p:cNvPr id="18" name="Shape 16"/>
          <p:cNvSpPr/>
          <p:nvPr/>
        </p:nvSpPr>
        <p:spPr>
          <a:xfrm>
            <a:off x="9144000" y="4206240"/>
            <a:ext cx="2499055" cy="960120"/>
          </a:xfrm>
          <a:prstGeom prst="roundRect">
            <a:avLst>
              <a:gd name="adj" fmla="val 11429"/>
            </a:avLst>
          </a:prstGeom>
          <a:solidFill>
            <a:srgbClr val="2F6B5F"/>
          </a:solidFill>
          <a:ln/>
        </p:spPr>
      </p:sp>
      <p:sp>
        <p:nvSpPr>
          <p:cNvPr id="19" name="Text 17"/>
          <p:cNvSpPr txBox="1"/>
          <p:nvPr/>
        </p:nvSpPr>
        <p:spPr>
          <a:xfrm>
            <a:off x="9144000" y="4206240"/>
            <a:ext cx="2499055" cy="960120"/>
          </a:xfrm>
          <a:prstGeom prst="rect">
            <a:avLst/>
          </a:prstGeom>
          <a:noFill/>
          <a:ln/>
        </p:spPr>
        <p:txBody>
          <a:bodyPr wrap="square" lIns="0" tIns="0" rIns="0" bIns="0" rtlCol="0" anchor="ctr"/>
          <a:lstStyle/>
          <a:p>
            <a:pPr algn="ctr" indent="0" marL="0">
              <a:buNone/>
            </a:pPr>
            <a:r>
              <a:rPr lang="en-US" sz="2200" b="1" dirty="0">
                <a:solidFill>
                  <a:srgbClr val="FFFFFF"/>
                </a:solidFill>
                <a:latin typeface="+mn-lt" pitchFamily="34" charset="0"/>
                <a:ea typeface="+mn-lt" pitchFamily="34" charset="-122"/>
                <a:cs typeface="+mn-lt" pitchFamily="34" charset="-120"/>
              </a:rPr>
              <a:t>Fit 70</a:t>
            </a:r>
            <a:endParaRPr lang="en-US" sz="2200" dirty="0"/>
          </a:p>
        </p:txBody>
      </p:sp>
      <p:sp>
        <p:nvSpPr>
          <p:cNvPr id="20" name="Text 18"/>
          <p:cNvSpPr txBox="1"/>
          <p:nvPr/>
        </p:nvSpPr>
        <p:spPr>
          <a:xfrm>
            <a:off x="548640" y="5394960"/>
            <a:ext cx="11094415" cy="731520"/>
          </a:xfrm>
          <a:prstGeom prst="rect">
            <a:avLst/>
          </a:prstGeom>
          <a:noFill/>
          <a:ln/>
        </p:spPr>
        <p:txBody>
          <a:bodyPr wrap="square" lIns="0" tIns="0" rIns="0" bIns="0" rtlCol="0" anchor="ctr"/>
          <a:lstStyle/>
          <a:p>
            <a:pPr indent="0" marL="0">
              <a:buNone/>
            </a:pPr>
            <a:r>
              <a:rPr lang="en-US" sz="1300" dirty="0">
                <a:solidFill>
                  <a:srgbClr val="5B6B67"/>
                </a:solidFill>
                <a:latin typeface="+mn-lt" pitchFamily="34" charset="0"/>
                <a:ea typeface="+mn-lt" pitchFamily="34" charset="-122"/>
                <a:cs typeface="+mn-lt" pitchFamily="34" charset="-120"/>
              </a:rPr>
              <a:t>Each track is one category and one seniority band. Factors: demand, pay, low competition, and ease of entry (share asking for 3 years or less). The user sets the weights. This is a guide, not a prediction of hiring.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LIMITS</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What the data cannot tell us</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16</a:t>
            </a:r>
            <a:endParaRPr lang="en-US" sz="1000" dirty="0"/>
          </a:p>
        </p:txBody>
      </p:sp>
      <p:sp>
        <p:nvSpPr>
          <p:cNvPr id="5" name="Shape 3"/>
          <p:cNvSpPr/>
          <p:nvPr/>
        </p:nvSpPr>
        <p:spPr>
          <a:xfrm>
            <a:off x="548640" y="1920240"/>
            <a:ext cx="3520440" cy="3566160"/>
          </a:xfrm>
          <a:prstGeom prst="roundRect">
            <a:avLst>
              <a:gd name="adj" fmla="val 3117"/>
            </a:avLst>
          </a:prstGeom>
          <a:solidFill>
            <a:srgbClr val="EEF4F2"/>
          </a:solidFill>
          <a:ln/>
        </p:spPr>
      </p:sp>
      <p:sp>
        <p:nvSpPr>
          <p:cNvPr id="6" name="Shape 4"/>
          <p:cNvSpPr/>
          <p:nvPr/>
        </p:nvSpPr>
        <p:spPr>
          <a:xfrm>
            <a:off x="868680" y="2286000"/>
            <a:ext cx="512064" cy="512064"/>
          </a:xfrm>
          <a:prstGeom prst="ellipse">
            <a:avLst/>
          </a:prstGeom>
          <a:solidFill>
            <a:srgbClr val="D18B47"/>
          </a:solidFill>
          <a:ln/>
        </p:spPr>
      </p:sp>
      <p:sp>
        <p:nvSpPr>
          <p:cNvPr id="7" name="Text 5"/>
          <p:cNvSpPr txBox="1"/>
          <p:nvPr/>
        </p:nvSpPr>
        <p:spPr>
          <a:xfrm>
            <a:off x="868680" y="228600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n-lt" pitchFamily="34" charset="0"/>
                <a:ea typeface="+mn-lt" pitchFamily="34" charset="-122"/>
                <a:cs typeface="+mn-lt" pitchFamily="34" charset="-120"/>
              </a:rPr>
              <a:t>1</a:t>
            </a:r>
            <a:endParaRPr lang="en-US" sz="1800" dirty="0"/>
          </a:p>
        </p:txBody>
      </p:sp>
      <p:sp>
        <p:nvSpPr>
          <p:cNvPr id="8" name="Text 6"/>
          <p:cNvSpPr txBox="1"/>
          <p:nvPr/>
        </p:nvSpPr>
        <p:spPr>
          <a:xfrm>
            <a:off x="868680" y="3108960"/>
            <a:ext cx="2926080" cy="822960"/>
          </a:xfrm>
          <a:prstGeom prst="rect">
            <a:avLst/>
          </a:prstGeom>
          <a:noFill/>
          <a:ln/>
        </p:spPr>
        <p:txBody>
          <a:bodyPr wrap="square" lIns="0" tIns="0" rIns="0" bIns="0" rtlCol="0" anchor="t"/>
          <a:lstStyle/>
          <a:p>
            <a:pPr indent="0" marL="0">
              <a:buNone/>
            </a:pPr>
            <a:r>
              <a:rPr lang="en-US" sz="2000" b="1" dirty="0">
                <a:solidFill>
                  <a:srgbClr val="1F2D2A"/>
                </a:solidFill>
                <a:latin typeface="+mj-lt" pitchFamily="34" charset="0"/>
                <a:ea typeface="+mj-lt" pitchFamily="34" charset="-122"/>
                <a:cs typeface="+mj-lt" pitchFamily="34" charset="-120"/>
              </a:rPr>
              <a:t>Adverts are not hires</a:t>
            </a:r>
            <a:endParaRPr lang="en-US" sz="2000" dirty="0"/>
          </a:p>
        </p:txBody>
      </p:sp>
      <p:sp>
        <p:nvSpPr>
          <p:cNvPr id="9" name="Text 7"/>
          <p:cNvSpPr txBox="1"/>
          <p:nvPr/>
        </p:nvSpPr>
        <p:spPr>
          <a:xfrm>
            <a:off x="868680" y="3977640"/>
            <a:ext cx="2926080" cy="1371600"/>
          </a:xfrm>
          <a:prstGeom prst="rect">
            <a:avLst/>
          </a:prstGeom>
          <a:noFill/>
          <a:ln/>
        </p:spPr>
        <p:txBody>
          <a:bodyPr wrap="square" lIns="0" tIns="0" rIns="0" bIns="0" rtlCol="0" anchor="t"/>
          <a:lstStyle/>
          <a:p>
            <a:pPr indent="0" marL="0">
              <a:buNone/>
            </a:pPr>
            <a:r>
              <a:rPr lang="en-US" sz="1500" dirty="0">
                <a:solidFill>
                  <a:srgbClr val="5B6B67"/>
                </a:solidFill>
                <a:latin typeface="+mn-lt" pitchFamily="34" charset="0"/>
                <a:ea typeface="+mn-lt" pitchFamily="34" charset="-122"/>
                <a:cs typeface="+mn-lt" pitchFamily="34" charset="-120"/>
              </a:rPr>
              <a:t>The dashboard shows what employers advertised, not who was hired.</a:t>
            </a:r>
            <a:endParaRPr lang="en-US" sz="1500" dirty="0"/>
          </a:p>
        </p:txBody>
      </p:sp>
      <p:sp>
        <p:nvSpPr>
          <p:cNvPr id="10" name="Shape 8"/>
          <p:cNvSpPr/>
          <p:nvPr/>
        </p:nvSpPr>
        <p:spPr>
          <a:xfrm>
            <a:off x="4297680" y="1920240"/>
            <a:ext cx="3520440" cy="3566160"/>
          </a:xfrm>
          <a:prstGeom prst="roundRect">
            <a:avLst>
              <a:gd name="adj" fmla="val 3117"/>
            </a:avLst>
          </a:prstGeom>
          <a:solidFill>
            <a:srgbClr val="EEF4F2"/>
          </a:solidFill>
          <a:ln/>
        </p:spPr>
      </p:sp>
      <p:sp>
        <p:nvSpPr>
          <p:cNvPr id="11" name="Shape 9"/>
          <p:cNvSpPr/>
          <p:nvPr/>
        </p:nvSpPr>
        <p:spPr>
          <a:xfrm>
            <a:off x="4617720" y="2286000"/>
            <a:ext cx="512064" cy="512064"/>
          </a:xfrm>
          <a:prstGeom prst="ellipse">
            <a:avLst/>
          </a:prstGeom>
          <a:solidFill>
            <a:srgbClr val="D18B47"/>
          </a:solidFill>
          <a:ln/>
        </p:spPr>
      </p:sp>
      <p:sp>
        <p:nvSpPr>
          <p:cNvPr id="12" name="Text 10"/>
          <p:cNvSpPr txBox="1"/>
          <p:nvPr/>
        </p:nvSpPr>
        <p:spPr>
          <a:xfrm>
            <a:off x="4617720" y="228600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n-lt" pitchFamily="34" charset="0"/>
                <a:ea typeface="+mn-lt" pitchFamily="34" charset="-122"/>
                <a:cs typeface="+mn-lt" pitchFamily="34" charset="-120"/>
              </a:rPr>
              <a:t>2</a:t>
            </a:r>
            <a:endParaRPr lang="en-US" sz="1800" dirty="0"/>
          </a:p>
        </p:txBody>
      </p:sp>
      <p:sp>
        <p:nvSpPr>
          <p:cNvPr id="13" name="Text 11"/>
          <p:cNvSpPr txBox="1"/>
          <p:nvPr/>
        </p:nvSpPr>
        <p:spPr>
          <a:xfrm>
            <a:off x="4617720" y="3108960"/>
            <a:ext cx="2926080" cy="822960"/>
          </a:xfrm>
          <a:prstGeom prst="rect">
            <a:avLst/>
          </a:prstGeom>
          <a:noFill/>
          <a:ln/>
        </p:spPr>
        <p:txBody>
          <a:bodyPr wrap="square" lIns="0" tIns="0" rIns="0" bIns="0" rtlCol="0" anchor="t"/>
          <a:lstStyle/>
          <a:p>
            <a:pPr indent="0" marL="0">
              <a:buNone/>
            </a:pPr>
            <a:r>
              <a:rPr lang="en-US" sz="2000" b="1" dirty="0">
                <a:solidFill>
                  <a:srgbClr val="1F2D2A"/>
                </a:solidFill>
                <a:latin typeface="+mj-lt" pitchFamily="34" charset="0"/>
                <a:ea typeface="+mj-lt" pitchFamily="34" charset="-122"/>
                <a:cs typeface="+mj-lt" pitchFamily="34" charset="-120"/>
              </a:rPr>
              <a:t>Some data was not clean</a:t>
            </a:r>
            <a:endParaRPr lang="en-US" sz="2000" dirty="0"/>
          </a:p>
        </p:txBody>
      </p:sp>
      <p:sp>
        <p:nvSpPr>
          <p:cNvPr id="14" name="Text 12"/>
          <p:cNvSpPr txBox="1"/>
          <p:nvPr/>
        </p:nvSpPr>
        <p:spPr>
          <a:xfrm>
            <a:off x="4617720" y="3977640"/>
            <a:ext cx="2926080" cy="1371600"/>
          </a:xfrm>
          <a:prstGeom prst="rect">
            <a:avLst/>
          </a:prstGeom>
          <a:noFill/>
          <a:ln/>
        </p:spPr>
        <p:txBody>
          <a:bodyPr wrap="square" lIns="0" tIns="0" rIns="0" bIns="0" rtlCol="0" anchor="t"/>
          <a:lstStyle/>
          <a:p>
            <a:pPr indent="0" marL="0">
              <a:buNone/>
            </a:pPr>
            <a:r>
              <a:rPr lang="en-US" sz="1500" dirty="0">
                <a:solidFill>
                  <a:srgbClr val="5B6B67"/>
                </a:solidFill>
                <a:latin typeface="+mn-lt" pitchFamily="34" charset="0"/>
                <a:ea typeface="+mn-lt" pitchFamily="34" charset="-122"/>
                <a:cs typeface="+mn-lt" pitchFamily="34" charset="-120"/>
              </a:rPr>
              <a:t>Empty rows were removed, and many pay figures were zero or wrongly entered.</a:t>
            </a:r>
            <a:endParaRPr lang="en-US" sz="1500" dirty="0"/>
          </a:p>
        </p:txBody>
      </p:sp>
      <p:sp>
        <p:nvSpPr>
          <p:cNvPr id="15" name="Shape 13"/>
          <p:cNvSpPr/>
          <p:nvPr/>
        </p:nvSpPr>
        <p:spPr>
          <a:xfrm>
            <a:off x="8046720" y="1920240"/>
            <a:ext cx="3520440" cy="3566160"/>
          </a:xfrm>
          <a:prstGeom prst="roundRect">
            <a:avLst>
              <a:gd name="adj" fmla="val 3117"/>
            </a:avLst>
          </a:prstGeom>
          <a:solidFill>
            <a:srgbClr val="EEF4F2"/>
          </a:solidFill>
          <a:ln/>
        </p:spPr>
      </p:sp>
      <p:sp>
        <p:nvSpPr>
          <p:cNvPr id="16" name="Shape 14"/>
          <p:cNvSpPr/>
          <p:nvPr/>
        </p:nvSpPr>
        <p:spPr>
          <a:xfrm>
            <a:off x="8366760" y="2286000"/>
            <a:ext cx="512064" cy="512064"/>
          </a:xfrm>
          <a:prstGeom prst="ellipse">
            <a:avLst/>
          </a:prstGeom>
          <a:solidFill>
            <a:srgbClr val="D18B47"/>
          </a:solidFill>
          <a:ln/>
        </p:spPr>
      </p:sp>
      <p:sp>
        <p:nvSpPr>
          <p:cNvPr id="17" name="Text 15"/>
          <p:cNvSpPr txBox="1"/>
          <p:nvPr/>
        </p:nvSpPr>
        <p:spPr>
          <a:xfrm>
            <a:off x="8366760" y="228600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n-lt" pitchFamily="34" charset="0"/>
                <a:ea typeface="+mn-lt" pitchFamily="34" charset="-122"/>
                <a:cs typeface="+mn-lt" pitchFamily="34" charset="-120"/>
              </a:rPr>
              <a:t>3</a:t>
            </a:r>
            <a:endParaRPr lang="en-US" sz="1800" dirty="0"/>
          </a:p>
        </p:txBody>
      </p:sp>
      <p:sp>
        <p:nvSpPr>
          <p:cNvPr id="18" name="Text 16"/>
          <p:cNvSpPr txBox="1"/>
          <p:nvPr/>
        </p:nvSpPr>
        <p:spPr>
          <a:xfrm>
            <a:off x="8366760" y="3108960"/>
            <a:ext cx="2926080" cy="822960"/>
          </a:xfrm>
          <a:prstGeom prst="rect">
            <a:avLst/>
          </a:prstGeom>
          <a:noFill/>
          <a:ln/>
        </p:spPr>
        <p:txBody>
          <a:bodyPr wrap="square" lIns="0" tIns="0" rIns="0" bIns="0" rtlCol="0" anchor="t"/>
          <a:lstStyle/>
          <a:p>
            <a:pPr indent="0" marL="0">
              <a:buNone/>
            </a:pPr>
            <a:r>
              <a:rPr lang="en-US" sz="2000" b="1" dirty="0">
                <a:solidFill>
                  <a:srgbClr val="1F2D2A"/>
                </a:solidFill>
                <a:latin typeface="+mj-lt" pitchFamily="34" charset="0"/>
                <a:ea typeface="+mj-lt" pitchFamily="34" charset="-122"/>
                <a:cs typeface="+mj-lt" pitchFamily="34" charset="-120"/>
              </a:rPr>
              <a:t>Trends start in May 2023</a:t>
            </a:r>
            <a:endParaRPr lang="en-US" sz="2000" dirty="0"/>
          </a:p>
        </p:txBody>
      </p:sp>
      <p:sp>
        <p:nvSpPr>
          <p:cNvPr id="19" name="Text 17"/>
          <p:cNvSpPr txBox="1"/>
          <p:nvPr/>
        </p:nvSpPr>
        <p:spPr>
          <a:xfrm>
            <a:off x="8366760" y="3977640"/>
            <a:ext cx="2926080" cy="1371600"/>
          </a:xfrm>
          <a:prstGeom prst="rect">
            <a:avLst/>
          </a:prstGeom>
          <a:noFill/>
          <a:ln/>
        </p:spPr>
        <p:txBody>
          <a:bodyPr wrap="square" lIns="0" tIns="0" rIns="0" bIns="0" rtlCol="0" anchor="t"/>
          <a:lstStyle/>
          <a:p>
            <a:pPr indent="0" marL="0">
              <a:buNone/>
            </a:pPr>
            <a:r>
              <a:rPr lang="en-US" sz="1500" dirty="0">
                <a:solidFill>
                  <a:srgbClr val="5B6B67"/>
                </a:solidFill>
                <a:latin typeface="+mn-lt" pitchFamily="34" charset="0"/>
                <a:ea typeface="+mn-lt" pitchFamily="34" charset="-122"/>
                <a:cs typeface="+mn-lt" pitchFamily="34" charset="-120"/>
              </a:rPr>
              <a:t>Earlier view and application counts were recorded differently, and counts fall sharply after May 2024.</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NEXT STEPS</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What we would do next</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17</a:t>
            </a:r>
            <a:endParaRPr lang="en-US" sz="1000" dirty="0"/>
          </a:p>
        </p:txBody>
      </p:sp>
      <p:sp>
        <p:nvSpPr>
          <p:cNvPr id="5" name="Shape 3"/>
          <p:cNvSpPr/>
          <p:nvPr/>
        </p:nvSpPr>
        <p:spPr>
          <a:xfrm>
            <a:off x="548640" y="2011680"/>
            <a:ext cx="512064" cy="512064"/>
          </a:xfrm>
          <a:prstGeom prst="ellipse">
            <a:avLst/>
          </a:prstGeom>
          <a:solidFill>
            <a:srgbClr val="2F6B5F"/>
          </a:solidFill>
          <a:ln/>
        </p:spPr>
      </p:sp>
      <p:sp>
        <p:nvSpPr>
          <p:cNvPr id="6" name="Text 4"/>
          <p:cNvSpPr txBox="1"/>
          <p:nvPr/>
        </p:nvSpPr>
        <p:spPr>
          <a:xfrm>
            <a:off x="548640" y="201168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n-lt" pitchFamily="34" charset="0"/>
                <a:ea typeface="+mn-lt" pitchFamily="34" charset="-122"/>
                <a:cs typeface="+mn-lt" pitchFamily="34" charset="-120"/>
              </a:rPr>
              <a:t>1</a:t>
            </a:r>
            <a:endParaRPr lang="en-US" sz="1800" dirty="0"/>
          </a:p>
        </p:txBody>
      </p:sp>
      <p:sp>
        <p:nvSpPr>
          <p:cNvPr id="7" name="Text 5"/>
          <p:cNvSpPr txBox="1"/>
          <p:nvPr/>
        </p:nvSpPr>
        <p:spPr>
          <a:xfrm>
            <a:off x="1371600" y="1920240"/>
            <a:ext cx="10058400" cy="731520"/>
          </a:xfrm>
          <a:prstGeom prst="rect">
            <a:avLst/>
          </a:prstGeom>
          <a:noFill/>
          <a:ln/>
        </p:spPr>
        <p:txBody>
          <a:bodyPr wrap="square" lIns="0" tIns="0" rIns="0" bIns="0" rtlCol="0" anchor="ctr"/>
          <a:lstStyle/>
          <a:p>
            <a:pPr indent="0" marL="0">
              <a:buNone/>
            </a:pPr>
            <a:r>
              <a:rPr lang="en-US" sz="2200" dirty="0">
                <a:solidFill>
                  <a:srgbClr val="1F2D2A"/>
                </a:solidFill>
                <a:latin typeface="+mn-lt" pitchFamily="34" charset="0"/>
                <a:ea typeface="+mn-lt" pitchFamily="34" charset="-122"/>
                <a:cs typeface="+mn-lt" pitchFamily="34" charset="-120"/>
              </a:rPr>
              <a:t>Confirm why posting counts fall after May 2024</a:t>
            </a:r>
            <a:endParaRPr lang="en-US" sz="2200" dirty="0"/>
          </a:p>
        </p:txBody>
      </p:sp>
      <p:sp>
        <p:nvSpPr>
          <p:cNvPr id="8" name="Shape 6"/>
          <p:cNvSpPr/>
          <p:nvPr/>
        </p:nvSpPr>
        <p:spPr>
          <a:xfrm>
            <a:off x="548640" y="3246120"/>
            <a:ext cx="512064" cy="512064"/>
          </a:xfrm>
          <a:prstGeom prst="ellipse">
            <a:avLst/>
          </a:prstGeom>
          <a:solidFill>
            <a:srgbClr val="2F6B5F"/>
          </a:solidFill>
          <a:ln/>
        </p:spPr>
      </p:sp>
      <p:sp>
        <p:nvSpPr>
          <p:cNvPr id="9" name="Text 7"/>
          <p:cNvSpPr txBox="1"/>
          <p:nvPr/>
        </p:nvSpPr>
        <p:spPr>
          <a:xfrm>
            <a:off x="548640" y="324612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n-lt" pitchFamily="34" charset="0"/>
                <a:ea typeface="+mn-lt" pitchFamily="34" charset="-122"/>
                <a:cs typeface="+mn-lt" pitchFamily="34" charset="-120"/>
              </a:rPr>
              <a:t>2</a:t>
            </a:r>
            <a:endParaRPr lang="en-US" sz="1800" dirty="0"/>
          </a:p>
        </p:txBody>
      </p:sp>
      <p:sp>
        <p:nvSpPr>
          <p:cNvPr id="10" name="Text 8"/>
          <p:cNvSpPr txBox="1"/>
          <p:nvPr/>
        </p:nvSpPr>
        <p:spPr>
          <a:xfrm>
            <a:off x="1371600" y="3154680"/>
            <a:ext cx="10058400" cy="731520"/>
          </a:xfrm>
          <a:prstGeom prst="rect">
            <a:avLst/>
          </a:prstGeom>
          <a:noFill/>
          <a:ln/>
        </p:spPr>
        <p:txBody>
          <a:bodyPr wrap="square" lIns="0" tIns="0" rIns="0" bIns="0" rtlCol="0" anchor="ctr"/>
          <a:lstStyle/>
          <a:p>
            <a:pPr indent="0" marL="0">
              <a:buNone/>
            </a:pPr>
            <a:r>
              <a:rPr lang="en-US" sz="2200" dirty="0">
                <a:solidFill>
                  <a:srgbClr val="1F2D2A"/>
                </a:solidFill>
                <a:latin typeface="+mn-lt" pitchFamily="34" charset="0"/>
                <a:ea typeface="+mn-lt" pitchFamily="34" charset="-122"/>
                <a:cs typeface="+mn-lt" pitchFamily="34" charset="-120"/>
              </a:rPr>
              <a:t>Review the very high salaries one by one</a:t>
            </a:r>
            <a:endParaRPr lang="en-US" sz="2200" dirty="0"/>
          </a:p>
        </p:txBody>
      </p:sp>
      <p:sp>
        <p:nvSpPr>
          <p:cNvPr id="11" name="Shape 9"/>
          <p:cNvSpPr/>
          <p:nvPr/>
        </p:nvSpPr>
        <p:spPr>
          <a:xfrm>
            <a:off x="548640" y="4480560"/>
            <a:ext cx="512064" cy="512064"/>
          </a:xfrm>
          <a:prstGeom prst="ellipse">
            <a:avLst/>
          </a:prstGeom>
          <a:solidFill>
            <a:srgbClr val="2F6B5F"/>
          </a:solidFill>
          <a:ln/>
        </p:spPr>
      </p:sp>
      <p:sp>
        <p:nvSpPr>
          <p:cNvPr id="12" name="Text 10"/>
          <p:cNvSpPr txBox="1"/>
          <p:nvPr/>
        </p:nvSpPr>
        <p:spPr>
          <a:xfrm>
            <a:off x="548640" y="448056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n-lt" pitchFamily="34" charset="0"/>
                <a:ea typeface="+mn-lt" pitchFamily="34" charset="-122"/>
                <a:cs typeface="+mn-lt" pitchFamily="34" charset="-120"/>
              </a:rPr>
              <a:t>3</a:t>
            </a:r>
            <a:endParaRPr lang="en-US" sz="1800" dirty="0"/>
          </a:p>
        </p:txBody>
      </p:sp>
      <p:sp>
        <p:nvSpPr>
          <p:cNvPr id="13" name="Text 11"/>
          <p:cNvSpPr txBox="1"/>
          <p:nvPr/>
        </p:nvSpPr>
        <p:spPr>
          <a:xfrm>
            <a:off x="1371600" y="4389120"/>
            <a:ext cx="10058400" cy="731520"/>
          </a:xfrm>
          <a:prstGeom prst="rect">
            <a:avLst/>
          </a:prstGeom>
          <a:noFill/>
          <a:ln/>
        </p:spPr>
        <p:txBody>
          <a:bodyPr wrap="square" lIns="0" tIns="0" rIns="0" bIns="0" rtlCol="0" anchor="ctr"/>
          <a:lstStyle/>
          <a:p>
            <a:pPr indent="0" marL="0">
              <a:buNone/>
            </a:pPr>
            <a:r>
              <a:rPr lang="en-US" sz="2200" dirty="0">
                <a:solidFill>
                  <a:srgbClr val="1F2D2A"/>
                </a:solidFill>
                <a:latin typeface="+mn-lt" pitchFamily="34" charset="0"/>
                <a:ea typeface="+mn-lt" pitchFamily="34" charset="-122"/>
                <a:cs typeface="+mn-lt" pitchFamily="34" charset="-120"/>
              </a:rPr>
              <a:t>Test the app on the full file and ask career coaches and job seekers to try it</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F6B5F"/>
        </a:solidFill>
      </p:bgPr>
    </p:bg>
    <p:spTree>
      <p:nvGrpSpPr>
        <p:cNvPr id="1" name=""/>
        <p:cNvGrpSpPr/>
        <p:nvPr/>
      </p:nvGrpSpPr>
      <p:grpSpPr>
        <a:xfrm>
          <a:off x="0" y="0"/>
          <a:ext cx="0" cy="0"/>
          <a:chOff x="0" y="0"/>
          <a:chExt cx="0" cy="0"/>
        </a:xfrm>
      </p:grpSpPr>
      <p:sp>
        <p:nvSpPr>
          <p:cNvPr id="2" name="Text 0"/>
          <p:cNvSpPr txBox="1"/>
          <p:nvPr/>
        </p:nvSpPr>
        <p:spPr>
          <a:xfrm>
            <a:off x="548640" y="2194560"/>
            <a:ext cx="11094415" cy="1097280"/>
          </a:xfrm>
          <a:prstGeom prst="rect">
            <a:avLst/>
          </a:prstGeom>
          <a:noFill/>
          <a:ln/>
        </p:spPr>
        <p:txBody>
          <a:bodyPr wrap="square" lIns="0" tIns="0" rIns="0" bIns="0" rtlCol="0" anchor="t"/>
          <a:lstStyle/>
          <a:p>
            <a:pPr indent="0" marL="0">
              <a:buNone/>
            </a:pPr>
            <a:r>
              <a:rPr lang="en-US" sz="4800" b="1" dirty="0">
                <a:solidFill>
                  <a:srgbClr val="FFFFFF"/>
                </a:solidFill>
                <a:latin typeface="+mj-lt" pitchFamily="34" charset="0"/>
                <a:ea typeface="+mj-lt" pitchFamily="34" charset="-122"/>
                <a:cs typeface="+mj-lt" pitchFamily="34" charset="-120"/>
              </a:rPr>
              <a:t>Thank you</a:t>
            </a:r>
            <a:endParaRPr lang="en-US" sz="4800" dirty="0"/>
          </a:p>
        </p:txBody>
      </p:sp>
      <p:sp>
        <p:nvSpPr>
          <p:cNvPr id="3" name="Text 1"/>
          <p:cNvSpPr txBox="1"/>
          <p:nvPr/>
        </p:nvSpPr>
        <p:spPr>
          <a:xfrm>
            <a:off x="548640" y="3383280"/>
            <a:ext cx="11094415" cy="548640"/>
          </a:xfrm>
          <a:prstGeom prst="rect">
            <a:avLst/>
          </a:prstGeom>
          <a:noFill/>
          <a:ln/>
        </p:spPr>
        <p:txBody>
          <a:bodyPr wrap="square" lIns="0" tIns="0" rIns="0" bIns="0" rtlCol="0" anchor="ctr"/>
          <a:lstStyle/>
          <a:p>
            <a:pPr indent="0" marL="0">
              <a:buNone/>
            </a:pPr>
            <a:r>
              <a:rPr lang="en-US" sz="2200" dirty="0">
                <a:solidFill>
                  <a:srgbClr val="D9EBE6"/>
                </a:solidFill>
                <a:latin typeface="+mn-lt" pitchFamily="34" charset="0"/>
                <a:ea typeface="+mn-lt" pitchFamily="34" charset="-122"/>
                <a:cs typeface="+mn-lt" pitchFamily="34" charset="-120"/>
              </a:rPr>
              <a:t>A starting point for a better career conversation, not a replacement for one.</a:t>
            </a:r>
            <a:endParaRPr lang="en-US" sz="2200" dirty="0"/>
          </a:p>
        </p:txBody>
      </p:sp>
      <p:sp>
        <p:nvSpPr>
          <p:cNvPr id="4" name="Text 2"/>
          <p:cNvSpPr txBox="1"/>
          <p:nvPr/>
        </p:nvSpPr>
        <p:spPr>
          <a:xfrm>
            <a:off x="548640" y="4206240"/>
            <a:ext cx="11094415" cy="548640"/>
          </a:xfrm>
          <a:prstGeom prst="rect">
            <a:avLst/>
          </a:prstGeom>
          <a:noFill/>
          <a:ln/>
        </p:spPr>
        <p:txBody>
          <a:bodyPr wrap="square" lIns="0" tIns="0" rIns="0" bIns="0" rtlCol="0" anchor="ctr"/>
          <a:lstStyle/>
          <a:p>
            <a:pPr indent="0" marL="0">
              <a:buNone/>
            </a:pPr>
            <a:r>
              <a:rPr lang="en-US" sz="2800" b="1" dirty="0">
                <a:solidFill>
                  <a:srgbClr val="FFFFFF"/>
                </a:solidFill>
                <a:latin typeface="+mn-lt" pitchFamily="34" charset="0"/>
                <a:ea typeface="+mn-lt" pitchFamily="34" charset="-122"/>
                <a:cs typeface="+mn-lt" pitchFamily="34" charset="-120"/>
              </a:rPr>
              <a:t>Questions?</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D18B47"/>
                </a:solidFill>
                <a:latin typeface="+mn-lt" pitchFamily="34" charset="0"/>
                <a:ea typeface="+mn-lt" pitchFamily="34" charset="-122"/>
                <a:cs typeface="+mn-lt" pitchFamily="34" charset="-120"/>
              </a:rPr>
              <a:t>OPTIONAL Q&amp;A DETAIL</a:t>
            </a:r>
            <a:endParaRPr lang="en-US" sz="12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1F2D2A"/>
                </a:solidFill>
                <a:latin typeface="+mj-lt" pitchFamily="34" charset="0"/>
                <a:ea typeface="+mj-lt" pitchFamily="34" charset="-122"/>
                <a:cs typeface="+mj-lt" pitchFamily="34" charset="-120"/>
              </a:rPr>
              <a:t>Appendix: data preparation decisions</a:t>
            </a:r>
            <a:endParaRPr lang="en-US" sz="3400" dirty="0"/>
          </a:p>
        </p:txBody>
      </p:sp>
      <p:sp>
        <p:nvSpPr>
          <p:cNvPr id="4" name="Text 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B67"/>
                </a:solidFill>
                <a:latin typeface="+mn-lt" pitchFamily="34" charset="0"/>
                <a:ea typeface="+mn-lt" pitchFamily="34" charset="-122"/>
                <a:cs typeface="+mn-lt" pitchFamily="34" charset="-120"/>
              </a:rPr>
              <a:t>Singapore Jobs Explorer  ·  19</a:t>
            </a:r>
            <a:endParaRPr lang="en-US" sz="1000" dirty="0"/>
          </a:p>
        </p:txBody>
      </p:sp>
      <p:sp>
        <p:nvSpPr>
          <p:cNvPr id="5" name="Text 3"/>
          <p:cNvSpPr txBox="1"/>
          <p:nvPr/>
        </p:nvSpPr>
        <p:spPr>
          <a:xfrm>
            <a:off x="548640" y="1691640"/>
            <a:ext cx="11094415" cy="457200"/>
          </a:xfrm>
          <a:prstGeom prst="rect">
            <a:avLst/>
          </a:prstGeom>
          <a:noFill/>
          <a:ln/>
        </p:spPr>
        <p:txBody>
          <a:bodyPr wrap="square" lIns="0" tIns="0" rIns="0" bIns="0" rtlCol="0" anchor="ctr"/>
          <a:lstStyle/>
          <a:p>
            <a:pPr indent="0" marL="0">
              <a:buNone/>
            </a:pPr>
            <a:r>
              <a:rPr lang="en-US" sz="1600" dirty="0">
                <a:solidFill>
                  <a:srgbClr val="5B6B67"/>
                </a:solidFill>
                <a:latin typeface="+mn-lt" pitchFamily="34" charset="0"/>
                <a:ea typeface="+mn-lt" pitchFamily="34" charset="-122"/>
                <a:cs typeface="+mn-lt" pitchFamily="34" charset="-120"/>
              </a:rPr>
              <a:t>The team kept valid adverts and corrected or excluded only values that could not be trusted.</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4415" cy="914400"/>
        </p:xfrm>
        <a:graphic>
          <a:graphicData uri="http://schemas.openxmlformats.org/drawingml/2006/table">
            <a:tbl>
              <a:tblPr/>
              <a:tblGrid>
                <a:gridCol w="2560320"/>
                <a:gridCol w="5120640"/>
                <a:gridCol w="3383280"/>
              </a:tblGrid>
              <a:tr h="502920">
                <a:tc>
                  <a:txBody>
                    <a:bodyPr/>
                    <a:lstStyle/>
                    <a:p>
                      <a:pPr indent="0" marL="0">
                        <a:buNone/>
                      </a:pPr>
                      <a:r>
                        <a:rPr lang="en-US" sz="1400" b="1" dirty="0">
                          <a:solidFill>
                            <a:srgbClr val="FFFFFF"/>
                          </a:solidFill>
                          <a:latin typeface="+mn-lt" pitchFamily="34" charset="0"/>
                          <a:ea typeface="+mn-lt" pitchFamily="34" charset="-122"/>
                          <a:cs typeface="+mn-lt" pitchFamily="34" charset="-120"/>
                        </a:rPr>
                        <a:t>Check</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2F6B5F"/>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Decision</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2F6B5F"/>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Effect on analysis</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2F6B5F"/>
                    </a:solidFill>
                  </a:tcPr>
                </a:tc>
              </a:tr>
              <a:tr h="502920">
                <a:tc>
                  <a:txBody>
                    <a:bodyPr/>
                    <a:lstStyle/>
                    <a:p>
                      <a:pPr indent="0" marL="0">
                        <a:buNone/>
                      </a:pPr>
                      <a:r>
                        <a:rPr lang="en-US" sz="1400" dirty="0">
                          <a:solidFill>
                            <a:srgbClr val="1F2D2A"/>
                          </a:solidFill>
                          <a:latin typeface="+mn-lt" pitchFamily="34" charset="0"/>
                          <a:ea typeface="+mn-lt" pitchFamily="34" charset="-122"/>
                          <a:cs typeface="+mn-lt" pitchFamily="34" charset="-120"/>
                        </a:rPr>
                        <a:t>Incomplete rows</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D2A"/>
                          </a:solidFill>
                          <a:latin typeface="+mn-lt" pitchFamily="34" charset="0"/>
                          <a:ea typeface="+mn-lt" pitchFamily="34" charset="-122"/>
                          <a:cs typeface="+mn-lt" pitchFamily="34" charset="-120"/>
                        </a:rPr>
                        <a:t>Removed rows with no job ID, title, or posting date</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D2A"/>
                          </a:solidFill>
                          <a:latin typeface="+mn-lt" pitchFamily="34" charset="0"/>
                          <a:ea typeface="+mn-lt" pitchFamily="34" charset="-122"/>
                          <a:cs typeface="+mn-lt" pitchFamily="34" charset="-120"/>
                        </a:rPr>
                        <a:t>3,988 rows removed</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F2D2A"/>
                          </a:solidFill>
                          <a:latin typeface="+mn-lt" pitchFamily="34" charset="0"/>
                          <a:ea typeface="+mn-lt" pitchFamily="34" charset="-122"/>
                          <a:cs typeface="+mn-lt" pitchFamily="34" charset="-120"/>
                        </a:rPr>
                        <a:t>Zero salary</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D2A"/>
                          </a:solidFill>
                          <a:latin typeface="+mn-lt" pitchFamily="34" charset="0"/>
                          <a:ea typeface="+mn-lt" pitchFamily="34" charset="-122"/>
                          <a:cs typeface="+mn-lt" pitchFamily="34" charset="-120"/>
                        </a:rPr>
                        <a:t>Treated as missing, not as S$0 pay</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D2A"/>
                          </a:solidFill>
                          <a:latin typeface="+mn-lt" pitchFamily="34" charset="0"/>
                          <a:ea typeface="+mn-lt" pitchFamily="34" charset="-122"/>
                          <a:cs typeface="+mn-lt" pitchFamily="34" charset="-120"/>
                        </a:rPr>
                        <a:t>Posting kept; salary excluded</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F2D2A"/>
                          </a:solidFill>
                          <a:latin typeface="+mn-lt" pitchFamily="34" charset="0"/>
                          <a:ea typeface="+mn-lt" pitchFamily="34" charset="-122"/>
                          <a:cs typeface="+mn-lt" pitchFamily="34" charset="-120"/>
                        </a:rPr>
                        <a:t>Salary errors</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D2A"/>
                          </a:solidFill>
                          <a:latin typeface="+mn-lt" pitchFamily="34" charset="0"/>
                          <a:ea typeface="+mn-lt" pitchFamily="34" charset="-122"/>
                          <a:cs typeface="+mn-lt" pitchFamily="34" charset="-120"/>
                        </a:rPr>
                        <a:t>Blanked 10,000 impossible values; capped 19,647 extremes at the 1st and 99th percentiles</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D2A"/>
                          </a:solidFill>
                          <a:latin typeface="+mn-lt" pitchFamily="34" charset="0"/>
                          <a:ea typeface="+mn-lt" pitchFamily="34" charset="-122"/>
                          <a:cs typeface="+mn-lt" pitchFamily="34" charset="-120"/>
                        </a:rPr>
                        <a:t>Limits distortion from invalid pay</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F2D2A"/>
                          </a:solidFill>
                          <a:latin typeface="+mn-lt" pitchFamily="34" charset="0"/>
                          <a:ea typeface="+mn-lt" pitchFamily="34" charset="-122"/>
                          <a:cs typeface="+mn-lt" pitchFamily="34" charset="-120"/>
                        </a:rPr>
                        <a:t>Repeated IDs</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D2A"/>
                          </a:solidFill>
                          <a:latin typeface="+mn-lt" pitchFamily="34" charset="0"/>
                          <a:ea typeface="+mn-lt" pitchFamily="34" charset="-122"/>
                          <a:cs typeface="+mn-lt" pitchFamily="34" charset="-120"/>
                        </a:rPr>
                        <a:t>Checked job-post IDs before analysis</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D2A"/>
                          </a:solidFill>
                          <a:latin typeface="+mn-lt" pitchFamily="34" charset="0"/>
                          <a:ea typeface="+mn-lt" pitchFamily="34" charset="-122"/>
                          <a:cs typeface="+mn-lt" pitchFamily="34" charset="-120"/>
                        </a:rPr>
                        <a:t>No repeated IDs found</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F2D2A"/>
                          </a:solidFill>
                          <a:latin typeface="+mn-lt" pitchFamily="34" charset="0"/>
                          <a:ea typeface="+mn-lt" pitchFamily="34" charset="-122"/>
                          <a:cs typeface="+mn-lt" pitchFamily="34" charset="-120"/>
                        </a:rPr>
                        <a:t>Multiple categories</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D2A"/>
                          </a:solidFill>
                          <a:latin typeface="+mn-lt" pitchFamily="34" charset="0"/>
                          <a:ea typeface="+mn-lt" pitchFamily="34" charset="-122"/>
                          <a:cs typeface="+mn-lt" pitchFamily="34" charset="-120"/>
                        </a:rPr>
                        <a:t>Count each posting once in every category it lists</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D2A"/>
                          </a:solidFill>
                          <a:latin typeface="+mn-lt" pitchFamily="34" charset="0"/>
                          <a:ea typeface="+mn-lt" pitchFamily="34" charset="-122"/>
                          <a:cs typeface="+mn-lt" pitchFamily="34" charset="-120"/>
                        </a:rPr>
                        <a:t>Category totals overlap</a:t>
                      </a:r>
                      <a:endParaRPr lang="en-US" sz="1400" dirty="0">
                        <a:latin typeface="+mn-lt" charset="0"/>
                        <a:ea typeface="+mn-lt" charset="0"/>
                        <a:cs typeface="+mn-lt" charset="0"/>
                      </a:endParaRPr>
                    </a:p>
                  </a:txBody>
                  <a:tcPr marL="73152" marR="73152" marT="73152" marB="73152" anchor="ctr">
                    <a:lnL w="6350" cap="flat" cmpd="sng" algn="ctr">
                      <a:solidFill>
                        <a:srgbClr val="D9E2DF"/>
                      </a:solidFill>
                      <a:prstDash val="solid"/>
                      <a:round/>
                      <a:headEnd type="none" w="med" len="med"/>
                      <a:tailEnd type="none" w="med" len="med"/>
                    </a:lnL>
                    <a:lnR w="6350" cap="flat" cmpd="sng" algn="ctr">
                      <a:solidFill>
                        <a:srgbClr val="D9E2DF"/>
                      </a:solidFill>
                      <a:prstDash val="solid"/>
                      <a:round/>
                      <a:headEnd type="none" w="med" len="med"/>
                      <a:tailEnd type="none" w="med" len="med"/>
                    </a:lnR>
                    <a:lnT w="6350" cap="flat" cmpd="sng" algn="ctr">
                      <a:solidFill>
                        <a:srgbClr val="D9E2DF"/>
                      </a:solidFill>
                      <a:prstDash val="solid"/>
                      <a:round/>
                      <a:headEnd type="none" w="med" len="med"/>
                      <a:tailEnd type="none" w="med" len="med"/>
                    </a:lnT>
                    <a:lnB w="6350" cap="flat" cmpd="sng" algn="ctr">
                      <a:solidFill>
                        <a:srgbClr val="D9E2DF"/>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Singapore Jobs Explorer">
  <a:themeElements>
    <a:clrScheme name="Singapore Jobs Explorer">
      <a:dk1>
        <a:srgbClr val="1F2D2A"/>
      </a:dk1>
      <a:lt1>
        <a:srgbClr val="FFFFFF"/>
      </a:lt1>
      <a:dk2>
        <a:srgbClr val="2F6B5F"/>
      </a:dk2>
      <a:lt2>
        <a:srgbClr val="EEF4F2"/>
      </a:lt2>
      <a:accent1>
        <a:srgbClr val="2F6B5F"/>
      </a:accent1>
      <a:accent2>
        <a:srgbClr val="D18B47"/>
      </a:accent2>
      <a:accent3>
        <a:srgbClr val="8FB8A8"/>
      </a:accent3>
      <a:accent4>
        <a:srgbClr val="B8C4CC"/>
      </a:accent4>
      <a:accent5>
        <a:srgbClr val="C0392B"/>
      </a:accent5>
      <a:accent6>
        <a:srgbClr val="5B6B67"/>
      </a:accent6>
      <a:hlink>
        <a:srgbClr val="2F6B5F"/>
      </a:hlink>
      <a:folHlink>
        <a:srgbClr val="5B6B67"/>
      </a:folHlink>
    </a:clrScheme>
    <a:fontScheme name="Singapore Jobs Explor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Group 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Singapore Jobs Explorer</dc:title>
  <dc:subject>PptxGenJS Presentation</dc:subject>
  <dc:creator>PptxGenJS</dc:creator>
  <cp:lastModifiedBy>PptxGenJS</cp:lastModifiedBy>
  <cp:revision>1</cp:revision>
  <dcterms:created xsi:type="dcterms:W3CDTF">2026-10-31T01:35:40Z</dcterms:created>
  <dcterms:modified xsi:type="dcterms:W3CDTF">2026-10-31T01:35:40Z</dcterms:modified>
</cp:coreProperties>
</file>